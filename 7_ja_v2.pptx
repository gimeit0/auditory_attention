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17"/>
  </p:normalViewPr>
  <p:slideViewPr>
    <p:cSldViewPr snapToGrid="0" snapToObjects="1">
      <p:cViewPr varScale="1">
        <p:scale>
          <a:sx n="100" d="100"/>
          <a:sy n="100" d="100"/>
        </p:scale>
        <p:origin x="66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microsoft.com/office/2007/relationships/media" Target="../media/media7.wav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6" Type="http://schemas.openxmlformats.org/officeDocument/2006/relationships/image" Target="../media/image3.png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Layout" Target="../slideLayouts/slideLayout7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audio" Target="../media/media7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選択的聴覚注意モデル</a:t>
            </a:r>
            <a:r>
              <a:rPr sz="34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—— </a:t>
            </a:r>
            <a:r>
              <a:rPr sz="34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行動傾向の再現</a:t>
            </a:r>
            <a:endParaRPr sz="3400" b="1" dirty="0">
              <a:solidFill>
                <a:srgbClr val="000000"/>
              </a:solidFill>
              <a:latin typeface="Hiragin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本発表の目的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Meiryo"/>
                <a:ea typeface="Meiryo"/>
                <a:cs typeface="Meiryo"/>
              </a:rPr>
              <a:t>• </a:t>
            </a:r>
            <a:r>
              <a:rPr sz="1900" b="0" dirty="0" err="1">
                <a:latin typeface="Meiryo"/>
                <a:ea typeface="Meiryo"/>
                <a:cs typeface="Meiryo"/>
              </a:rPr>
              <a:t>本発表では、論文</a:t>
            </a:r>
            <a:r>
              <a:rPr sz="1900" b="0" dirty="0">
                <a:latin typeface="Meiryo"/>
                <a:ea typeface="Meiryo"/>
                <a:cs typeface="Meiryo"/>
              </a:rPr>
              <a:t>(Griffith et al., 2026)</a:t>
            </a:r>
            <a:r>
              <a:rPr sz="1900" b="0" dirty="0" err="1">
                <a:latin typeface="Meiryo"/>
                <a:ea typeface="Meiryo"/>
                <a:cs typeface="Meiryo"/>
              </a:rPr>
              <a:t>の著者が公開した事前学習モデルを用い</a:t>
            </a:r>
            <a:r>
              <a:rPr sz="1900" b="0" dirty="0">
                <a:latin typeface="Meiryo"/>
                <a:ea typeface="Meiryo"/>
                <a:cs typeface="Meiryo"/>
              </a:rPr>
              <a:t>、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</a:t>
            </a:r>
            <a:r>
              <a:rPr sz="1700" b="0" dirty="0" err="1">
                <a:latin typeface="Meiryo"/>
                <a:ea typeface="Meiryo"/>
                <a:cs typeface="Meiryo"/>
              </a:rPr>
              <a:t>自作のCommon</a:t>
            </a:r>
            <a:r>
              <a:rPr sz="1700" b="0" dirty="0">
                <a:latin typeface="Meiryo"/>
                <a:ea typeface="Meiryo"/>
                <a:cs typeface="Meiryo"/>
              </a:rPr>
              <a:t> </a:t>
            </a:r>
            <a:r>
              <a:rPr sz="1700" b="0" dirty="0" err="1">
                <a:latin typeface="Meiryo"/>
                <a:ea typeface="Meiryo"/>
                <a:cs typeface="Meiryo"/>
              </a:rPr>
              <a:t>Voice評価セット上で、その行動的傾向</a:t>
            </a:r>
            <a:r>
              <a:rPr sz="1700" b="0" dirty="0">
                <a:latin typeface="Meiryo"/>
                <a:ea typeface="Meiryo"/>
                <a:cs typeface="Meiryo"/>
              </a:rPr>
              <a:t>(Fig 2b)</a:t>
            </a:r>
            <a:r>
              <a:rPr sz="1700" b="0" dirty="0" err="1">
                <a:latin typeface="Meiryo"/>
                <a:ea typeface="Meiryo"/>
                <a:cs typeface="Meiryo"/>
              </a:rPr>
              <a:t>を再現できるかを検証・報告する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本発表で答える2つの問い: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① </a:t>
            </a:r>
            <a:r>
              <a:rPr sz="1700" b="0" dirty="0" err="1">
                <a:latin typeface="Meiryo"/>
                <a:ea typeface="Meiryo"/>
                <a:cs typeface="Meiryo"/>
              </a:rPr>
              <a:t>モデルは混合音声中の目標話者の中央単語を実際に認識できるか</a:t>
            </a:r>
            <a:endParaRPr sz="1700" b="0" dirty="0">
              <a:latin typeface="Hiragino Sans"/>
            </a:endParaRP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② </a:t>
            </a:r>
            <a:r>
              <a:rPr sz="1700" b="0" dirty="0" err="1">
                <a:latin typeface="Meiryo"/>
                <a:ea typeface="Meiryo"/>
                <a:cs typeface="Meiryo"/>
              </a:rPr>
              <a:t>正答率のSN比および妨害話者の性別への依存傾向は、論文と方向が一致するか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位置づけ</a:t>
            </a: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: 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モデルの再学習は行わず、著者のパラメータをそのまま用いた検証実験。評価対象は傾向の方向であり、数値の一致は求めない</a:t>
            </a:r>
            <a:endParaRPr sz="1900" b="1" dirty="0">
              <a:solidFill>
                <a:srgbClr val="C0392B"/>
              </a:solidFill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本再現が成功する意義: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著者モデルが未知のコーパス(Common Voice)にも汎化することを示せる —— モデルの頑健性・一般性の傍証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自作の評価パイプラインが正しく機能することを確認 —— 今後の拡張(他条件・独自研究)の基盤になる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論文の主要な行動的知見が独立に再現され、知見の信頼性(追試価値)を高める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一、研究背景と再現目標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論文: 「特徴ゲイン」型の注意機構をもつニューラルネットワークで、人間の「カクテルパーティー」聴取を模擬したモデル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目標話者の手がかり音声(cue)と「目標+妨害」の混合音声を入力し、混合音声中の目標話者の中央単語を答えさせる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cueに基づいて目標の音色に対応する特徴を増強し、それ以外を抑制することで、目標を混合音声から分離する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論文Figure 2は、認識の成否を規定する要因を行動曲線で示す(SN比が高いほど正答率↑、異性妨害は同性より分離しやすい 等)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本再現の目標: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モデルの有効性検証: 著者の事前学習モデルが、自作の評価音声上で中央単語を認識できることを確認する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Fig 2bの傾向の再現: 同性/異性妨害の下での正答率のSN比依存性を再現する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判定基準: 傾向の方向が論文と一致すれば成功とする。数値の完全一致は求めない(コーパスや話者が論文と異なるため)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一(補)、著者の手法との異同 —— 私は何を・どう行ったか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著者と同じ点(そのまま踏襲):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モデル本体と学習済みパラメータ / タスク定義(cue+混合音声→中央単語) / 評価の枠組み(SN比・同性/異性) / 採点基準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著者と異なる点 = 私が独自に行った作業: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著者の入力データ(学習・評価用の刺激音声)は非公開 → 評価セットを一から自作する必要があった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Common Voice v9 から話者・録音を選別(性別均衡・話者分離)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強制アライメントで各単語の時間境界を推定(CVには無い情報)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③ 800語彙・時間余白の条件で目標単語(アンカー)を選定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④ cue/目標/妨害の三つ組を構成し、6段階SN比で混合(within-item)・RMS正規化・diotic化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要点: 「著者のデータをそのまま流用した」のではなく、著者のモデルを私が独自に構築した評価セットで検証した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二、データ準備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Meiryo"/>
                <a:ea typeface="Meiryo"/>
                <a:cs typeface="Meiryo"/>
              </a:rPr>
              <a:t>• </a:t>
            </a:r>
            <a:r>
              <a:rPr sz="1900" b="0" dirty="0" err="1">
                <a:latin typeface="Meiryo"/>
                <a:ea typeface="Meiryo"/>
                <a:cs typeface="Meiryo"/>
              </a:rPr>
              <a:t>コーパス</a:t>
            </a:r>
            <a:r>
              <a:rPr sz="1900" b="0" dirty="0">
                <a:latin typeface="Meiryo"/>
                <a:ea typeface="Meiryo"/>
                <a:cs typeface="Meiryo"/>
              </a:rPr>
              <a:t>: Common Voice 9.0 </a:t>
            </a:r>
            <a:r>
              <a:rPr sz="1900" b="0" dirty="0" err="1">
                <a:latin typeface="Meiryo"/>
                <a:ea typeface="Meiryo"/>
                <a:cs typeface="Meiryo"/>
              </a:rPr>
              <a:t>英語版</a:t>
            </a:r>
            <a:r>
              <a:rPr sz="1900" b="0" dirty="0">
                <a:latin typeface="Meiryo"/>
                <a:ea typeface="Meiryo"/>
                <a:cs typeface="Meiryo"/>
              </a:rPr>
              <a:t>(</a:t>
            </a:r>
            <a:r>
              <a:rPr sz="1900" b="0" dirty="0" err="1">
                <a:latin typeface="Meiryo"/>
                <a:ea typeface="Meiryo"/>
                <a:cs typeface="Meiryo"/>
              </a:rPr>
              <a:t>論文と同一バージョン</a:t>
            </a:r>
            <a:r>
              <a:rPr sz="1900" b="0" dirty="0">
                <a:latin typeface="Meiryo"/>
                <a:ea typeface="Meiryo"/>
                <a:cs typeface="Meiryo"/>
              </a:rPr>
              <a:t>)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</a:t>
            </a:r>
            <a:r>
              <a:rPr sz="1700" b="0" dirty="0" err="1">
                <a:latin typeface="Meiryo"/>
                <a:ea typeface="Meiryo"/>
                <a:cs typeface="Meiryo"/>
              </a:rPr>
              <a:t>選別</a:t>
            </a:r>
            <a:r>
              <a:rPr sz="1700" b="0" dirty="0">
                <a:latin typeface="Meiryo"/>
                <a:ea typeface="Meiryo"/>
                <a:cs typeface="Meiryo"/>
              </a:rPr>
              <a:t>: 性別ラベルがあり一貫し、かつ2録音以上をもつ話者 → </a:t>
            </a:r>
            <a:r>
              <a:rPr sz="1700" b="0" dirty="0" err="1">
                <a:latin typeface="Meiryo"/>
                <a:ea typeface="Meiryo"/>
                <a:cs typeface="Meiryo"/>
              </a:rPr>
              <a:t>利用可能</a:t>
            </a:r>
            <a:r>
              <a:rPr sz="1700" b="0" dirty="0">
                <a:latin typeface="Meiryo"/>
                <a:ea typeface="Meiryo"/>
                <a:cs typeface="Meiryo"/>
              </a:rPr>
              <a:t> 18,067名 / 971,848録音</a:t>
            </a:r>
          </a:p>
          <a:p>
            <a:pPr>
              <a:spcAft>
                <a:spcPts val="600"/>
              </a:spcAft>
            </a:pPr>
            <a:r>
              <a:rPr sz="1900" b="0" dirty="0">
                <a:latin typeface="Meiryo"/>
                <a:ea typeface="Meiryo"/>
                <a:cs typeface="Meiryo"/>
              </a:rPr>
              <a:t>• </a:t>
            </a:r>
            <a:r>
              <a:rPr sz="1900" b="0" dirty="0" err="1">
                <a:latin typeface="Meiryo"/>
                <a:ea typeface="Meiryo"/>
                <a:cs typeface="Meiryo"/>
              </a:rPr>
              <a:t>目標語彙</a:t>
            </a:r>
            <a:r>
              <a:rPr sz="1900" b="0" dirty="0">
                <a:latin typeface="Meiryo"/>
                <a:ea typeface="Meiryo"/>
                <a:cs typeface="Meiryo"/>
              </a:rPr>
              <a:t>: 著者公開の800語(</a:t>
            </a:r>
            <a:r>
              <a:rPr sz="1900" b="0" dirty="0" err="1">
                <a:latin typeface="Meiryo"/>
                <a:ea typeface="Meiryo"/>
                <a:cs typeface="Meiryo"/>
              </a:rPr>
              <a:t>公式ファイルとバイト単位で一致</a:t>
            </a:r>
            <a:r>
              <a:rPr sz="1900" b="0" dirty="0">
                <a:latin typeface="Meiryo"/>
                <a:ea typeface="Meiryo"/>
                <a:cs typeface="Meiryo"/>
              </a:rPr>
              <a:t>)。モデルは800クラスの分類器</a:t>
            </a: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9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最終評価セット</a:t>
            </a:r>
            <a:r>
              <a:rPr sz="19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有効な目標サンプル600件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</a:t>
            </a:r>
            <a:r>
              <a:rPr sz="1700" b="0" dirty="0" err="1">
                <a:latin typeface="Meiryo"/>
                <a:ea typeface="Meiryo"/>
                <a:cs typeface="Meiryo"/>
              </a:rPr>
              <a:t>性別を均衡</a:t>
            </a:r>
            <a:r>
              <a:rPr sz="1700" b="0" dirty="0">
                <a:latin typeface="Meiryo"/>
                <a:ea typeface="Meiryo"/>
                <a:cs typeface="Meiryo"/>
              </a:rPr>
              <a:t>: 男性300 / 女性300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149名の話者・347録音に由来し、369種の異なる目標単語を含む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600サンプルにより、6段階のSN比それぞれで推定が安定(</a:t>
            </a:r>
            <a:r>
              <a:rPr sz="1700" b="0" dirty="0" err="1">
                <a:latin typeface="Meiryo"/>
                <a:ea typeface="Meiryo"/>
                <a:cs typeface="Meiryo"/>
              </a:rPr>
              <a:t>二項標準誤差</a:t>
            </a:r>
            <a:r>
              <a:rPr sz="1700" b="0" dirty="0">
                <a:latin typeface="Meiryo"/>
                <a:ea typeface="Meiryo"/>
                <a:cs typeface="Meiryo"/>
              </a:rPr>
              <a:t> 約±2%)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三、手法パイプライン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原音声 → 強制アライメント → テキスト正規化 → アンカー判定 → 切り出し・混合 → モデル入力 → 採点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1. 強制アライメント(MMS_FA, 16kHz): 各単語の時間境界を取得(CVは文単位の書き起こしのみで、単語の時刻をもたない)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2. テキスト正規化: 論文のconvert_transcriptに準拠(小文字化・記号除去・数字の単語化)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3. アンカー(中央単語)判定: 目標単語を中心とする。条件=語彙内 かつ 単語長&lt;2s かつ 前後に各1.25s以上の余白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4. 切り出し・混合: 各2.5s@44.1kHz(モデル内部で中央2sを使用)。within-itemで6段階のSN比に再混合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SN比: -9/-6/-3/0/+3/+inf dB。目標のエネルギーに合わせて妨害を調整。+inf=妨害なし。RMS 0.02に正規化。diotic(両耳同一)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5. 著者の事前学習チェックポイント(word_task_v10)でそのまま推論。再学習・微調整は行わない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三(続)、3つの重要な工学的判断 —— 「なぜそうしたか」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① テキスト正規化でアポストロフィを保持する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論文の公開コードはアポストロフィを削除するが、800語彙には16個の短縮形(can't/don't 等)が含まれる。削除すると語彙照合に失敗し脱落してしまう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② 「録音の中点の単語」ではなく「目標単語を中心」に切り出す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論文のソースコードで確認: まず目標単語を選び、それを中心に切り出す(先に切り出してから中点の単語を見るのではない)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③ アンカー優先のペアリング(先にアライメント、後にペアリング)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目標候補のみを整列し、アンカーをもつ録音を目標に採用。627録音から600サンプル(96%)を得て、旧手法の22%を大きく上回る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8542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</a:t>
            </a:r>
            <a:r>
              <a:rPr sz="26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</a:t>
            </a:r>
            <a:r>
              <a:rPr sz="26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モデル有効性の検証</a:t>
            </a:r>
            <a:endParaRPr sz="2600" b="1" dirty="0">
              <a:solidFill>
                <a:srgbClr val="000000"/>
              </a:solidFill>
              <a:latin typeface="Hiragino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clean条件(目標のみ・妨害なし)における中央単語認識の正答率: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88.6%   (偶然水準は0.1% = 1/800)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600サンプルの+inf条件でも88.0%となり、相互に裏付けられる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→ モデルは音声から目標の中央単語を実際に認識でき、偶然水準を大きく上回る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– これが以降の傾向実験の前提となる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686918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</a:t>
            </a:r>
            <a:r>
              <a:rPr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Fig 2b </a:t>
            </a:r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再現</a:t>
            </a:r>
            <a:r>
              <a:rPr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—— </a:t>
            </a:r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</a:t>
            </a:r>
            <a:r>
              <a:rPr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vs </a:t>
            </a:r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異性妨害</a:t>
            </a:r>
            <a:endParaRPr sz="2500" b="1" dirty="0">
              <a:solidFill>
                <a:srgbClr val="000000"/>
              </a:solidFill>
              <a:latin typeface="Hiragino Sans"/>
            </a:endParaRP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5086"/>
            <a:ext cx="3418125" cy="2788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</a:t>
            </a:r>
            <a:r>
              <a:rPr sz="15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/異性の2本の線: </a:t>
            </a:r>
            <a:r>
              <a:rPr sz="15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中央単語認識の正答率</a:t>
            </a:r>
            <a:r>
              <a:rPr sz="15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vs </a:t>
            </a:r>
            <a:r>
              <a:rPr sz="15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SN比</a:t>
            </a:r>
            <a:endParaRPr sz="1500" b="0" dirty="0">
              <a:solidFill>
                <a:srgbClr val="000000"/>
              </a:solidFill>
              <a:latin typeface="Hiragino Sans"/>
            </a:endParaRP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再現された傾向</a:t>
            </a:r>
            <a:r>
              <a:rPr sz="15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(</a:t>
            </a:r>
            <a:r>
              <a:rPr sz="15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論文と一致</a:t>
            </a:r>
            <a:r>
              <a:rPr sz="15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):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① 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SN比とともに正答率が単調に増加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(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妨害が弱いほど正答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↑)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② 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異性妨害が全体的に同性より高い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(9~18ポイント)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③ +inf(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妨害なし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)で2本の線が約88%に収束: 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妨害がなければ性別は無関係</a:t>
            </a:r>
            <a:endParaRPr sz="1500" b="0" dirty="0">
              <a:solidFill>
                <a:srgbClr val="555555"/>
              </a:solidFill>
              <a:latin typeface="Hiragino Sans"/>
            </a:endParaRP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</a:t>
            </a:r>
            <a:r>
              <a:rPr sz="15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&gt;</a:t>
            </a:r>
            <a:r>
              <a:rPr sz="15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同性の差は安定</a:t>
            </a:r>
            <a:r>
              <a:rPr sz="15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妨害ありの5段階すべてでエラーバーが非重複(3.4~6.8σ)</a:t>
            </a: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エラーバ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ー = ±1 SEM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E503EF-CB03-6F43-3764-0CB8C13C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674" y="1895086"/>
            <a:ext cx="3057735" cy="3067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四(補): 音声サンプル —— SN比ラダー(クリックで再生)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同一刺激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(</a:t>
            </a:r>
            <a:r>
              <a:rPr sz="15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目標単語「around</a:t>
            </a:r>
            <a:r>
              <a:rPr sz="15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」)の6段階SN比混合。-9dBから妨害なしへ進むと、妨害話者が徐々に消え目標が明瞭になる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+inf(妨害なし)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cue(手がかり音)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目標のみ(参照)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524214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四、本発表の2つの問いへの回答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問い①: モデルは目標話者の中央単語を認識できるか?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→ 認識できる。clean条件で正答率88.6%(偶然0.1%)。混合音声下でも -9dBの26% 〜 +infの88% まで一貫して機能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問い②: 正答率のSN比・妨害話者性別への依存傾向は論文と一致するか?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→ 一致する。SN比↑で正答率↑(単調増加)、異性妨害&gt;同性(全SN比でエラーバー非重複)、妨害なしで収束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いずれの問いも肯定 → 行動的傾向は論文と方向が一致し、再現に成功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五、重要な判断と誠実な補足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論文を厳密に踏襲した点: 800語彙・アライメント方針・目標単語中心の切り出し・6段階SN比・within-item・採点基準・著者パラメータの使用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実情に応じて調整した点(科学的な設定は変更しない):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アポストロフィの保持(短縮形照合のため)/ アンカー優先ペアリング(効率化)/ M1 CPU上での実行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現在の範囲と限界: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範囲は単一話者の音声妨害・diotic(非空間)。他の妨害種・harmonicity・空間実験は未実施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サンプル数600、CPUでの1回の走査は約6.5時間。今後hakusan GPUで拡張可能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数値が論文と異なるのは想定内: コーパス・話者・単語が異なるため。判定はあくまで傾向の方向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Meiryo"/>
                <a:ea typeface="Meiryo"/>
                <a:cs typeface="Meiryo"/>
              </a:rPr>
              <a:t>• </a:t>
            </a:r>
            <a:r>
              <a:rPr sz="1900" b="0" dirty="0" err="1">
                <a:latin typeface="Meiryo"/>
                <a:ea typeface="Meiryo"/>
                <a:cs typeface="Meiryo"/>
              </a:rPr>
              <a:t>目的</a:t>
            </a:r>
            <a:r>
              <a:rPr sz="1900" b="0" dirty="0">
                <a:latin typeface="Meiryo"/>
                <a:ea typeface="Meiryo"/>
                <a:cs typeface="Meiryo"/>
              </a:rPr>
              <a:t>: </a:t>
            </a:r>
            <a:r>
              <a:rPr sz="1900" b="0" dirty="0" err="1">
                <a:latin typeface="Meiryo"/>
                <a:ea typeface="Meiryo"/>
                <a:cs typeface="Meiryo"/>
              </a:rPr>
              <a:t>著者の事前学習モデルと自作CV評価セットを用い、Fig</a:t>
            </a:r>
            <a:r>
              <a:rPr sz="1900" b="0" dirty="0">
                <a:latin typeface="Meiryo"/>
                <a:ea typeface="Meiryo"/>
                <a:cs typeface="Meiryo"/>
              </a:rPr>
              <a:t> 2bの行動傾向を再現できるかを検証した</a:t>
            </a:r>
          </a:p>
          <a:p>
            <a:pPr>
              <a:spcAft>
                <a:spcPts val="600"/>
              </a:spcAft>
            </a:pPr>
            <a:r>
              <a:rPr sz="1900" b="0" dirty="0">
                <a:latin typeface="Meiryo"/>
                <a:ea typeface="Meiryo"/>
                <a:cs typeface="Meiryo"/>
              </a:rPr>
              <a:t>• </a:t>
            </a:r>
            <a:r>
              <a:rPr sz="1900" b="0" dirty="0" err="1">
                <a:latin typeface="Meiryo"/>
                <a:ea typeface="Meiryo"/>
                <a:cs typeface="Meiryo"/>
              </a:rPr>
              <a:t>方法</a:t>
            </a:r>
            <a:r>
              <a:rPr sz="1900" b="0" dirty="0">
                <a:latin typeface="Meiryo"/>
                <a:ea typeface="Meiryo"/>
                <a:cs typeface="Meiryo"/>
              </a:rPr>
              <a:t>: </a:t>
            </a:r>
            <a:r>
              <a:rPr sz="1900" b="0" dirty="0" err="1">
                <a:latin typeface="Meiryo"/>
                <a:ea typeface="Meiryo"/>
                <a:cs typeface="Meiryo"/>
              </a:rPr>
              <a:t>強制アライメント</a:t>
            </a:r>
            <a:r>
              <a:rPr sz="1900" b="0" dirty="0">
                <a:latin typeface="Meiryo"/>
                <a:ea typeface="Meiryo"/>
                <a:cs typeface="Meiryo"/>
              </a:rPr>
              <a:t> → </a:t>
            </a:r>
            <a:r>
              <a:rPr sz="1900" b="0" dirty="0" err="1">
                <a:latin typeface="Meiryo"/>
                <a:ea typeface="Meiryo"/>
                <a:cs typeface="Meiryo"/>
              </a:rPr>
              <a:t>目標単語中心の切り出し</a:t>
            </a:r>
            <a:r>
              <a:rPr sz="1900" b="0" dirty="0">
                <a:latin typeface="Meiryo"/>
                <a:ea typeface="Meiryo"/>
                <a:cs typeface="Meiryo"/>
              </a:rPr>
              <a:t> → 6段階SN比で混合 → </a:t>
            </a:r>
            <a:r>
              <a:rPr sz="1900" b="0" dirty="0" err="1">
                <a:latin typeface="Meiryo"/>
                <a:ea typeface="Meiryo"/>
                <a:cs typeface="Meiryo"/>
              </a:rPr>
              <a:t>著者チェックポイントで推論</a:t>
            </a:r>
            <a:r>
              <a:rPr sz="1900" b="0" dirty="0">
                <a:latin typeface="Meiryo"/>
                <a:ea typeface="Meiryo"/>
                <a:cs typeface="Meiryo"/>
              </a:rPr>
              <a:t>(600サンプル、性別均衡)</a:t>
            </a: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9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結果</a:t>
            </a:r>
            <a:r>
              <a:rPr sz="19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① </a:t>
            </a:r>
            <a:r>
              <a:rPr sz="1700" b="0" dirty="0" err="1">
                <a:latin typeface="Meiryo"/>
                <a:ea typeface="Meiryo"/>
                <a:cs typeface="Meiryo"/>
              </a:rPr>
              <a:t>モデルの有効性を確認</a:t>
            </a:r>
            <a:r>
              <a:rPr sz="1700" b="0" dirty="0">
                <a:latin typeface="Meiryo"/>
                <a:ea typeface="Meiryo"/>
                <a:cs typeface="Meiryo"/>
              </a:rPr>
              <a:t>: </a:t>
            </a:r>
            <a:r>
              <a:rPr sz="1700" b="0" dirty="0" err="1">
                <a:latin typeface="Meiryo"/>
                <a:ea typeface="Meiryo"/>
                <a:cs typeface="Meiryo"/>
              </a:rPr>
              <a:t>clean正答率</a:t>
            </a:r>
            <a:r>
              <a:rPr sz="1700" b="0" dirty="0">
                <a:latin typeface="Meiryo"/>
                <a:ea typeface="Meiryo"/>
                <a:cs typeface="Meiryo"/>
              </a:rPr>
              <a:t> 88.6% ≫ </a:t>
            </a:r>
            <a:r>
              <a:rPr sz="1700" b="0" dirty="0" err="1">
                <a:latin typeface="Meiryo"/>
                <a:ea typeface="Meiryo"/>
                <a:cs typeface="Meiryo"/>
              </a:rPr>
              <a:t>偶然水準</a:t>
            </a:r>
            <a:r>
              <a:rPr sz="1700" b="0" dirty="0">
                <a:latin typeface="Meiryo"/>
                <a:ea typeface="Meiryo"/>
                <a:cs typeface="Meiryo"/>
              </a:rPr>
              <a:t> 0.1%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Meiryo"/>
                <a:ea typeface="Meiryo"/>
                <a:cs typeface="Meiryo"/>
              </a:rPr>
              <a:t>– ② Fig 2bの傾向を再現: </a:t>
            </a:r>
            <a:r>
              <a:rPr sz="1700" b="0" dirty="0" err="1">
                <a:latin typeface="Meiryo"/>
                <a:ea typeface="Meiryo"/>
                <a:cs typeface="Meiryo"/>
              </a:rPr>
              <a:t>SN比↑で正答</a:t>
            </a:r>
            <a:r>
              <a:rPr sz="1700" b="0" dirty="0">
                <a:latin typeface="Meiryo"/>
                <a:ea typeface="Meiryo"/>
                <a:cs typeface="Meiryo"/>
              </a:rPr>
              <a:t>↑、</a:t>
            </a:r>
            <a:r>
              <a:rPr sz="1700" b="0" dirty="0" err="1">
                <a:latin typeface="Meiryo"/>
                <a:ea typeface="Meiryo"/>
                <a:cs typeface="Meiryo"/>
              </a:rPr>
              <a:t>異性妨害</a:t>
            </a:r>
            <a:r>
              <a:rPr sz="1700" b="0" dirty="0">
                <a:latin typeface="Meiryo"/>
                <a:ea typeface="Meiryo"/>
                <a:cs typeface="Meiryo"/>
              </a:rPr>
              <a:t> &gt; </a:t>
            </a:r>
            <a:r>
              <a:rPr sz="1700" b="0" dirty="0" err="1">
                <a:latin typeface="Meiryo"/>
                <a:ea typeface="Meiryo"/>
                <a:cs typeface="Meiryo"/>
              </a:rPr>
              <a:t>同性、妨害なしで収束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結論</a:t>
            </a: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: 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傾向の方向が論文と一致</a:t>
            </a: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再現に成功</a:t>
            </a: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(</a:t>
            </a:r>
            <a:r>
              <a:rPr sz="19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傾向の再現であり、論文の真偽検証ではない</a:t>
            </a:r>
            <a:r>
              <a:rPr sz="19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次にやること: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hakusan GPUで大規模化(サンプル増、Fig 2c/2d/2e など他パネルの追加)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妨害も対称構成にし、混同(confusion)の絶対量を論文水準に近づける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③ (発展) 発達パラメータαなど、独自拡張の検証へ進む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1066</Words>
  <Application>Microsoft Macintosh PowerPoint</Application>
  <PresentationFormat>宽屏</PresentationFormat>
  <Paragraphs>103</Paragraphs>
  <Slides>13</Slides>
  <Notes>0</Notes>
  <HiddenSlides>0</HiddenSlides>
  <MMClips>8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Hiragino Sans</vt:lpstr>
      <vt:lpstr>Meiryo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a49066</cp:lastModifiedBy>
  <cp:revision>4</cp:revision>
  <dcterms:created xsi:type="dcterms:W3CDTF">2013-01-27T09:14:16Z</dcterms:created>
  <dcterms:modified xsi:type="dcterms:W3CDTF">2026-07-02T05:45:30Z</dcterms:modified>
  <cp:category/>
</cp:coreProperties>
</file>