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12"/>
    <p:restoredTop sz="94610"/>
  </p:normalViewPr>
  <p:slideViewPr>
    <p:cSldViewPr snapToGrid="0" snapToObjects="1">
      <p:cViewPr>
        <p:scale>
          <a:sx n="78" d="100"/>
          <a:sy n="78" d="100"/>
        </p:scale>
        <p:origin x="14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70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2067474"/>
            <a:ext cx="3246120" cy="2651760"/>
          </a:xfrm>
          <a:prstGeom prst="roundRect">
            <a:avLst>
              <a:gd name="adj" fmla="val 2759"/>
            </a:avLst>
          </a:prstGeom>
          <a:noFill/>
          <a:ln w="254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76022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1920" y="229607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論文再現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9080" y="293615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著者 checkpoint ×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300" dirty="0"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自前 Common Voice 刺激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46120" cy="2651760"/>
          </a:xfrm>
          <a:prstGeom prst="roundRect">
            <a:avLst>
              <a:gd name="adj" fmla="val 2759"/>
            </a:avLst>
          </a:prstGeom>
          <a:noFill/>
          <a:ln w="254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60070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今ここ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自作データ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zh-CN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訓練</a:t>
            </a:r>
            <a:endParaRPr lang="en-US" sz="2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ランダム</a:t>
            </a:r>
            <a:r>
              <a:rPr lang="zh-CN" altLang="en-US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初期化</a:t>
            </a:r>
            <a:r>
              <a:rPr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から</a:t>
            </a:r>
            <a:r>
              <a:rPr lang="en" altLang="zh-CN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feature-gain</a:t>
            </a:r>
            <a:r>
              <a:rPr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モデルを</a:t>
            </a:r>
            <a:r>
              <a:rPr lang="zh-CN" altLang="en-US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学習</a:t>
            </a:r>
            <a:endParaRPr lang="zh-CN" alt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0" y="4160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40 エポック中 13 完了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79474" y="2103120"/>
            <a:ext cx="3246120" cy="2651760"/>
          </a:xfrm>
          <a:prstGeom prst="roundRect">
            <a:avLst>
              <a:gd name="adj" fmla="val 2759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44118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9474" y="2331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B0B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発達パラメータ α</a:t>
            </a:r>
            <a:endParaRPr lang="en-US" sz="2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16634" y="31419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" altLang="zh-CN" sz="1400" dirty="0">
                <a:latin typeface="Meiryo" panose="020B0604030504040204" pitchFamily="34" charset="-128"/>
                <a:ea typeface="Meiryo" panose="020B0604030504040204" pitchFamily="34" charset="-128"/>
              </a:rPr>
              <a:t>gain 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に </a:t>
            </a:r>
            <a:r>
              <a:rPr lang="el-GR" altLang="zh-CN" sz="1400" dirty="0">
                <a:latin typeface="Meiryo" panose="020B0604030504040204" pitchFamily="34" charset="-128"/>
                <a:ea typeface="Meiryo" panose="020B0604030504040204" pitchFamily="34" charset="-128"/>
              </a:rPr>
              <a:t>α 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を</a:t>
            </a:r>
            <a:r>
              <a:rPr lang="zh-CN" alt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導入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し</a:t>
            </a:r>
            <a:r>
              <a:rPr lang="zh-CN" alt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発達的変化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をモデル</a:t>
            </a:r>
            <a:r>
              <a:rPr lang="zh-CN" alt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化</a:t>
            </a: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79474" y="4160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3931920"/>
            <a:ext cx="1920240" cy="146304"/>
          </a:xfrm>
          <a:prstGeom prst="rect">
            <a:avLst/>
          </a:prstGeom>
          <a:solidFill>
            <a:srgbClr val="E6E5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892040" y="3931920"/>
            <a:ext cx="624078" cy="146304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85432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13/40</a:t>
            </a:r>
            <a:endParaRPr lang="en-US" sz="11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26B5DA-0BA9-9BE0-B05D-3B53724C767E}"/>
              </a:ext>
            </a:extLst>
          </p:cNvPr>
          <p:cNvSpPr txBox="1"/>
          <p:nvPr/>
        </p:nvSpPr>
        <p:spPr>
          <a:xfrm>
            <a:off x="694563" y="3745050"/>
            <a:ext cx="2315718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latin typeface="Meiryo" panose="020B0604030504040204" pitchFamily="34" charset="-128"/>
                <a:ea typeface="Meiryo" panose="020B0604030504040204" pitchFamily="34" charset="-128"/>
              </a:rPr>
              <a:t>両耳分離聴</a:t>
            </a:r>
            <a:r>
              <a:rPr lang="en-US" altLang="zh-CN" sz="13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" altLang="zh-CN" sz="1300" dirty="0">
                <a:latin typeface="Meiryo" panose="020B0604030504040204" pitchFamily="34" charset="-128"/>
                <a:ea typeface="Meiryo" panose="020B0604030504040204" pitchFamily="34" charset="-128"/>
              </a:rPr>
              <a:t>dichotic)</a:t>
            </a:r>
            <a:r>
              <a:rPr lang="zh-CN" altLang="en-US" sz="1300" dirty="0">
                <a:latin typeface="Meiryo" panose="020B0604030504040204" pitchFamily="34" charset="-128"/>
                <a:ea typeface="Meiryo" panose="020B0604030504040204" pitchFamily="34" charset="-128"/>
              </a:rPr>
              <a:t>検証</a:t>
            </a:r>
          </a:p>
          <a:p>
            <a:endParaRPr kumimoji="1" lang="zh-CN" altLang="en-US" dirty="0"/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5E1F11F0-5D2E-C555-F326-BAD9E7B1865E}"/>
              </a:ext>
            </a:extLst>
          </p:cNvPr>
          <p:cNvSpPr/>
          <p:nvPr/>
        </p:nvSpPr>
        <p:spPr>
          <a:xfrm>
            <a:off x="3643884" y="2976449"/>
            <a:ext cx="484632" cy="466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右箭头 27">
            <a:extLst>
              <a:ext uri="{FF2B5EF4-FFF2-40B4-BE49-F238E27FC236}">
                <a16:creationId xmlns:a16="http://schemas.microsoft.com/office/drawing/2014/main" id="{EBFEFB70-A369-2534-CA52-E89C02B59C19}"/>
              </a:ext>
            </a:extLst>
          </p:cNvPr>
          <p:cNvSpPr/>
          <p:nvPr/>
        </p:nvSpPr>
        <p:spPr>
          <a:xfrm>
            <a:off x="7921106" y="2971800"/>
            <a:ext cx="484632" cy="466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5318322-F424-FBC0-E718-73CDE4648F0C}"/>
              </a:ext>
            </a:extLst>
          </p:cNvPr>
          <p:cNvSpPr txBox="1"/>
          <p:nvPr/>
        </p:nvSpPr>
        <p:spPr>
          <a:xfrm>
            <a:off x="342900" y="351037"/>
            <a:ext cx="202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現在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進捗</a:t>
            </a:r>
            <a:endParaRPr kumimoji="1" lang="zh-CN" altLang="en-US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31892" y="250298"/>
            <a:ext cx="2653310" cy="1999281"/>
          </a:xfrm>
          <a:prstGeom prst="roundRect">
            <a:avLst>
              <a:gd name="adj" fmla="val 3200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017520" y="351037"/>
            <a:ext cx="2473425" cy="39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cue を使っているか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1128277"/>
            <a:ext cx="2383482" cy="719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cueを使って目標を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選んでいることを検証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26080" y="4572000"/>
            <a:ext cx="2653310" cy="1999281"/>
          </a:xfrm>
          <a:prstGeom prst="roundRect">
            <a:avLst>
              <a:gd name="adj" fmla="val 3200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017520" y="4898239"/>
            <a:ext cx="2473425" cy="39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計算は安定するか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5675479"/>
            <a:ext cx="2383482" cy="719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本番設定で数値が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壊れないことを事前確認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26080" y="2536298"/>
            <a:ext cx="2653310" cy="1799353"/>
          </a:xfrm>
          <a:prstGeom prst="roundRect">
            <a:avLst>
              <a:gd name="adj" fmla="val 3200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771900" y="1713338"/>
            <a:ext cx="989370" cy="335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</a:rPr>
              <a:t>PASS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627738"/>
            <a:ext cx="2473425" cy="39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学習は始まるか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63240" y="3404978"/>
            <a:ext cx="2383482" cy="719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本番設定で 4 エポック試運転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固定テストで改善を確認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22590" y="2194560"/>
            <a:ext cx="1828800" cy="22860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2259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full 訓練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（40 エポック）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259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514E"/>
                </a:solidFill>
                <a:latin typeface="Meiryo" panose="020B0604030504040204" pitchFamily="34" charset="-128"/>
                <a:ea typeface="Meiryo" panose="020B0604030504040204" pitchFamily="34" charset="-128"/>
                <a:cs typeface="Hiragino Sans" pitchFamily="34" charset="-120"/>
              </a:rPr>
              <a:t>現在 13 エポック完了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A8244328-8EC5-7152-0B46-61D0DB5CEDB5}"/>
              </a:ext>
            </a:extLst>
          </p:cNvPr>
          <p:cNvSpPr/>
          <p:nvPr/>
        </p:nvSpPr>
        <p:spPr>
          <a:xfrm>
            <a:off x="6400800" y="3191101"/>
            <a:ext cx="1100380" cy="4277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6DE958-B20F-28D1-405E-B502C0B50375}"/>
              </a:ext>
            </a:extLst>
          </p:cNvPr>
          <p:cNvSpPr txBox="1"/>
          <p:nvPr/>
        </p:nvSpPr>
        <p:spPr>
          <a:xfrm>
            <a:off x="342900" y="351037"/>
            <a:ext cx="202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つの</a:t>
            </a:r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事前検証</a:t>
            </a:r>
            <a:endParaRPr kumimoji="1" lang="zh-CN" altLang="en-US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635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</a:t>
            </a:r>
            <a:r>
              <a:rPr lang="en-US" sz="1800" b="1" dirty="0" err="1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場面（scene）の構成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8F1F8"/>
          </a:solidFill>
          <a:ln w="254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cue</a:t>
            </a:r>
            <a:endParaRPr lang="en-US" sz="1400" dirty="0"/>
          </a:p>
        </p:txBody>
      </p:sp>
      <p:pic>
        <p:nvPicPr>
          <p:cNvPr id="5" name="Image 0" descr="/private/tmp/claude-501/-Users-gigi-projects-auditory-attention-----/c11d5e0a-1e53-4947-98a6-44d81f04e0c2/scratchpad/wav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201168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24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目標話者の別の録音 2 秒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54680" y="2286000"/>
            <a:ext cx="365760" cy="0"/>
          </a:xfrm>
          <a:prstGeom prst="line">
            <a:avLst/>
          </a:prstGeom>
          <a:noFill/>
          <a:ln w="3175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657600" y="1051560"/>
            <a:ext cx="3200400" cy="2514600"/>
          </a:xfrm>
          <a:prstGeom prst="roundRect">
            <a:avLst>
              <a:gd name="adj" fmla="val 2909"/>
            </a:avLst>
          </a:prstGeom>
          <a:noFill/>
          <a:ln w="254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657600" y="1161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mixture</a:t>
            </a:r>
            <a:endParaRPr lang="en-US" sz="1400" dirty="0"/>
          </a:p>
        </p:txBody>
      </p:sp>
      <p:pic>
        <p:nvPicPr>
          <p:cNvPr id="10" name="Image 1" descr="/private/tmp/claude-501/-Users-gigi-projects-auditory-attention-----/c11d5e0a-1e53-4947-98a6-44d81f04e0c2/scratchpad/wav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18488"/>
            <a:ext cx="214884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80760" y="16550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目標話者</a:t>
            </a:r>
            <a:endParaRPr lang="en-US" sz="1000" dirty="0"/>
          </a:p>
        </p:txBody>
      </p:sp>
      <p:pic>
        <p:nvPicPr>
          <p:cNvPr id="12" name="Image 2" descr="/private/tmp/claude-501/-Users-gigi-projects-auditory-attention-----/c11d5e0a-1e53-4947-98a6-44d81f04e0c2/scratchpad/wave_gray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194560"/>
            <a:ext cx="2148840" cy="365760"/>
          </a:xfrm>
          <a:prstGeom prst="rect">
            <a:avLst/>
          </a:prstGeom>
        </p:spPr>
      </p:pic>
      <p:pic>
        <p:nvPicPr>
          <p:cNvPr id="13" name="Image 3" descr="/private/tmp/claude-501/-Users-gigi-projects-auditory-attention-----/c11d5e0a-1e53-4947-98a6-44d81f04e0c2/scratchpad/wave_gray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624328"/>
            <a:ext cx="214884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80760" y="23500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251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妨害話者 1〜4 名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36576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SNR −10〜+10 dB でランダム混合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967728" y="2286000"/>
            <a:ext cx="365760" cy="0"/>
          </a:xfrm>
          <a:prstGeom prst="line">
            <a:avLst/>
          </a:prstGeom>
          <a:noFill/>
          <a:ln w="3175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1"/>
          <p:cNvSpPr/>
          <p:nvPr/>
        </p:nvSpPr>
        <p:spPr>
          <a:xfrm>
            <a:off x="7452360" y="1417320"/>
            <a:ext cx="1920240" cy="1737360"/>
          </a:xfrm>
          <a:prstGeom prst="roundRect">
            <a:avLst>
              <a:gd name="adj" fmla="val 4211"/>
            </a:avLst>
          </a:prstGeom>
          <a:noFill/>
          <a:ln w="25400">
            <a:solidFill>
              <a:srgbClr val="52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2"/>
          <p:cNvSpPr/>
          <p:nvPr/>
        </p:nvSpPr>
        <p:spPr>
          <a:xfrm>
            <a:off x="7452360" y="1618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45236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cue で gain 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調整して聴取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491472" y="2286000"/>
            <a:ext cx="320040" cy="0"/>
          </a:xfrm>
          <a:prstGeom prst="line">
            <a:avLst/>
          </a:prstGeom>
          <a:noFill/>
          <a:ln w="3175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9921240" y="1417320"/>
            <a:ext cx="1828800" cy="1737360"/>
          </a:xfrm>
          <a:prstGeom prst="roundRect">
            <a:avLst>
              <a:gd name="adj" fmla="val 4211"/>
            </a:avLst>
          </a:prstGeom>
          <a:noFill/>
          <a:ln w="254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9921240" y="1618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回答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921240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800 語から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中間単語を選択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b="1" dirty="0"/>
              <a:t>訓練用発話</a:t>
            </a:r>
            <a:r>
              <a:rPr lang="ja-JP" altLang="en-US" b="1"/>
              <a:t>の</a:t>
            </a:r>
            <a:r>
              <a:rPr lang="zh-CN" altLang="en-US" b="1" dirty="0"/>
              <a:t>準備</a:t>
            </a:r>
            <a:endParaRPr lang="en-US" sz="1800" b="1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2514600" cy="18288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548640" y="48391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/>
              <a:t>89 </a:t>
            </a:r>
            <a:r>
              <a:rPr lang="zh-CN" altLang="en-US" b="1" dirty="0"/>
              <a:t>万 発話</a:t>
            </a:r>
            <a:endParaRPr lang="en-US" sz="1800" b="1" dirty="0"/>
          </a:p>
        </p:txBody>
      </p:sp>
      <p:sp>
        <p:nvSpPr>
          <p:cNvPr id="27" name="Text 21"/>
          <p:cNvSpPr/>
          <p:nvPr/>
        </p:nvSpPr>
        <p:spPr>
          <a:xfrm>
            <a:off x="621792" y="54406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" altLang="zh-CN" sz="1000" dirty="0"/>
              <a:t>Common Voice </a:t>
            </a:r>
            <a:r>
              <a:rPr lang="zh-CN" altLang="en-US" sz="1000" dirty="0"/>
              <a:t>公式 </a:t>
            </a:r>
            <a:r>
              <a:rPr lang="en" altLang="zh-CN" sz="1000" dirty="0"/>
              <a:t>train </a:t>
            </a:r>
            <a:r>
              <a:rPr lang="en-US" altLang="ja-JP" sz="1000" dirty="0"/>
              <a:t>set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54680" y="5486400"/>
            <a:ext cx="320040" cy="0"/>
          </a:xfrm>
          <a:prstGeom prst="line">
            <a:avLst/>
          </a:prstGeom>
          <a:noFill/>
          <a:ln w="2540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3566160" y="4709160"/>
            <a:ext cx="2514600" cy="1554480"/>
          </a:xfrm>
          <a:prstGeom prst="roundRect">
            <a:avLst>
              <a:gd name="adj" fmla="val 4706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4"/>
          <p:cNvSpPr/>
          <p:nvPr/>
        </p:nvSpPr>
        <p:spPr>
          <a:xfrm>
            <a:off x="3581400" y="4937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30.4 万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3639312" y="54406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dirty="0"/>
              <a:t>話者重複</a:t>
            </a:r>
            <a:r>
              <a:rPr lang="ja-JP" altLang="en-US" sz="1000"/>
              <a:t>なしの</a:t>
            </a:r>
            <a:r>
              <a:rPr lang="zh-CN" altLang="en-US" sz="1000" dirty="0"/>
              <a:t>分割＋性別</a:t>
            </a:r>
            <a:r>
              <a:rPr lang="ja-JP" altLang="en-US" sz="1000"/>
              <a:t>フィルタ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172200" y="5486400"/>
            <a:ext cx="320040" cy="0"/>
          </a:xfrm>
          <a:prstGeom prst="line">
            <a:avLst/>
          </a:prstGeom>
          <a:noFill/>
          <a:ln w="2540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6583680" y="4823460"/>
            <a:ext cx="2514600" cy="1325880"/>
          </a:xfrm>
          <a:prstGeom prst="roundRect">
            <a:avLst>
              <a:gd name="adj" fmla="val 5517"/>
            </a:avLst>
          </a:prstGeom>
          <a:noFill/>
          <a:ln w="25400">
            <a:solidFill>
              <a:srgbClr val="8A89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6583680" y="5025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B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4.0 万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6656832" y="54406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回答候補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 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800 </a:t>
            </a:r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語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がすべて</a:t>
            </a:r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揃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うよう</a:t>
            </a:r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発話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を</a:t>
            </a:r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選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び、</a:t>
            </a:r>
            <a:r>
              <a:rPr lang="zh-CN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強制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アラインメント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9189720" y="5486400"/>
            <a:ext cx="320040" cy="0"/>
          </a:xfrm>
          <a:prstGeom prst="line">
            <a:avLst/>
          </a:prstGeom>
          <a:noFill/>
          <a:ln w="2540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9601200" y="4892040"/>
            <a:ext cx="2514600" cy="1188720"/>
          </a:xfrm>
          <a:prstGeom prst="roundRect">
            <a:avLst>
              <a:gd name="adj" fmla="val 6154"/>
            </a:avLst>
          </a:prstGeom>
          <a:noFill/>
          <a:ln w="254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9601200" y="49651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2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36,842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9674352" y="54406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dirty="0"/>
              <a:t>有効</a:t>
            </a:r>
            <a:r>
              <a:rPr lang="ja-JP" altLang="en-US" sz="1000"/>
              <a:t>なアンカーを</a:t>
            </a:r>
            <a:r>
              <a:rPr lang="zh-CN" altLang="en-US" sz="1000" dirty="0"/>
              <a:t>含</a:t>
            </a:r>
            <a:r>
              <a:rPr lang="ja-JP" altLang="en-US" sz="1000"/>
              <a:t>む</a:t>
            </a:r>
            <a:endParaRPr lang="en-US" sz="1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0A6706C-EB22-A353-930B-EA66EFBDABD1}"/>
              </a:ext>
            </a:extLst>
          </p:cNvPr>
          <p:cNvSpPr txBox="1"/>
          <p:nvPr/>
        </p:nvSpPr>
        <p:spPr>
          <a:xfrm>
            <a:off x="393520" y="23874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学習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データの</a:t>
            </a:r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構成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D9B7B3E-175C-06BD-AAF1-14E1B357F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30" y="1731660"/>
            <a:ext cx="6943585" cy="407558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29470DA-164F-7A72-0725-9FCF13A0C945}"/>
              </a:ext>
            </a:extLst>
          </p:cNvPr>
          <p:cNvSpPr txBox="1"/>
          <p:nvPr/>
        </p:nvSpPr>
        <p:spPr>
          <a:xfrm>
            <a:off x="310243" y="2486522"/>
            <a:ext cx="44834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■ epoch 12/40 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完了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r>
              <a:rPr lang="en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train 64.3% / validation 41.1%</a:t>
            </a:r>
          </a:p>
          <a:p>
            <a:endParaRPr lang="en" altLang="zh-CN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■ validation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伸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びは </a:t>
            </a:r>
            <a:r>
              <a:rPr lang="en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epoch 8 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以降鈍化 → 過学習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兆候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がないか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監視中</a:t>
            </a:r>
            <a:endParaRPr lang="en-US" altLang="zh-CN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zh-CN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■ 学習完了後、著者 </a:t>
            </a:r>
            <a:r>
              <a:rPr lang="en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checkpoint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と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同一刺激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で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評価予定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90FD1A-7680-6F46-6AD8-5289A0C507C0}"/>
              </a:ext>
            </a:extLst>
          </p:cNvPr>
          <p:cNvSpPr txBox="1"/>
          <p:nvPr/>
        </p:nvSpPr>
        <p:spPr>
          <a:xfrm>
            <a:off x="310243" y="34993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結果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243</Words>
  <Application>Microsoft Macintosh PowerPoint</Application>
  <PresentationFormat>宽屏</PresentationFormat>
  <Paragraphs>61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Hiragino Sans</vt:lpstr>
      <vt:lpstr>Meiryo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H190751@365mak.com</cp:lastModifiedBy>
  <cp:revision>4</cp:revision>
  <dcterms:created xsi:type="dcterms:W3CDTF">2026-08-20T04:44:45Z</dcterms:created>
  <dcterms:modified xsi:type="dcterms:W3CDTF">2026-08-20T07:47:44Z</dcterms:modified>
</cp:coreProperties>
</file>