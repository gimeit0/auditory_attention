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F3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920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A1A1A"/>
                </a:solidFill>
                <a:latin typeface="Arial"/>
              </a:rPr>
              <a:t>Reproducing Human Selective-Listening Trends</a:t>
            </a:r>
          </a:p>
          <a:p>
            <a:pPr algn="l">
              <a:spcAft>
                <a:spcPts val="1200"/>
              </a:spcAft>
            </a:pPr>
            <a:r>
              <a:rPr sz="3400" b="1" i="0">
                <a:solidFill>
                  <a:srgbClr val="1A1A1A"/>
                </a:solidFill>
                <a:latin typeface="Arial"/>
              </a:rPr>
              <a:t>with a Pretrained Feature-Gain Model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C2E6D"/>
                </a:solidFill>
                <a:latin typeface="Arial"/>
              </a:rPr>
              <a:t>Distractor sex + number of distractors — Common Voice evaluation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Griffith, Hess &amp; McDermott (2026, Nature Human Behaviour)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5B64"/>
                </a:solidFill>
                <a:latin typeface="Arial"/>
              </a:rPr>
              <a:t>Group meeting · Model inference only (no training) · Goal: trend direction, not exact values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2E6D"/>
                </a:solidFill>
                <a:latin typeface="Arial"/>
              </a:rPr>
              <a:t>MOTIVATION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Can a gain-based model explain selective listening?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2011680" cy="3810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400800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C2E6D"/>
                </a:solidFill>
                <a:latin typeface="Arial"/>
              </a:rPr>
              <a:t>The human problem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At a noisy party we can follow </a:t>
            </a:r>
            <a:r>
              <a:rPr sz="1600" b="1" i="0">
                <a:solidFill>
                  <a:srgbClr val="1A1A1A"/>
                </a:solidFill>
                <a:latin typeface="Arial"/>
              </a:rPr>
              <a:t>one voice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ignore others.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C2E6D"/>
                </a:solidFill>
                <a:latin typeface="Arial"/>
              </a:rPr>
              <a:t>The model (Griffith et al. 2026)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Applies a learned </a:t>
            </a:r>
            <a:r>
              <a:rPr sz="1600" b="1" i="0">
                <a:solidFill>
                  <a:srgbClr val="1A1A1A"/>
                </a:solidFill>
                <a:latin typeface="Arial"/>
              </a:rPr>
              <a:t>feature gain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that boosts features matching a cue voice and suppresses the rest.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C2E6D"/>
                </a:solidFill>
                <a:latin typeface="Arial"/>
              </a:rPr>
              <a:t>The claim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optimized gain mechanism predicts BOTH successes and failures of human listening across many conditions.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C2E6D"/>
                </a:solidFill>
                <a:latin typeface="Arial"/>
              </a:rPr>
              <a:t>Our task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Feed the </a:t>
            </a:r>
            <a:r>
              <a:rPr sz="1600" b="1" i="0">
                <a:solidFill>
                  <a:srgbClr val="1A1A1A"/>
                </a:solidFill>
                <a:latin typeface="Arial"/>
              </a:rPr>
              <a:t>authors' pretrained checkpoint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our own Common Voice test set and check whether the </a:t>
            </a:r>
            <a:r>
              <a:rPr sz="1600" b="1" i="0">
                <a:solidFill>
                  <a:srgbClr val="1A1A1A"/>
                </a:solidFill>
                <a:latin typeface="Arial"/>
              </a:rPr>
              <a:t>behavioral trends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reproduce.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463040"/>
            <a:ext cx="4206240" cy="4206240"/>
          </a:xfrm>
          <a:prstGeom prst="rect">
            <a:avLst/>
          </a:prstGeom>
          <a:solidFill>
            <a:srgbClr val="F3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691640"/>
            <a:ext cx="3657600" cy="374903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9C2E6D"/>
                </a:solidFill>
                <a:latin typeface="Arial"/>
              </a:rPr>
              <a:t>The task, per trial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1.  Cue</a:t>
            </a:r>
            <a:r>
              <a:rPr sz="1400" b="0" i="0">
                <a:solidFill>
                  <a:srgbClr val="5B5B64"/>
                </a:solidFill>
                <a:latin typeface="Arial"/>
              </a:rPr>
              <a:t>  — a sample of the target voice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2.  Mixture</a:t>
            </a:r>
            <a:r>
              <a:rPr sz="1400" b="0" i="0">
                <a:solidFill>
                  <a:srgbClr val="5B5B64"/>
                </a:solidFill>
                <a:latin typeface="Arial"/>
              </a:rPr>
              <a:t>  — target + distractor(s)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3.  Report</a:t>
            </a:r>
            <a:r>
              <a:rPr sz="1400" b="0" i="0">
                <a:solidFill>
                  <a:srgbClr val="5B5B64"/>
                </a:solidFill>
                <a:latin typeface="Arial"/>
              </a:rPr>
              <a:t>  the target's middle word</a:t>
            </a:r>
          </a:p>
          <a:p>
            <a:pPr algn="l">
              <a:spcAft>
                <a:spcPts val="1400"/>
              </a:spcAft>
            </a:pPr>
            <a:r>
              <a:rPr sz="1300" b="0" i="1">
                <a:solidFill>
                  <a:srgbClr val="5B5B64"/>
                </a:solidFill>
                <a:latin typeface="Arial"/>
              </a:rPr>
              <a:t>  (from an 800-word vocabulary)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7A46"/>
                </a:solidFill>
                <a:latin typeface="Arial"/>
              </a:rPr>
              <a:t>Parameters are frozen — we only run inference, so no training data is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2E6D"/>
                </a:solidFill>
                <a:latin typeface="Arial"/>
              </a:rPr>
              <a:t>METHOD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Building the evaluation set — one shared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2011680" cy="3810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011680" cy="1737360"/>
          </a:xfrm>
          <a:prstGeom prst="rect">
            <a:avLst/>
          </a:prstGeom>
          <a:solidFill>
            <a:srgbClr val="F3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8288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9C2E6D"/>
                </a:solidFill>
                <a:latin typeface="Arial"/>
              </a:rPr>
              <a:t>1</a:t>
            </a:r>
          </a:p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Force-align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5B64"/>
                </a:solidFill>
                <a:latin typeface="Arial"/>
              </a:rPr>
              <a:t>torchaudio MMS_FA
word-level timestamps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70048" y="2788920"/>
            <a:ext cx="182880" cy="18288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0" y="2011680"/>
            <a:ext cx="2011680" cy="1737360"/>
          </a:xfrm>
          <a:prstGeom prst="rect">
            <a:avLst/>
          </a:prstGeom>
          <a:solidFill>
            <a:srgbClr val="E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148840"/>
            <a:ext cx="18288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9C2E6D"/>
                </a:solidFill>
                <a:latin typeface="Arial"/>
              </a:rPr>
              <a:t>2</a:t>
            </a:r>
          </a:p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Pick anchor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5B64"/>
                </a:solidFill>
                <a:latin typeface="Arial"/>
              </a:rPr>
              <a:t>in-vocab middle word
centered slice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10328" y="2788920"/>
            <a:ext cx="182880" cy="18288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0" y="2011680"/>
            <a:ext cx="2011680" cy="1737360"/>
          </a:xfrm>
          <a:prstGeom prst="rect">
            <a:avLst/>
          </a:prstGeom>
          <a:solidFill>
            <a:srgbClr val="F3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148840"/>
            <a:ext cx="18288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9C2E6D"/>
                </a:solidFill>
                <a:latin typeface="Arial"/>
              </a:rPr>
              <a:t>3</a:t>
            </a:r>
          </a:p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Slice 2.5 s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5B64"/>
                </a:solidFill>
                <a:latin typeface="Arial"/>
              </a:rPr>
              <a:t>model crops to 2 s
diotic (L = 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0608" y="2788920"/>
            <a:ext cx="182880" cy="18288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60920" y="2011680"/>
            <a:ext cx="2011680" cy="1737360"/>
          </a:xfrm>
          <a:prstGeom prst="rect">
            <a:avLst/>
          </a:prstGeom>
          <a:solidFill>
            <a:srgbClr val="E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148840"/>
            <a:ext cx="18288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9C2E6D"/>
                </a:solidFill>
                <a:latin typeface="Arial"/>
              </a:rPr>
              <a:t>4</a:t>
            </a:r>
          </a:p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Mix @ SNR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5B64"/>
                </a:solidFill>
                <a:latin typeface="Arial"/>
              </a:rPr>
              <a:t>-9…+3 dB, +inf
RMS-normalize 0.02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0888" y="2788920"/>
            <a:ext cx="182880" cy="18288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2011680"/>
            <a:ext cx="2011680" cy="1737360"/>
          </a:xfrm>
          <a:prstGeom prst="rect">
            <a:avLst/>
          </a:prstGeom>
          <a:solidFill>
            <a:srgbClr val="F3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148840"/>
            <a:ext cx="18288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9C2E6D"/>
                </a:solidFill>
                <a:latin typeface="Arial"/>
              </a:rPr>
              <a:t>5</a:t>
            </a:r>
          </a:p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Infer + score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5B64"/>
                </a:solidFill>
                <a:latin typeface="Arial"/>
              </a:rPr>
              <a:t>checkpoint prediction
exact / confusion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1097280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Anchor = the paper's rule: pick the target word first, then cut a slice centered on it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• Structural constraints: cue &amp; target = same speaker / different recordings; distractor = different speaker; speaker-disjoint; gender-balanced targets.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• Model validity check: 88.6% middle-word accuracy on clean speech (chance = 0.1%).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• Verified in every run: the +inf (no-distractor) point lands at ~88%.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554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0C8DE"/>
                </a:solidFill>
                <a:latin typeface="Arial"/>
              </a:rPr>
              <a:t>PART 1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Distractor sex  ·  a single competing talker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2E6D"/>
                </a:solidFill>
                <a:latin typeface="Arial"/>
              </a:rPr>
              <a:t>PART 1 · RESULT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Accuracy rises with SNR; different-sex is easier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2011680" cy="3810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2b_reproductio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29" y="1280160"/>
            <a:ext cx="6501541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463040"/>
            <a:ext cx="429768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9C2E6D"/>
                </a:solidFill>
                <a:latin typeface="Arial"/>
              </a:rPr>
              <a:t>What reproduces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Monotonic rise with SNR (both lines).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Different-sex &gt; same-sex at every masked SNR.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Gap = +9 to +18 points (3.4–6.8 sigma, error bars do not overlap).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Lines converge to ~88% at +inf — no distractor, sex no longer matters.</a:t>
            </a:r>
          </a:p>
          <a:p>
            <a:pPr algn="l">
              <a:spcAft>
                <a:spcPts val="1000"/>
              </a:spcAft>
            </a:pPr>
            <a:r>
              <a:rPr sz="1200" b="0" i="1">
                <a:solidFill>
                  <a:srgbClr val="5B5B64"/>
                </a:solidFill>
                <a:latin typeface="Arial"/>
              </a:rPr>
              <a:t>within-item, N=599/597, diotic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7A46"/>
                </a:solidFill>
                <a:latin typeface="Arial"/>
              </a:rPr>
              <a:t>= paper Fig 2a (same-sex line) + Fig 2b (both lines)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2E6D"/>
                </a:solidFill>
                <a:latin typeface="Arial"/>
              </a:rPr>
              <a:t>PART 1 · RESULT + PROBLEM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Confusion trend reproduces — but magnitude is too 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2011680" cy="3810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2e_reproductio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1249"/>
            <a:ext cx="6400800" cy="52213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417320"/>
            <a:ext cx="4480560" cy="5029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9C2E6D"/>
                </a:solidFill>
                <a:latin typeface="Arial"/>
              </a:rPr>
              <a:t>Confusion = model reports a distractor word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Direction correct: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5B5B64"/>
                </a:solidFill>
                <a:latin typeface="Arial"/>
              </a:rPr>
              <a:t>• lower SNR → more confusion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5B5B64"/>
                </a:solidFill>
                <a:latin typeface="Arial"/>
              </a:rPr>
              <a:t>• same-sex confuses more than different-sex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03030"/>
                </a:solidFill>
                <a:latin typeface="Arial"/>
              </a:rPr>
              <a:t>But 4–5x too low vs the paper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Root cause: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distractors were picked at random, so their middle word is usually NOT in the vocabulary — the model cannot output it even if it hears it.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7A46"/>
                </a:solidFill>
                <a:latin typeface="Arial"/>
              </a:rPr>
              <a:t>→ This is exactly what Part 2 fixes.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554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B9CCEA"/>
                </a:solidFill>
                <a:latin typeface="Arial"/>
              </a:rPr>
              <a:t>PART 2  ·  NEW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Number of distractors  ·  1 / 2 / 4 talkers + babble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2E6D"/>
                </a:solidFill>
                <a:latin typeface="Arial"/>
              </a:rPr>
              <a:t>PART 2 · THE QUESTION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Does talker NUMBER matter, at fixed masker energy?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2011680" cy="3810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Human hearing: more competing talkers → harder, even when total masker energy is held constant.</a:t>
            </a:r>
          </a:p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That effect is </a:t>
            </a:r>
            <a:r>
              <a:rPr sz="1600" b="1" i="0">
                <a:solidFill>
                  <a:srgbClr val="9C2E6D"/>
                </a:solidFill>
                <a:latin typeface="Arial"/>
              </a:rPr>
              <a:t>information masking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— being confused by other voices, not simply drowned out by energy.</a:t>
            </a:r>
          </a:p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So the design must hold total masker energy CONSTANT while varying only the number of voices.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Prediction under test: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if the feature-gain model captures information masking, accuracy should fall as talkers are added — at matched energy.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7A46"/>
                </a:solidFill>
                <a:latin typeface="Arial"/>
              </a:rPr>
              <a:t>N=1 of this experiment reduces exactly to Part 1's single-distractor case — a built-in check.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2E6D"/>
                </a:solidFill>
                <a:latin typeface="Arial"/>
              </a:rPr>
              <a:t>PART 2 · DESIGN (1/3)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Conditions &amp; nested sampling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2011680" cy="3810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9C2E6D"/>
                </a:solidFill>
                <a:latin typeface="Arial"/>
              </a:rPr>
              <a:t>Conditions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no-distractor · 1 · 2 · 4 · 8-talker babble · + ISSN control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SNR: -9…+3 dB for maskers; no-distractor is a single +inf point.</a:t>
            </a:r>
          </a:p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9C2E6D"/>
                </a:solidFill>
                <a:latin typeface="Arial"/>
              </a:rPr>
              <a:t>Within-item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SAME 600 targets are re-mixed in every condition × SNR → differences come from the condition, not the sample.</a:t>
            </a:r>
          </a:p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9C2E6D"/>
                </a:solidFill>
                <a:latin typeface="Arial"/>
              </a:rPr>
              <a:t>Nested sampling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Each target draws a fixed set d1…d8; two = d1,d2; four = d1–d4; babble = d1–d8.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→ 'two-talker' is literally 'one-talker plus one more person'. Only the count changes.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417320"/>
            <a:ext cx="5029200" cy="4846320"/>
          </a:xfrm>
          <a:prstGeom prst="rect">
            <a:avLst/>
          </a:prstGeom>
          <a:solidFill>
            <a:srgbClr val="F3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645920"/>
            <a:ext cx="4480560" cy="4389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3B73"/>
                </a:solidFill>
                <a:latin typeface="Arial"/>
              </a:rPr>
              <a:t>Anchored distractor pool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Every distractor recording also carries an in-vocab anchor word, sliced like the target.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• 1,200 recordings / 1,200 speakers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• male 600 / female 600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• 0 overlap with target speakers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• 534 distinct anchor words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7A46"/>
                </a:solidFill>
                <a:latin typeface="Arial"/>
              </a:rPr>
              <a:t>Now the model CAN output a distractor word → confusion becomes measurable.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2E6D"/>
                </a:solidFill>
                <a:latin typeface="Arial"/>
              </a:rPr>
              <a:t>PART 2 · DESIGN (2/3)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Target-to-total-masker SNR isolates the variable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2011680" cy="3810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Each distractor is RMS-aligned, then SUMMED into one total masker.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The whole masker is scaled so  10·log10(P_target / P_masker) = SNR;  mixture = target + masker.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→ 1 / 2 / 4-talker have </a:t>
            </a:r>
            <a:r>
              <a:rPr sz="1600" b="1" i="0">
                <a:solidFill>
                  <a:srgbClr val="9C2E6D"/>
                </a:solidFill>
                <a:latin typeface="Arial"/>
              </a:rPr>
              <a:t>identical total masker energy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at a given SNR.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So any accuracy difference between them CANNOT be loudness — it is 'more confusable voices'.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E7A46"/>
                </a:solidFill>
                <a:latin typeface="Arial"/>
              </a:rPr>
              <a:t>• Verified line-by-line against the authors' code (per-distractor align → sum → scale). Matches.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5B64"/>
                </a:solidFill>
                <a:latin typeface="Arial"/>
              </a:rPr>
              <a:t>• N=1 reduces exactly to the already-reproduced single-distractor case → built-in check.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2E6D"/>
                </a:solidFill>
                <a:latin typeface="Arial"/>
              </a:rPr>
              <a:t>PART 2 · DESIGN (3/3)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Two safeguards added before running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2011680" cy="3810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0" cy="4846320"/>
          </a:xfrm>
          <a:prstGeom prst="rect">
            <a:avLst/>
          </a:prstGeom>
          <a:solidFill>
            <a:srgbClr val="F3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B03030"/>
                </a:solidFill>
                <a:latin typeface="Arial"/>
              </a:rPr>
              <a:t>Gender balancing — a real confound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Random draws made P(≥1 same-sex distractor) climb with N: 50% → 99.6%.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Sex is a LARGE effect (Part 1) — it would masquerade as a talker-number effect.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E7A46"/>
                </a:solidFill>
                <a:latin typeface="Arial"/>
              </a:rPr>
              <a:t>Fix: alternate d1…d8 by sex → same-sex count exactly 0.5 / 1 / 2 / 4.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5B64"/>
                </a:solidFill>
                <a:latin typeface="Arial"/>
              </a:rPr>
              <a:t>Verified across all 600 targets: zero jitter, nesting intact, no self / duplicate speakers.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120640" cy="4846320"/>
          </a:xfrm>
          <a:prstGeom prst="rect">
            <a:avLst/>
          </a:prstGeom>
          <a:solidFill>
            <a:srgbClr val="E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4389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3B73"/>
                </a:solidFill>
                <a:latin typeface="Arial"/>
              </a:rPr>
              <a:t>ISSN control condition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Spectrally-matched STATIONARY noise — gapless and contentless.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Separates information masking from 'glimpsing' into gaps between words.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If glimpsing drove the effect, speech (which has gaps) would be EASIER than gapless noise.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5B64"/>
                </a:solidFill>
                <a:latin typeface="Arial"/>
              </a:rPr>
              <a:t>Also: 1-talker split into one_same / one_diff → free Part-1 (Fig 2a/2b) anchors.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2E6D"/>
                </a:solidFill>
                <a:latin typeface="Arial"/>
              </a:rPr>
              <a:t>PART 2 · RESULT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Number of distractors — paper-matched colors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2011680" cy="3810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multi_talker_repro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826" y="1234440"/>
            <a:ext cx="9079867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257800"/>
            <a:ext cx="109728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Accuracy (left):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monotonic in SNR; one &gt; two &gt; four ≈ babble; +inf ≈ 88%.   </a:t>
            </a:r>
            <a:r>
              <a:rPr sz="1500" b="1" i="0">
                <a:solidFill>
                  <a:srgbClr val="1A1A1A"/>
                </a:solidFill>
                <a:latin typeface="Arial"/>
              </a:rPr>
              <a:t>Confusion (right):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highest for a single same-sex talker, falls as talkers are added.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B5B64"/>
                </a:solidFill>
                <a:latin typeface="Arial"/>
              </a:rPr>
              <a:t>N = 600, within-item · colors match paper Fig 2 (pink → purple)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2E6D"/>
                </a:solidFill>
                <a:latin typeface="Arial"/>
              </a:rPr>
              <a:t>PART 2 · RESULT 2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Speech maskers beat matched noise → information masking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2011680" cy="3810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issn_information_mas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1899"/>
            <a:ext cx="6583680" cy="49400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463040"/>
            <a:ext cx="429768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9C2E6D"/>
                </a:solidFill>
                <a:latin typeface="Arial"/>
              </a:rPr>
              <a:t>ISSN = spectrally-matched stationary noise (gapless, no words)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4-talker &amp; babble are HARDER than ISSN at every SNR.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Yet ISSN is gapless and speech has gaps — if 'glimpsing' drove it, speech would be EASIER. It isn't.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→ positive evidence for information masking, not just gap-listening.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1-talker crosses ISSN (easier at low SNR): a single sparse voice leaves gaps to glimpse through.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2E6D"/>
                </a:solidFill>
                <a:latin typeface="Arial"/>
              </a:rPr>
              <a:t>PART 2 · RESULT 3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The anchored pool fixed the confusion underestimate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2011680" cy="3810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383280" cy="2103120"/>
          </a:xfrm>
          <a:prstGeom prst="rect">
            <a:avLst/>
          </a:prstGeom>
          <a:solidFill>
            <a:srgbClr val="F3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3017520" cy="1737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5B5B64"/>
                </a:solidFill>
                <a:latin typeface="Arial"/>
              </a:rPr>
              <a:t>Before (random)</a:t>
            </a:r>
          </a:p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B03030"/>
                </a:solidFill>
                <a:latin typeface="Arial"/>
              </a:rPr>
              <a:t>7.2%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B5B64"/>
                </a:solidFill>
                <a:latin typeface="Arial"/>
              </a:rPr>
              <a:t>same-sex confusion @ -9 dB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2286000"/>
            <a:ext cx="457200" cy="45720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1463040"/>
            <a:ext cx="3383280" cy="2103120"/>
          </a:xfrm>
          <a:prstGeom prst="rect">
            <a:avLst/>
          </a:prstGeom>
          <a:solidFill>
            <a:srgbClr val="E6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017520" cy="1737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5B5B64"/>
                </a:solidFill>
                <a:latin typeface="Arial"/>
              </a:rPr>
              <a:t>After (anchored)</a:t>
            </a:r>
          </a:p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1E7A46"/>
                </a:solidFill>
                <a:latin typeface="Arial"/>
              </a:rPr>
              <a:t>28.0%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B5B64"/>
                </a:solidFill>
                <a:latin typeface="Arial"/>
              </a:rPr>
              <a:t>same-sex confusion @ -9 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463040"/>
            <a:ext cx="3200400" cy="2103120"/>
          </a:xfrm>
          <a:prstGeom prst="rect">
            <a:avLst/>
          </a:prstGeom>
          <a:solidFill>
            <a:srgbClr val="F3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45920"/>
            <a:ext cx="2834640" cy="1737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5B5B64"/>
                </a:solidFill>
                <a:latin typeface="Arial"/>
              </a:rPr>
              <a:t>Paper</a:t>
            </a:r>
          </a:p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1A1A1A"/>
                </a:solidFill>
                <a:latin typeface="Arial"/>
              </a:rPr>
              <a:t>~41%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B5B64"/>
                </a:solidFill>
                <a:latin typeface="Arial"/>
              </a:rPr>
              <a:t>target for this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097280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From 5.7x too low to 1.5x too low — the root-cause diagnosis was correct.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9C2E6D"/>
                </a:solidFill>
                <a:latin typeface="Arial"/>
              </a:rPr>
              <a:t>An honest reversal: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confusion is HIGHEST for a single same-sex talker and DROPS as talkers are added — opposite to our pre-registered guess, but consistent with the paper. With many voices the masker becomes noise-like, so the model emits garbage rather than a specific distractor word.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2E6D"/>
                </a:solidFill>
                <a:latin typeface="Arial"/>
              </a:rPr>
              <a:t>VALIDATION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Self-consistency checks — why we trust the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2011680" cy="3810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• no-distractor = 88.0%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— matches the +inf anchor from Part 1 exactly.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• one_same / one_diff track the Part-1 single-distractor curves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2–6 points lower (expected: a different, anchored distractor pool).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• N=1 reduces to the single-distractor case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that was already reproduced — direction and shape hold.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• Gender balancing verified across all 600 targets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exact same-sex counts, nesting intact, no self/duplicate speakers.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7A46"/>
                </a:solidFill>
                <a:latin typeface="Arial"/>
              </a:rPr>
              <a:t>→ The GPU pipeline is trustworthy: the new results rest on checks that all passed.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2E6D"/>
                </a:solidFill>
                <a:latin typeface="Arial"/>
              </a:rPr>
              <a:t>SUMMARY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What reproduced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2011680" cy="3810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solidFill>
            <a:srgbClr val="F3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563624"/>
            <a:ext cx="310896" cy="310896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5120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Model validity (clean)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48463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88.6% vs 0.1% chance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67128"/>
            <a:ext cx="108813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313432"/>
            <a:ext cx="310896" cy="310896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167128"/>
            <a:ext cx="5120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Accuracy vs SNR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67128"/>
            <a:ext cx="48463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monotonic rise, both experiments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16936"/>
            <a:ext cx="10881360" cy="640080"/>
          </a:xfrm>
          <a:prstGeom prst="rect">
            <a:avLst/>
          </a:prstGeom>
          <a:solidFill>
            <a:srgbClr val="F3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063240"/>
            <a:ext cx="310896" cy="310896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916936"/>
            <a:ext cx="5120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Different-sex &gt; same-sex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16936"/>
            <a:ext cx="48463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+9 to +18 pts, 3.4–6.8 sigma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66744"/>
            <a:ext cx="108813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813048"/>
            <a:ext cx="310896" cy="310896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666744"/>
            <a:ext cx="5120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More talkers → harder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66744"/>
            <a:ext cx="48463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one &gt; two &gt; four ≈ babble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16552"/>
            <a:ext cx="10881360" cy="640080"/>
          </a:xfrm>
          <a:prstGeom prst="rect">
            <a:avLst/>
          </a:prstGeom>
          <a:solidFill>
            <a:srgbClr val="F3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562856"/>
            <a:ext cx="310896" cy="310896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416552"/>
            <a:ext cx="5120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Confusion direction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16552"/>
            <a:ext cx="48463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lower SNR &amp; same-sex → more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166360"/>
            <a:ext cx="108813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5312664"/>
            <a:ext cx="310896" cy="310896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166360"/>
            <a:ext cx="51206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Confusion magnitude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166360"/>
            <a:ext cx="48463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fixed 7.2% → 28% (paper ~41%)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2E6D"/>
                </a:solidFill>
                <a:latin typeface="Arial"/>
              </a:rPr>
              <a:t>LIMITATIONS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Honest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2011680" cy="3810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B03030"/>
                </a:solidFill>
                <a:latin typeface="Arial"/>
              </a:rPr>
              <a:t>Corpus mismatch (CV ≠ SWC) — the biggest one:</a:t>
            </a:r>
          </a:p>
          <a:p>
            <a:pPr algn="l" lvl="1">
              <a:spcAft>
                <a:spcPts val="5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• our stimuli are Common Voice; the paper's Experiment 1 uses Spoken Wikipedia (SWC).</a:t>
            </a:r>
          </a:p>
          <a:p>
            <a:pPr algn="l" lvl="1">
              <a:spcAft>
                <a:spcPts val="5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• different pause habits → different silence ratio → shifts effective vs nominal SNR (x-axis calibration).</a:t>
            </a:r>
          </a:p>
          <a:p>
            <a:pPr algn="l" lvl="1">
              <a:spcAft>
                <a:spcPts val="5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• CV is also the model's TRAINING corpus → we test in-domain; the paper tests cross-corpus generalization.</a:t>
            </a:r>
          </a:p>
          <a:p>
            <a:pPr algn="l" lvl="1">
              <a:spcAft>
                <a:spcPts val="500"/>
              </a:spcAft>
            </a:pPr>
            <a:r>
              <a:rPr sz="1400" b="0" i="0">
                <a:solidFill>
                  <a:srgbClr val="5B5B64"/>
                </a:solidFill>
                <a:latin typeface="Arial"/>
              </a:rPr>
              <a:t>• → within-panel talker-number trend is unaffected; absolute magnitudes / direct Fig 2e comparison are.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Confusion vs talker number came out opposite to our stated criterion (reported, not hidden).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babble = 8 talkers summed online (paper uses pre-made files) — a deliberate, nesting-preserving choice.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Trend reproduction, not exact values (by design); diotic only — no spatial / noise / harmonicity yet.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2E6D"/>
                </a:solidFill>
                <a:latin typeface="Arial"/>
              </a:rPr>
              <a:t>OUTLOOK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Arial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2011680" cy="38100"/>
          </a:xfrm>
          <a:prstGeom prst="rect">
            <a:avLst/>
          </a:prstGeom>
          <a:solidFill>
            <a:srgbClr val="9C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Quantify the corpus effect: measure silence ratio + effective SNR on our CV stimuli — turns 'how much of the gap is x-axis miscalibration' into a number.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Consider rebuilding the eval set from Spoken Wikipedia (paper's filtering) for a faithful magnitude comparison.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Statistics: mixed-effects model of accuracy with effective SNR as a covariate → isolate residual information masking.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Report the confusion-direction result as a genuine model prediction to check against human data.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Longer term: train the model ourselves and test whether the same effects emerge.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3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828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1A1A1A"/>
                </a:solidFill>
                <a:latin typeface="Arial"/>
              </a:rPr>
              <a:t>One frozen gain mechanism reproduces both experiments' trends —</a:t>
            </a:r>
          </a:p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9C2E6D"/>
                </a:solidFill>
                <a:latin typeface="Arial"/>
              </a:rPr>
              <a:t>and fixing the evaluation set recovered the confusion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5B5B64"/>
                </a:solidFill>
                <a:latin typeface="Arial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