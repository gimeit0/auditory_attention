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[0:00–0:35] Today I will present a qualitative replication of the selective-listening results from Griffith, Hess and McDermott. I use one of the authors' pretrained feature-gain checkpoints, keep all model parameters frozen, and test it on a custom Common Voice evaluation set. I will first show the single-distractor validation, then focus on the new question: what happens when the number of competing talkers increases? The goal is to reproduce behavioral directions, not exact numerical values.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[0:35–1:35] The cocktail-party problem is not simply speech recognition in noise. The listener must use a cue to select one voice from a mixture. The feature-gain model turns the cue into multiplicative gains that emphasize features associated with the target talker. Each trial therefore contains a cue, a target-plus-masker mixture, and an 800-way word report. My question is whether the same frozen mechanism reproduces both successful selection and characteristic errors on speech materials that I constructed independently from the published evaluation 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[1:35–2:45] This is the shared stimulus pipeline. Forced alignment gives word boundaries. I first choose an in-vocabulary anchor word, then extract a 2.5-second window centered on that word; the model's cochlear front end keeps the middle two seconds. All mixtures are diotic and RMS-normalized to 0.02. For the final analysis, I use the paper-compatible scoring rule: a prediction is correct if it matches any in-vocabulary word in the target excerpt. Clean-speech accuracy is about 88 percent, establishing that the checkpoint and preprocessing are functioning.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[2:45–2:55] Before the new multi-talker experiment, I briefly show the single-distractor validation. This provides an anchor for the new results and checks whether the model responds to SNR and talker similarity in the expected direction.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[2:55–4:00] With one competing talker, accuracy increases monotonically as target-to-masker SNR improves. A different-sex distractor is consistently easier than a same-sex distractor, with a gap of roughly nine to eighteen percentage points. At infinite SNR the distractor is removed, so both curves converge near 88 percent. These are the expected Figure 2a and 2b directions. I interpret this as successful qualitative validation of the inference pipeline, not a numerical reproduction, because my speech corpus and sampling procedure differ from the paper.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[4:00–4:55] The first confusion analysis also reproduced the direction: confusions increase at low SNR and are more frequent for same-sex distractors. However, the magnitude was four to five times below the paper. I traced this to stimulus construction. Random distractors often did not contain an output-vocabulary word near the center, so even a true attentional swap could not be counted. This motivated a redesigned distractor pool in which every masker contains a known in-vocabulary anchor word. The new multi-talker experiment therefore also tests whether that diagnosis was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[4:55–5:05] Part two is the new result: the effect of adding one, two, four, and eight competing talkers while keeping the total masker energy controlled.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[5:05–6:00] The scientific question is whether talker number matters beyond overall masker level. If total masker energy is fixed, poorer performance with more voices cannot be explained by the masker simply becoming louder. It is consistent with information masking: more speech sources create more target-like, potentially confusable structure. The prediction is therefore lower target-word accuracy as talkers are added. The single-talker condition uses the same task and mixing logic as Part one, so its direction provides a built-in check.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[6:00–7:25] The design is within-item: the same 600 target trials are evaluated in every condition and SNR. Distractors are nested, so the two-talker condition adds a source to the one-talker set, and the four-talker condition adds sources to the two-talker set. I also built an anchored pool of 1,200 recordings from 1,200 speakers, balanced by sex and disjoint from the target speakers. Because each masker now contains a known vocabulary anchor, distractor-word confusions are measurable rather than structurally suppressed by the evaluation set.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[7:25–8:35] The key acoustic control is target-to-total-masker SNR. Individual distractors are level-aligned and summed first. The summed masker is then scaled to the requested SNR relative to the target. Therefore one, two, and four talkers have the same total masker energy at a given x-axis value. This matches the central logic of the paper's two- and four-talker construction. The eight-talker babble is less exact: I sum eight talkers online to preserve nesting, whereas the paper sampled pre-made babble recordings.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[8:35–9:40] Two safeguards address plausible confounds. First, talker sex strongly affects performance, so the number of same-sex distractors must not accidentally increase with talker count. The draw was balanced to keep the same-sex proportion controlled. Second, I added ISSN, a stationary noise shaped to match the target spectrum. ISSN is gapless and contains no linguistic content. Comparing speech maskers with ISSN helps separate a speech-specific information-masking interpretation from the simpler idea that listeners or models only exploit temporal gaps between words.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[9:40–11:25] This is the main result. The one-talker curve now correctly pools same- and different-sex trials, as in the paper's number-of-distractors analysis. All accuracy curves rise monotonically with SNR. At every tested SNR, pooled one-talker accuracy is above two-talker accuracy, and two talkers are above four. Four-talker and eight-talker babble are close, particularly at high SNR, suggesting saturation. The right panel shows a different pattern: reports of a specific distractor word decrease as more voices are added. With many voices, errors become less attributable to one identifiable masker word and more noise-like. Confidence intervals are clustered by target speaker.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[11:25–12:40] The ISSN comparison provides a complementary interpretation. Four-talker speech and eight-talker babble are harder than matched stationary noise at every tested SNR. This is notable because stationary noise is gapless, while speech contains pauses that should support glimpsing. The residual disadvantage for speech is therefore consistent with information masking beyond temporal gaps. I use the phrase 'consistent with' deliberately: this comparison supports the interpretation, but it does not prove a unique mechanism because corpus and masker construction still differ from the original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[12:40–13:35] The anchored distractor pool also fixed most of the confusion underestimate. In the same-sex, minus-nine-decibel condition, confusion increased from 7.2 percent with random distractors to 28 percent with anchored distractors, much closer to the approximately 41 percent visible in the paper. The direction across talker number reversed my initial expectation: specific-word confusions are highest for one same-sex talker and decrease with more talkers. This is not hidden; it is consistent with the idea that multi-talker maskers produce diffuse errors rather than clean swaps to one competing word.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[13:35–14:25] Several internal checks passed. The no-distractor point exactly returns to 88 percent. Same- and different-sex one-talker curves track the earlier experiment, although the new anchored pool shifts the values slightly. The qualitative shape is stable, and gender balancing and speaker exclusions were checked across all targets. These checks make the pattern credible. A remaining reproducibility task is to copy the exact Windows GPU run script and environment metadata back into the local project, because the current local multi-talker script is an older version.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[14:25–15:10] In summary, the single checkpoint reproduces six qualitative signatures: high clean accuracy, monotonic SNR effects, the different-sex advantage, decreasing accuracy with more talkers, the expected SNR and sex dependence of confusions, and recovery of much of the confusion magnitude after fixing the distractor pool. The strongest statement supported by these results is a qualitative trend replication on a custom evaluation set. It is not yet a stimulus-identical or ensemble-level reproduction of the published model panel.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[15:10–16:30] The main limitation is evaluation independence. The paper used held-out Spoken Wikipedia, whereas my target, cue and masker files come from Common Voice, the model's training corpus. Many unique files belong to the official training split, so I cannot claim cross-corpus generalization or guaranteed absence of waveform overlap. The paper also averaged ten feature-gain architectures, while I use one checkpoint. Finally, my babble is generated online rather than sampled from the paper's pre-made files. These limitations affect absolute values and the strength of the generalization claim, although the within-panel trend remains informative.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[16:30–17:25] The immediate next step is reproducibility: archive the exact GPU script, environment, seed and hashes. The scientific next step is to rebuild the evaluation set from held-out Spoken Wikipedia and match the paper's target pairing, talker-sex composition and pre-made babble. If checkpoints are available, running all ten feature-gain architectures would reproduce the published uncertainty measure. I would then fit a mixed-effects model or use speaker-cluster bootstrap and compare the condition means directly with the authors' OSF results using correlation and RMSE.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[17:25–17:45] The take-home message is that one frozen feature-gain checkpoint reproduces the main behavioral directions for SNR, distractor sex and talker number on my custom evaluation set. The next stage is to turn this successful qualitative result into a paper-faithful, fully reproducible replication. Thank you, and I welcome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91695" cy="228600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468880"/>
            <a:ext cx="10515600" cy="1920240"/>
          </a:xfrm>
          <a:prstGeom prst="rect">
            <a:avLst/>
          </a:prstGeom>
          <a:noFill/>
        </p:spPr>
        <p:txBody>
          <a:bodyPr wrap="square" anchor="ctr" lIns="45720" rIns="45720" tIns="18288" bIns="18288">
            <a:spAutoFit/>
          </a:bodyPr>
          <a:lstStyle/>
          <a:p>
            <a:pPr algn="l">
              <a:spcAft>
                <a:spcPts val="600"/>
              </a:spcAft>
            </a:pPr>
            <a:r>
              <a:rPr sz="3400" b="1" i="0">
                <a:solidFill>
                  <a:srgbClr val="1A1A1A"/>
                </a:solidFill>
                <a:latin typeface="Arial"/>
              </a:rPr>
              <a:t>Reproducing Human Selective-Listening Trends</a:t>
            </a:r>
          </a:p>
          <a:p>
            <a:pPr algn="l">
              <a:spcAft>
                <a:spcPts val="1200"/>
              </a:spcAft>
            </a:pPr>
            <a:r>
              <a:rPr sz="3400" b="1" i="0">
                <a:solidFill>
                  <a:srgbClr val="1A1A1A"/>
                </a:solidFill>
                <a:latin typeface="Arial"/>
              </a:rPr>
              <a:t>with a Pretrained Feature-Gain Model</a:t>
            </a:r>
          </a:p>
          <a:p>
            <a:pPr algn="l">
              <a:spcAft>
                <a:spcPts val="600"/>
              </a:spcAft>
            </a:pPr>
            <a:r>
              <a:rPr sz="1800" b="1" i="0">
                <a:solidFill>
                  <a:srgbClr val="9C2E6D"/>
                </a:solidFill>
                <a:latin typeface="Arial"/>
              </a:rPr>
              <a:t>A qualitative replication on a custom Common Voice evaluation set</a:t>
            </a:r>
          </a:p>
        </p:txBody>
      </p:sp>
      <p:sp>
        <p:nvSpPr>
          <p:cNvPr id="5" name="TextBox 4"/>
          <p:cNvSpPr txBox="1"/>
          <p:nvPr/>
        </p:nvSpPr>
        <p:spPr>
          <a:xfrm>
            <a:off x="822960" y="4846320"/>
            <a:ext cx="10515600" cy="1097280"/>
          </a:xfrm>
          <a:prstGeom prst="rect">
            <a:avLst/>
          </a:prstGeom>
          <a:noFill/>
        </p:spPr>
        <p:txBody>
          <a:bodyPr wrap="square" anchor="t" lIns="45720" rIns="45720" tIns="18288" bIns="18288">
            <a:spAutoFit/>
          </a:bodyPr>
          <a:lstStyle/>
          <a:p>
            <a:pPr algn="l">
              <a:spcAft>
                <a:spcPts val="300"/>
              </a:spcAft>
            </a:pPr>
            <a:r>
              <a:rPr sz="1400" b="0" i="0">
                <a:solidFill>
                  <a:srgbClr val="5B5B64"/>
                </a:solidFill>
                <a:latin typeface="Arial"/>
              </a:rPr>
              <a:t>Griffith, Hess &amp; McDermott (2026, Nature Human Behaviour)</a:t>
            </a:r>
          </a:p>
          <a:p>
            <a:pPr algn="l">
              <a:spcAft>
                <a:spcPts val="600"/>
              </a:spcAft>
            </a:pPr>
            <a:r>
              <a:rPr sz="1300" b="0" i="0">
                <a:solidFill>
                  <a:srgbClr val="5B5B64"/>
                </a:solidFill>
                <a:latin typeface="Arial"/>
              </a:rPr>
              <a:t>Group meeting · Single pretrained checkpoint · 15–20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MOTIVATION</a:t>
            </a:r>
          </a:p>
          <a:p>
            <a:pPr algn="l">
              <a:spcAft>
                <a:spcPts val="600"/>
              </a:spcAft>
            </a:pPr>
            <a:r>
              <a:rPr sz="2800" b="1" i="0">
                <a:solidFill>
                  <a:srgbClr val="1A1A1A"/>
                </a:solidFill>
                <a:latin typeface="Arial"/>
              </a:rPr>
              <a:t>Can a gain-based model explain selective listening?</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6400800" cy="4846320"/>
          </a:xfrm>
          <a:prstGeom prst="rect">
            <a:avLst/>
          </a:prstGeom>
          <a:noFill/>
        </p:spPr>
        <p:txBody>
          <a:bodyPr wrap="square" anchor="t" lIns="45720" rIns="45720" tIns="18288" bIns="18288">
            <a:spAutoFit/>
          </a:bodyPr>
          <a:lstStyle/>
          <a:p>
            <a:pPr algn="l">
              <a:spcAft>
                <a:spcPts val="600"/>
              </a:spcAft>
            </a:pPr>
            <a:r>
              <a:rPr sz="1800" b="1" i="0">
                <a:solidFill>
                  <a:srgbClr val="9C2E6D"/>
                </a:solidFill>
                <a:latin typeface="Arial"/>
              </a:rPr>
              <a:t>The human problem</a:t>
            </a:r>
          </a:p>
          <a:p>
            <a:pPr algn="l">
              <a:spcAft>
                <a:spcPts val="1000"/>
              </a:spcAft>
            </a:pPr>
            <a:r>
              <a:rPr sz="1600" b="0" i="0">
                <a:solidFill>
                  <a:srgbClr val="1A1A1A"/>
                </a:solidFill>
                <a:latin typeface="Arial"/>
              </a:rPr>
              <a:t>At a noisy party we can follow </a:t>
            </a:r>
            <a:r>
              <a:rPr sz="1600" b="1" i="0">
                <a:solidFill>
                  <a:srgbClr val="1A1A1A"/>
                </a:solidFill>
                <a:latin typeface="Arial"/>
              </a:rPr>
              <a:t>one voice</a:t>
            </a:r>
            <a:r>
              <a:rPr sz="1600" b="0" i="0">
                <a:solidFill>
                  <a:srgbClr val="1A1A1A"/>
                </a:solidFill>
                <a:latin typeface="Arial"/>
              </a:rPr>
              <a:t> and ignore others.</a:t>
            </a:r>
          </a:p>
          <a:p>
            <a:pPr algn="l">
              <a:spcAft>
                <a:spcPts val="600"/>
              </a:spcAft>
            </a:pPr>
            <a:r>
              <a:rPr sz="1800" b="1" i="0">
                <a:solidFill>
                  <a:srgbClr val="9C2E6D"/>
                </a:solidFill>
                <a:latin typeface="Arial"/>
              </a:rPr>
              <a:t>The model (Griffith et al. 2026)</a:t>
            </a:r>
          </a:p>
          <a:p>
            <a:pPr algn="l">
              <a:spcAft>
                <a:spcPts val="1000"/>
              </a:spcAft>
            </a:pPr>
            <a:r>
              <a:rPr sz="1600" b="0" i="0">
                <a:solidFill>
                  <a:srgbClr val="1A1A1A"/>
                </a:solidFill>
                <a:latin typeface="Arial"/>
              </a:rPr>
              <a:t>Applies a learned </a:t>
            </a:r>
            <a:r>
              <a:rPr sz="1600" b="1" i="0">
                <a:solidFill>
                  <a:srgbClr val="1A1A1A"/>
                </a:solidFill>
                <a:latin typeface="Arial"/>
              </a:rPr>
              <a:t>feature gain</a:t>
            </a:r>
            <a:r>
              <a:rPr sz="1600" b="0" i="0">
                <a:solidFill>
                  <a:srgbClr val="1A1A1A"/>
                </a:solidFill>
                <a:latin typeface="Arial"/>
              </a:rPr>
              <a:t> that boosts features matching a cue voice and suppresses the rest.</a:t>
            </a:r>
          </a:p>
          <a:p>
            <a:pPr algn="l">
              <a:spcAft>
                <a:spcPts val="600"/>
              </a:spcAft>
            </a:pPr>
            <a:r>
              <a:rPr sz="1800" b="1" i="0">
                <a:solidFill>
                  <a:srgbClr val="9C2E6D"/>
                </a:solidFill>
                <a:latin typeface="Arial"/>
              </a:rPr>
              <a:t>The claim</a:t>
            </a:r>
          </a:p>
          <a:p>
            <a:pPr algn="l">
              <a:spcAft>
                <a:spcPts val="1000"/>
              </a:spcAft>
            </a:pPr>
            <a:r>
              <a:rPr sz="1600" b="0" i="0">
                <a:solidFill>
                  <a:srgbClr val="1A1A1A"/>
                </a:solidFill>
                <a:latin typeface="Arial"/>
              </a:rPr>
              <a:t>One optimized gain mechanism predicts BOTH successes and failures of human listening across many conditions.</a:t>
            </a:r>
          </a:p>
          <a:p>
            <a:pPr algn="l">
              <a:spcAft>
                <a:spcPts val="600"/>
              </a:spcAft>
            </a:pPr>
            <a:r>
              <a:rPr sz="1800" b="1" i="0">
                <a:solidFill>
                  <a:srgbClr val="9C2E6D"/>
                </a:solidFill>
                <a:latin typeface="Arial"/>
              </a:rPr>
              <a:t>Our task</a:t>
            </a:r>
          </a:p>
          <a:p>
            <a:pPr algn="l">
              <a:spcAft>
                <a:spcPts val="600"/>
              </a:spcAft>
            </a:pPr>
            <a:r>
              <a:rPr sz="1600" b="0" i="0">
                <a:solidFill>
                  <a:srgbClr val="1A1A1A"/>
                </a:solidFill>
                <a:latin typeface="Arial"/>
              </a:rPr>
              <a:t>Feed the </a:t>
            </a:r>
            <a:r>
              <a:rPr sz="1600" b="1" i="0">
                <a:solidFill>
                  <a:srgbClr val="1A1A1A"/>
                </a:solidFill>
                <a:latin typeface="Arial"/>
              </a:rPr>
              <a:t>authors' pretrained checkpoint</a:t>
            </a:r>
            <a:r>
              <a:rPr sz="1600" b="0" i="0">
                <a:solidFill>
                  <a:srgbClr val="1A1A1A"/>
                </a:solidFill>
                <a:latin typeface="Arial"/>
              </a:rPr>
              <a:t> our own Common Voice test set and check whether the </a:t>
            </a:r>
            <a:r>
              <a:rPr sz="1600" b="1" i="0">
                <a:solidFill>
                  <a:srgbClr val="1A1A1A"/>
                </a:solidFill>
                <a:latin typeface="Arial"/>
              </a:rPr>
              <a:t>behavioral trends</a:t>
            </a:r>
            <a:r>
              <a:rPr sz="1600" b="0" i="0">
                <a:solidFill>
                  <a:srgbClr val="1A1A1A"/>
                </a:solidFill>
                <a:latin typeface="Arial"/>
              </a:rPr>
              <a:t> reproduce.</a:t>
            </a:r>
          </a:p>
        </p:txBody>
      </p:sp>
      <p:sp>
        <p:nvSpPr>
          <p:cNvPr id="6" name="Rectangle 5"/>
          <p:cNvSpPr/>
          <p:nvPr/>
        </p:nvSpPr>
        <p:spPr>
          <a:xfrm>
            <a:off x="7315200" y="1463040"/>
            <a:ext cx="4206240" cy="420624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0" y="1691640"/>
            <a:ext cx="3657600" cy="3749039"/>
          </a:xfrm>
          <a:prstGeom prst="rect">
            <a:avLst/>
          </a:prstGeom>
          <a:noFill/>
        </p:spPr>
        <p:txBody>
          <a:bodyPr wrap="square" anchor="t" lIns="45720" rIns="45720" tIns="18288" bIns="18288">
            <a:spAutoFit/>
          </a:bodyPr>
          <a:lstStyle/>
          <a:p>
            <a:pPr algn="l">
              <a:spcAft>
                <a:spcPts val="800"/>
              </a:spcAft>
            </a:pPr>
            <a:r>
              <a:rPr sz="1600" b="1" i="0">
                <a:solidFill>
                  <a:srgbClr val="9C2E6D"/>
                </a:solidFill>
                <a:latin typeface="Arial"/>
              </a:rPr>
              <a:t>The task, per trial</a:t>
            </a:r>
          </a:p>
          <a:p>
            <a:pPr algn="l">
              <a:spcAft>
                <a:spcPts val="800"/>
              </a:spcAft>
            </a:pPr>
            <a:r>
              <a:rPr sz="1400" b="1" i="0">
                <a:solidFill>
                  <a:srgbClr val="1A1A1A"/>
                </a:solidFill>
                <a:latin typeface="Arial"/>
              </a:rPr>
              <a:t>1.  Cue</a:t>
            </a:r>
            <a:r>
              <a:rPr sz="1400" b="0" i="0">
                <a:solidFill>
                  <a:srgbClr val="5B5B64"/>
                </a:solidFill>
                <a:latin typeface="Arial"/>
              </a:rPr>
              <a:t>  — a sample of the target voice</a:t>
            </a:r>
          </a:p>
          <a:p>
            <a:pPr algn="l">
              <a:spcAft>
                <a:spcPts val="800"/>
              </a:spcAft>
            </a:pPr>
            <a:r>
              <a:rPr sz="1400" b="1" i="0">
                <a:solidFill>
                  <a:srgbClr val="1A1A1A"/>
                </a:solidFill>
                <a:latin typeface="Arial"/>
              </a:rPr>
              <a:t>2.  Mixture</a:t>
            </a:r>
            <a:r>
              <a:rPr sz="1400" b="0" i="0">
                <a:solidFill>
                  <a:srgbClr val="5B5B64"/>
                </a:solidFill>
                <a:latin typeface="Arial"/>
              </a:rPr>
              <a:t>  — target + distractor(s)</a:t>
            </a:r>
          </a:p>
          <a:p>
            <a:pPr algn="l">
              <a:spcAft>
                <a:spcPts val="800"/>
              </a:spcAft>
            </a:pPr>
            <a:r>
              <a:rPr sz="1400" b="1" i="0">
                <a:solidFill>
                  <a:srgbClr val="1A1A1A"/>
                </a:solidFill>
                <a:latin typeface="Arial"/>
              </a:rPr>
              <a:t>3.  Report</a:t>
            </a:r>
            <a:r>
              <a:rPr sz="1400" b="0" i="0">
                <a:solidFill>
                  <a:srgbClr val="5B5B64"/>
                </a:solidFill>
                <a:latin typeface="Arial"/>
              </a:rPr>
              <a:t>  the target's middle word</a:t>
            </a:r>
          </a:p>
          <a:p>
            <a:pPr algn="l">
              <a:spcAft>
                <a:spcPts val="1400"/>
              </a:spcAft>
            </a:pPr>
            <a:r>
              <a:rPr sz="1300" b="0" i="1">
                <a:solidFill>
                  <a:srgbClr val="5B5B64"/>
                </a:solidFill>
                <a:latin typeface="Arial"/>
              </a:rPr>
              <a:t>  (from an 800-word vocabulary)</a:t>
            </a:r>
          </a:p>
          <a:p>
            <a:pPr algn="l">
              <a:spcAft>
                <a:spcPts val="600"/>
              </a:spcAft>
            </a:pPr>
            <a:r>
              <a:rPr sz="1400" b="1" i="0">
                <a:solidFill>
                  <a:srgbClr val="1E7A46"/>
                </a:solidFill>
                <a:latin typeface="Arial"/>
              </a:rPr>
              <a:t>Parameters are frozen: this tests behavior at inference, not retraining.</a:t>
            </a:r>
          </a:p>
        </p:txBody>
      </p:sp>
      <p:sp>
        <p:nvSpPr>
          <p:cNvPr id="8" name="TextBox 7"/>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2/19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METHOD</a:t>
            </a:r>
          </a:p>
          <a:p>
            <a:pPr algn="l">
              <a:spcAft>
                <a:spcPts val="600"/>
              </a:spcAft>
            </a:pPr>
            <a:r>
              <a:rPr sz="2800" b="1" i="0">
                <a:solidFill>
                  <a:srgbClr val="1A1A1A"/>
                </a:solidFill>
                <a:latin typeface="Arial"/>
              </a:rPr>
              <a:t>Building the evaluation set — one shared pipeline</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011680"/>
            <a:ext cx="2011680" cy="173736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1828800" cy="1463040"/>
          </a:xfrm>
          <a:prstGeom prst="rect">
            <a:avLst/>
          </a:prstGeom>
          <a:noFill/>
        </p:spPr>
        <p:txBody>
          <a:bodyPr wrap="square" anchor="ctr" lIns="45720" rIns="45720" tIns="18288" bIns="18288">
            <a:spAutoFit/>
          </a:bodyPr>
          <a:lstStyle/>
          <a:p>
            <a:pPr algn="ctr">
              <a:spcAft>
                <a:spcPts val="200"/>
              </a:spcAft>
            </a:pPr>
            <a:r>
              <a:rPr sz="2000" b="1" i="0">
                <a:solidFill>
                  <a:srgbClr val="9C2E6D"/>
                </a:solidFill>
                <a:latin typeface="Arial"/>
              </a:rPr>
              <a:t>1</a:t>
            </a:r>
          </a:p>
          <a:p>
            <a:pPr algn="ctr">
              <a:spcAft>
                <a:spcPts val="400"/>
              </a:spcAft>
            </a:pPr>
            <a:r>
              <a:rPr sz="1400" b="1" i="0">
                <a:solidFill>
                  <a:srgbClr val="1A1A1A"/>
                </a:solidFill>
                <a:latin typeface="Arial"/>
              </a:rPr>
              <a:t>Force-align</a:t>
            </a:r>
          </a:p>
          <a:p>
            <a:pPr algn="ctr">
              <a:spcAft>
                <a:spcPts val="600"/>
              </a:spcAft>
            </a:pPr>
            <a:r>
              <a:rPr sz="1100" b="0" i="0">
                <a:solidFill>
                  <a:srgbClr val="5B5B64"/>
                </a:solidFill>
                <a:latin typeface="Arial"/>
              </a:rPr>
              <a:t>torchaudio MMS_FA
word-level timestamps</a:t>
            </a:r>
          </a:p>
        </p:txBody>
      </p:sp>
      <p:sp>
        <p:nvSpPr>
          <p:cNvPr id="7" name="Rectangle 6"/>
          <p:cNvSpPr/>
          <p:nvPr/>
        </p:nvSpPr>
        <p:spPr>
          <a:xfrm>
            <a:off x="2670048" y="2788920"/>
            <a:ext cx="182880" cy="18288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0" y="2011680"/>
            <a:ext cx="2011680" cy="1737360"/>
          </a:xfrm>
          <a:prstGeom prst="rect">
            <a:avLst/>
          </a:prstGeom>
          <a:solidFill>
            <a:srgbClr val="E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2148840"/>
            <a:ext cx="1828800" cy="1463040"/>
          </a:xfrm>
          <a:prstGeom prst="rect">
            <a:avLst/>
          </a:prstGeom>
          <a:noFill/>
        </p:spPr>
        <p:txBody>
          <a:bodyPr wrap="square" anchor="ctr" lIns="45720" rIns="45720" tIns="18288" bIns="18288">
            <a:spAutoFit/>
          </a:bodyPr>
          <a:lstStyle/>
          <a:p>
            <a:pPr algn="ctr">
              <a:spcAft>
                <a:spcPts val="200"/>
              </a:spcAft>
            </a:pPr>
            <a:r>
              <a:rPr sz="2000" b="1" i="0">
                <a:solidFill>
                  <a:srgbClr val="9C2E6D"/>
                </a:solidFill>
                <a:latin typeface="Arial"/>
              </a:rPr>
              <a:t>2</a:t>
            </a:r>
          </a:p>
          <a:p>
            <a:pPr algn="ctr">
              <a:spcAft>
                <a:spcPts val="400"/>
              </a:spcAft>
            </a:pPr>
            <a:r>
              <a:rPr sz="1400" b="1" i="0">
                <a:solidFill>
                  <a:srgbClr val="1A1A1A"/>
                </a:solidFill>
                <a:latin typeface="Arial"/>
              </a:rPr>
              <a:t>Pick anchor</a:t>
            </a:r>
          </a:p>
          <a:p>
            <a:pPr algn="ctr">
              <a:spcAft>
                <a:spcPts val="600"/>
              </a:spcAft>
            </a:pPr>
            <a:r>
              <a:rPr sz="1100" b="0" i="0">
                <a:solidFill>
                  <a:srgbClr val="5B5B64"/>
                </a:solidFill>
                <a:latin typeface="Arial"/>
              </a:rPr>
              <a:t>in-vocab middle word
centered slice</a:t>
            </a:r>
          </a:p>
        </p:txBody>
      </p:sp>
      <p:sp>
        <p:nvSpPr>
          <p:cNvPr id="10" name="Rectangle 9"/>
          <p:cNvSpPr/>
          <p:nvPr/>
        </p:nvSpPr>
        <p:spPr>
          <a:xfrm>
            <a:off x="4910328" y="2788920"/>
            <a:ext cx="182880" cy="18288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120640" y="2011680"/>
            <a:ext cx="2011680" cy="173736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148840"/>
            <a:ext cx="1828800" cy="1463040"/>
          </a:xfrm>
          <a:prstGeom prst="rect">
            <a:avLst/>
          </a:prstGeom>
          <a:noFill/>
        </p:spPr>
        <p:txBody>
          <a:bodyPr wrap="square" anchor="ctr" lIns="45720" rIns="45720" tIns="18288" bIns="18288">
            <a:spAutoFit/>
          </a:bodyPr>
          <a:lstStyle/>
          <a:p>
            <a:pPr algn="ctr">
              <a:spcAft>
                <a:spcPts val="200"/>
              </a:spcAft>
            </a:pPr>
            <a:r>
              <a:rPr sz="2000" b="1" i="0">
                <a:solidFill>
                  <a:srgbClr val="9C2E6D"/>
                </a:solidFill>
                <a:latin typeface="Arial"/>
              </a:rPr>
              <a:t>3</a:t>
            </a:r>
          </a:p>
          <a:p>
            <a:pPr algn="ctr">
              <a:spcAft>
                <a:spcPts val="400"/>
              </a:spcAft>
            </a:pPr>
            <a:r>
              <a:rPr sz="1400" b="1" i="0">
                <a:solidFill>
                  <a:srgbClr val="1A1A1A"/>
                </a:solidFill>
                <a:latin typeface="Arial"/>
              </a:rPr>
              <a:t>Slice 2.5 s</a:t>
            </a:r>
          </a:p>
          <a:p>
            <a:pPr algn="ctr">
              <a:spcAft>
                <a:spcPts val="600"/>
              </a:spcAft>
            </a:pPr>
            <a:r>
              <a:rPr sz="1100" b="0" i="0">
                <a:solidFill>
                  <a:srgbClr val="5B5B64"/>
                </a:solidFill>
                <a:latin typeface="Arial"/>
              </a:rPr>
              <a:t>model crops to 2 s
diotic (L = R)</a:t>
            </a:r>
          </a:p>
        </p:txBody>
      </p:sp>
      <p:sp>
        <p:nvSpPr>
          <p:cNvPr id="13" name="Rectangle 12"/>
          <p:cNvSpPr/>
          <p:nvPr/>
        </p:nvSpPr>
        <p:spPr>
          <a:xfrm>
            <a:off x="7150608" y="2788920"/>
            <a:ext cx="182880" cy="18288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60920" y="2011680"/>
            <a:ext cx="2011680" cy="1737360"/>
          </a:xfrm>
          <a:prstGeom prst="rect">
            <a:avLst/>
          </a:prstGeom>
          <a:solidFill>
            <a:srgbClr val="E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2148840"/>
            <a:ext cx="1828800" cy="1463040"/>
          </a:xfrm>
          <a:prstGeom prst="rect">
            <a:avLst/>
          </a:prstGeom>
          <a:noFill/>
        </p:spPr>
        <p:txBody>
          <a:bodyPr wrap="square" anchor="ctr" lIns="45720" rIns="45720" tIns="18288" bIns="18288">
            <a:spAutoFit/>
          </a:bodyPr>
          <a:lstStyle/>
          <a:p>
            <a:pPr algn="ctr">
              <a:spcAft>
                <a:spcPts val="200"/>
              </a:spcAft>
            </a:pPr>
            <a:r>
              <a:rPr sz="2000" b="1" i="0">
                <a:solidFill>
                  <a:srgbClr val="9C2E6D"/>
                </a:solidFill>
                <a:latin typeface="Arial"/>
              </a:rPr>
              <a:t>4</a:t>
            </a:r>
          </a:p>
          <a:p>
            <a:pPr algn="ctr">
              <a:spcAft>
                <a:spcPts val="400"/>
              </a:spcAft>
            </a:pPr>
            <a:r>
              <a:rPr sz="1400" b="1" i="0">
                <a:solidFill>
                  <a:srgbClr val="1A1A1A"/>
                </a:solidFill>
                <a:latin typeface="Arial"/>
              </a:rPr>
              <a:t>Mix @ SNR</a:t>
            </a:r>
          </a:p>
          <a:p>
            <a:pPr algn="ctr">
              <a:spcAft>
                <a:spcPts val="600"/>
              </a:spcAft>
            </a:pPr>
            <a:r>
              <a:rPr sz="1100" b="0" i="0">
                <a:solidFill>
                  <a:srgbClr val="5B5B64"/>
                </a:solidFill>
                <a:latin typeface="Arial"/>
              </a:rPr>
              <a:t>-9…+3 dB, +inf
RMS-normalize 0.02</a:t>
            </a:r>
          </a:p>
        </p:txBody>
      </p:sp>
      <p:sp>
        <p:nvSpPr>
          <p:cNvPr id="16" name="Rectangle 15"/>
          <p:cNvSpPr/>
          <p:nvPr/>
        </p:nvSpPr>
        <p:spPr>
          <a:xfrm>
            <a:off x="9390888" y="2788920"/>
            <a:ext cx="182880" cy="18288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601200" y="2011680"/>
            <a:ext cx="2011680" cy="173736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0" y="2148840"/>
            <a:ext cx="1828800" cy="1463040"/>
          </a:xfrm>
          <a:prstGeom prst="rect">
            <a:avLst/>
          </a:prstGeom>
          <a:noFill/>
        </p:spPr>
        <p:txBody>
          <a:bodyPr wrap="square" anchor="ctr" lIns="45720" rIns="45720" tIns="18288" bIns="18288">
            <a:spAutoFit/>
          </a:bodyPr>
          <a:lstStyle/>
          <a:p>
            <a:pPr algn="ctr">
              <a:spcAft>
                <a:spcPts val="200"/>
              </a:spcAft>
            </a:pPr>
            <a:r>
              <a:rPr sz="2000" b="1" i="0">
                <a:solidFill>
                  <a:srgbClr val="9C2E6D"/>
                </a:solidFill>
                <a:latin typeface="Arial"/>
              </a:rPr>
              <a:t>5</a:t>
            </a:r>
          </a:p>
          <a:p>
            <a:pPr algn="ctr">
              <a:spcAft>
                <a:spcPts val="400"/>
              </a:spcAft>
            </a:pPr>
            <a:r>
              <a:rPr sz="1400" b="1" i="0">
                <a:solidFill>
                  <a:srgbClr val="1A1A1A"/>
                </a:solidFill>
                <a:latin typeface="Arial"/>
              </a:rPr>
              <a:t>Infer + score</a:t>
            </a:r>
          </a:p>
          <a:p>
            <a:pPr algn="ctr">
              <a:spcAft>
                <a:spcPts val="600"/>
              </a:spcAft>
            </a:pPr>
            <a:r>
              <a:rPr sz="1100" b="0" i="0">
                <a:solidFill>
                  <a:srgbClr val="5B5B64"/>
                </a:solidFill>
                <a:latin typeface="Arial"/>
              </a:rPr>
              <a:t>target-word accuracy
+ distractor confusion</a:t>
            </a:r>
          </a:p>
        </p:txBody>
      </p:sp>
      <p:sp>
        <p:nvSpPr>
          <p:cNvPr id="19" name="TextBox 18"/>
          <p:cNvSpPr txBox="1"/>
          <p:nvPr/>
        </p:nvSpPr>
        <p:spPr>
          <a:xfrm>
            <a:off x="640080" y="4206240"/>
            <a:ext cx="10972800" cy="2011680"/>
          </a:xfrm>
          <a:prstGeom prst="rect">
            <a:avLst/>
          </a:prstGeom>
          <a:noFill/>
        </p:spPr>
        <p:txBody>
          <a:bodyPr wrap="square" anchor="t" lIns="45720" rIns="45720" tIns="18288" bIns="18288">
            <a:spAutoFit/>
          </a:bodyPr>
          <a:lstStyle/>
          <a:p>
            <a:pPr algn="l">
              <a:spcAft>
                <a:spcPts val="1000"/>
              </a:spcAft>
            </a:pPr>
            <a:r>
              <a:rPr sz="1500" b="1" i="0">
                <a:solidFill>
                  <a:srgbClr val="1A1A1A"/>
                </a:solidFill>
                <a:latin typeface="Arial"/>
              </a:rPr>
              <a:t>Anchor = the paper's rule: pick the target word first, then cut a slice centered on it</a:t>
            </a:r>
          </a:p>
          <a:p>
            <a:pPr algn="l">
              <a:spcAft>
                <a:spcPts val="600"/>
              </a:spcAft>
            </a:pPr>
            <a:r>
              <a:rPr sz="1400" b="0" i="0">
                <a:solidFill>
                  <a:srgbClr val="5B5B64"/>
                </a:solidFill>
                <a:latin typeface="Arial"/>
              </a:rPr>
              <a:t>• Structural constraints: cue &amp; target = same speaker / different recordings; distractor = different speaker; gender-balanced targets.</a:t>
            </a:r>
          </a:p>
          <a:p>
            <a:pPr algn="l">
              <a:spcAft>
                <a:spcPts val="600"/>
              </a:spcAft>
            </a:pPr>
            <a:r>
              <a:rPr sz="1400" b="0" i="0">
                <a:solidFill>
                  <a:srgbClr val="5B5B64"/>
                </a:solidFill>
                <a:latin typeface="Arial"/>
              </a:rPr>
              <a:t>• Paper-compatible scoring: a prediction is correct if it matches any in-vocabulary word in the target excerpt.</a:t>
            </a:r>
          </a:p>
          <a:p>
            <a:pPr algn="l">
              <a:spcAft>
                <a:spcPts val="600"/>
              </a:spcAft>
            </a:pPr>
            <a:r>
              <a:rPr sz="1400" b="0" i="0">
                <a:solidFill>
                  <a:srgbClr val="5B5B64"/>
                </a:solidFill>
                <a:latin typeface="Arial"/>
              </a:rPr>
              <a:t>• Model validity check: 88.6% clean-speech accuracy; +inf lands at 88.0% (chance = 0.1%).</a:t>
            </a:r>
          </a:p>
        </p:txBody>
      </p:sp>
      <p:sp>
        <p:nvSpPr>
          <p:cNvPr id="20" name="TextBox 19"/>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3/19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468880"/>
            <a:ext cx="12191695" cy="192024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51760"/>
            <a:ext cx="10515600" cy="1554480"/>
          </a:xfrm>
          <a:prstGeom prst="rect">
            <a:avLst/>
          </a:prstGeom>
          <a:noFill/>
        </p:spPr>
        <p:txBody>
          <a:bodyPr wrap="square" anchor="ctr" lIns="45720" rIns="45720" tIns="18288" bIns="18288">
            <a:spAutoFit/>
          </a:bodyPr>
          <a:lstStyle/>
          <a:p>
            <a:pPr algn="l">
              <a:spcAft>
                <a:spcPts val="600"/>
              </a:spcAft>
            </a:pPr>
            <a:r>
              <a:rPr sz="1600" b="1" i="0">
                <a:solidFill>
                  <a:srgbClr val="F0C8DE"/>
                </a:solidFill>
                <a:latin typeface="Arial"/>
              </a:rPr>
              <a:t>PART 1</a:t>
            </a:r>
          </a:p>
          <a:p>
            <a:pPr algn="l">
              <a:spcAft>
                <a:spcPts val="600"/>
              </a:spcAft>
            </a:pPr>
            <a:r>
              <a:rPr sz="3000" b="1" i="0">
                <a:solidFill>
                  <a:srgbClr val="FFFFFF"/>
                </a:solidFill>
                <a:latin typeface="Arial"/>
              </a:rPr>
              <a:t>Distractor sex  ·  a single competing talker</a:t>
            </a:r>
          </a:p>
        </p:txBody>
      </p:sp>
      <p:sp>
        <p:nvSpPr>
          <p:cNvPr id="5" name="TextBox 4"/>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4/19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PART 1 · RESULT</a:t>
            </a:r>
          </a:p>
          <a:p>
            <a:pPr algn="l">
              <a:spcAft>
                <a:spcPts val="600"/>
              </a:spcAft>
            </a:pPr>
            <a:r>
              <a:rPr sz="2800" b="1" i="0">
                <a:solidFill>
                  <a:srgbClr val="1A1A1A"/>
                </a:solidFill>
                <a:latin typeface="Arial"/>
              </a:rPr>
              <a:t>Accuracy rises with SNR; different-sex is easier</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2b_reproduction_en.png"/>
          <p:cNvPicPr>
            <a:picLocks noChangeAspect="1"/>
          </p:cNvPicPr>
          <p:nvPr/>
        </p:nvPicPr>
        <p:blipFill>
          <a:blip r:embed="rId2"/>
          <a:stretch>
            <a:fillRect/>
          </a:stretch>
        </p:blipFill>
        <p:spPr>
          <a:xfrm>
            <a:off x="635429" y="1280160"/>
            <a:ext cx="6501541" cy="5303520"/>
          </a:xfrm>
          <a:prstGeom prst="rect">
            <a:avLst/>
          </a:prstGeom>
        </p:spPr>
      </p:pic>
      <p:sp>
        <p:nvSpPr>
          <p:cNvPr id="6" name="TextBox 5"/>
          <p:cNvSpPr txBox="1"/>
          <p:nvPr/>
        </p:nvSpPr>
        <p:spPr>
          <a:xfrm>
            <a:off x="7406640" y="1463040"/>
            <a:ext cx="4297680" cy="4937760"/>
          </a:xfrm>
          <a:prstGeom prst="rect">
            <a:avLst/>
          </a:prstGeom>
          <a:noFill/>
        </p:spPr>
        <p:txBody>
          <a:bodyPr wrap="square" anchor="t" lIns="45720" rIns="45720" tIns="18288" bIns="18288">
            <a:spAutoFit/>
          </a:bodyPr>
          <a:lstStyle/>
          <a:p>
            <a:pPr algn="l">
              <a:spcAft>
                <a:spcPts val="800"/>
              </a:spcAft>
            </a:pPr>
            <a:r>
              <a:rPr sz="1700" b="1" i="0">
                <a:solidFill>
                  <a:srgbClr val="9C2E6D"/>
                </a:solidFill>
                <a:latin typeface="Arial"/>
              </a:rPr>
              <a:t>What reproduces</a:t>
            </a:r>
          </a:p>
          <a:p>
            <a:pPr algn="l">
              <a:spcAft>
                <a:spcPts val="800"/>
              </a:spcAft>
            </a:pPr>
            <a:r>
              <a:rPr sz="1400" b="0" i="0">
                <a:solidFill>
                  <a:srgbClr val="1A1A1A"/>
                </a:solidFill>
                <a:latin typeface="Arial"/>
              </a:rPr>
              <a:t>• Monotonic rise with SNR (both lines).</a:t>
            </a:r>
          </a:p>
          <a:p>
            <a:pPr algn="l">
              <a:spcAft>
                <a:spcPts val="800"/>
              </a:spcAft>
            </a:pPr>
            <a:r>
              <a:rPr sz="1400" b="0" i="0">
                <a:solidFill>
                  <a:srgbClr val="1A1A1A"/>
                </a:solidFill>
                <a:latin typeface="Arial"/>
              </a:rPr>
              <a:t>• Different-sex &gt; same-sex at every masked SNR.</a:t>
            </a:r>
          </a:p>
          <a:p>
            <a:pPr algn="l">
              <a:spcAft>
                <a:spcPts val="800"/>
              </a:spcAft>
            </a:pPr>
            <a:r>
              <a:rPr sz="1400" b="0" i="0">
                <a:solidFill>
                  <a:srgbClr val="1A1A1A"/>
                </a:solidFill>
                <a:latin typeface="Arial"/>
              </a:rPr>
              <a:t>• Gap = +9 to +18 percentage points.</a:t>
            </a:r>
          </a:p>
          <a:p>
            <a:pPr algn="l">
              <a:spcAft>
                <a:spcPts val="800"/>
              </a:spcAft>
            </a:pPr>
            <a:r>
              <a:rPr sz="1400" b="0" i="0">
                <a:solidFill>
                  <a:srgbClr val="1A1A1A"/>
                </a:solidFill>
                <a:latin typeface="Arial"/>
              </a:rPr>
              <a:t>• Lines converge to ~88% at +inf — no distractor, sex no longer matters.</a:t>
            </a:r>
          </a:p>
          <a:p>
            <a:pPr algn="l">
              <a:spcAft>
                <a:spcPts val="1000"/>
              </a:spcAft>
            </a:pPr>
            <a:r>
              <a:rPr sz="1200" b="0" i="1">
                <a:solidFill>
                  <a:srgbClr val="5B5B64"/>
                </a:solidFill>
                <a:latin typeface="Arial"/>
              </a:rPr>
              <a:t>within-item, N=599/597, diotic</a:t>
            </a:r>
          </a:p>
          <a:p>
            <a:pPr algn="l">
              <a:spcAft>
                <a:spcPts val="600"/>
              </a:spcAft>
            </a:pPr>
            <a:r>
              <a:rPr sz="1300" b="1" i="0">
                <a:solidFill>
                  <a:srgbClr val="1E7A46"/>
                </a:solidFill>
                <a:latin typeface="Arial"/>
              </a:rPr>
              <a:t>= paper Fig 2a (same-sex line) + Fig 2b (both lines)</a:t>
            </a:r>
          </a:p>
        </p:txBody>
      </p:sp>
      <p:sp>
        <p:nvSpPr>
          <p:cNvPr id="7" name="TextBox 6"/>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5/19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PART 1 · RESULT + PROBLEM</a:t>
            </a:r>
          </a:p>
          <a:p>
            <a:pPr algn="l">
              <a:spcAft>
                <a:spcPts val="600"/>
              </a:spcAft>
            </a:pPr>
            <a:r>
              <a:rPr sz="2800" b="1" i="0">
                <a:solidFill>
                  <a:srgbClr val="1A1A1A"/>
                </a:solidFill>
                <a:latin typeface="Arial"/>
              </a:rPr>
              <a:t>Confusion trend reproduces — but magnitude is too low</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2e_reproduction_en.png"/>
          <p:cNvPicPr>
            <a:picLocks noChangeAspect="1"/>
          </p:cNvPicPr>
          <p:nvPr/>
        </p:nvPicPr>
        <p:blipFill>
          <a:blip r:embed="rId2"/>
          <a:stretch>
            <a:fillRect/>
          </a:stretch>
        </p:blipFill>
        <p:spPr>
          <a:xfrm>
            <a:off x="548640" y="1321249"/>
            <a:ext cx="6400800" cy="5221342"/>
          </a:xfrm>
          <a:prstGeom prst="rect">
            <a:avLst/>
          </a:prstGeom>
        </p:spPr>
      </p:pic>
      <p:sp>
        <p:nvSpPr>
          <p:cNvPr id="6" name="TextBox 5"/>
          <p:cNvSpPr txBox="1"/>
          <p:nvPr/>
        </p:nvSpPr>
        <p:spPr>
          <a:xfrm>
            <a:off x="7223760" y="1417320"/>
            <a:ext cx="4480560" cy="5029200"/>
          </a:xfrm>
          <a:prstGeom prst="rect">
            <a:avLst/>
          </a:prstGeom>
          <a:noFill/>
        </p:spPr>
        <p:txBody>
          <a:bodyPr wrap="square" anchor="t" lIns="45720" rIns="45720" tIns="18288" bIns="18288">
            <a:spAutoFit/>
          </a:bodyPr>
          <a:lstStyle/>
          <a:p>
            <a:pPr algn="l">
              <a:spcAft>
                <a:spcPts val="800"/>
              </a:spcAft>
            </a:pPr>
            <a:r>
              <a:rPr sz="1500" b="1" i="0">
                <a:solidFill>
                  <a:srgbClr val="9C2E6D"/>
                </a:solidFill>
                <a:latin typeface="Arial"/>
              </a:rPr>
              <a:t>Confusion = model reports a distractor word</a:t>
            </a:r>
          </a:p>
          <a:p>
            <a:pPr algn="l">
              <a:spcAft>
                <a:spcPts val="400"/>
              </a:spcAft>
            </a:pPr>
            <a:r>
              <a:rPr sz="1400" b="1" i="0">
                <a:solidFill>
                  <a:srgbClr val="1A1A1A"/>
                </a:solidFill>
                <a:latin typeface="Arial"/>
              </a:rPr>
              <a:t>Direction correct:</a:t>
            </a:r>
          </a:p>
          <a:p>
            <a:pPr algn="l">
              <a:spcAft>
                <a:spcPts val="500"/>
              </a:spcAft>
            </a:pPr>
            <a:r>
              <a:rPr sz="1300" b="0" i="0">
                <a:solidFill>
                  <a:srgbClr val="5B5B64"/>
                </a:solidFill>
                <a:latin typeface="Arial"/>
              </a:rPr>
              <a:t>• lower SNR → more confusion</a:t>
            </a:r>
          </a:p>
          <a:p>
            <a:pPr algn="l">
              <a:spcAft>
                <a:spcPts val="500"/>
              </a:spcAft>
            </a:pPr>
            <a:r>
              <a:rPr sz="1300" b="0" i="0">
                <a:solidFill>
                  <a:srgbClr val="5B5B64"/>
                </a:solidFill>
                <a:latin typeface="Arial"/>
              </a:rPr>
              <a:t>• same-sex confuses more than different-sex</a:t>
            </a:r>
          </a:p>
          <a:p>
            <a:pPr algn="l">
              <a:spcAft>
                <a:spcPts val="600"/>
              </a:spcAft>
            </a:pPr>
            <a:r>
              <a:rPr sz="1500" b="1" i="0">
                <a:solidFill>
                  <a:srgbClr val="B03030"/>
                </a:solidFill>
                <a:latin typeface="Arial"/>
              </a:rPr>
              <a:t>But 4–5x too low vs the paper</a:t>
            </a:r>
          </a:p>
          <a:p>
            <a:pPr algn="l">
              <a:spcAft>
                <a:spcPts val="800"/>
              </a:spcAft>
            </a:pPr>
            <a:r>
              <a:rPr sz="1400" b="1" i="0">
                <a:solidFill>
                  <a:srgbClr val="1A1A1A"/>
                </a:solidFill>
                <a:latin typeface="Arial"/>
              </a:rPr>
              <a:t>Root cause: </a:t>
            </a:r>
            <a:r>
              <a:rPr sz="1400" b="0" i="0">
                <a:solidFill>
                  <a:srgbClr val="1A1A1A"/>
                </a:solidFill>
                <a:latin typeface="Arial"/>
              </a:rPr>
              <a:t>distractors were picked at random, so their middle word is usually NOT in the vocabulary — the model cannot output it even if it hears it.</a:t>
            </a:r>
          </a:p>
          <a:p>
            <a:pPr algn="l">
              <a:spcAft>
                <a:spcPts val="600"/>
              </a:spcAft>
            </a:pPr>
            <a:r>
              <a:rPr sz="1400" b="1" i="0">
                <a:solidFill>
                  <a:srgbClr val="1E7A46"/>
                </a:solidFill>
                <a:latin typeface="Arial"/>
              </a:rPr>
              <a:t>→ This is exactly what Part 2 fixes.</a:t>
            </a:r>
          </a:p>
        </p:txBody>
      </p:sp>
      <p:sp>
        <p:nvSpPr>
          <p:cNvPr id="7" name="TextBox 6"/>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6/19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468880"/>
            <a:ext cx="12191695" cy="1920240"/>
          </a:xfrm>
          <a:prstGeom prst="rect">
            <a:avLst/>
          </a:prstGeom>
          <a:solidFill>
            <a:srgbClr val="1F3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51760"/>
            <a:ext cx="10515600" cy="1554480"/>
          </a:xfrm>
          <a:prstGeom prst="rect">
            <a:avLst/>
          </a:prstGeom>
          <a:noFill/>
        </p:spPr>
        <p:txBody>
          <a:bodyPr wrap="square" anchor="ctr" lIns="45720" rIns="45720" tIns="18288" bIns="18288">
            <a:spAutoFit/>
          </a:bodyPr>
          <a:lstStyle/>
          <a:p>
            <a:pPr algn="l">
              <a:spcAft>
                <a:spcPts val="600"/>
              </a:spcAft>
            </a:pPr>
            <a:r>
              <a:rPr sz="1600" b="1" i="0">
                <a:solidFill>
                  <a:srgbClr val="B9CCEA"/>
                </a:solidFill>
                <a:latin typeface="Arial"/>
              </a:rPr>
              <a:t>PART 2  ·  NEW</a:t>
            </a:r>
          </a:p>
          <a:p>
            <a:pPr algn="l">
              <a:spcAft>
                <a:spcPts val="600"/>
              </a:spcAft>
            </a:pPr>
            <a:r>
              <a:rPr sz="3000" b="1" i="0">
                <a:solidFill>
                  <a:srgbClr val="FFFFFF"/>
                </a:solidFill>
                <a:latin typeface="Arial"/>
              </a:rPr>
              <a:t>Number of distractors  ·  1 / 2 / 4 talkers + babble</a:t>
            </a:r>
          </a:p>
        </p:txBody>
      </p:sp>
      <p:sp>
        <p:nvSpPr>
          <p:cNvPr id="5" name="TextBox 4"/>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7/19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PART 2 · THE QUESTION</a:t>
            </a:r>
          </a:p>
          <a:p>
            <a:pPr algn="l">
              <a:spcAft>
                <a:spcPts val="600"/>
              </a:spcAft>
            </a:pPr>
            <a:r>
              <a:rPr sz="2800" b="1" i="0">
                <a:solidFill>
                  <a:srgbClr val="1A1A1A"/>
                </a:solidFill>
                <a:latin typeface="Arial"/>
              </a:rPr>
              <a:t>Does talker NUMBER matter, at fixed masker energy?</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881360" cy="4846320"/>
          </a:xfrm>
          <a:prstGeom prst="rect">
            <a:avLst/>
          </a:prstGeom>
          <a:noFill/>
        </p:spPr>
        <p:txBody>
          <a:bodyPr wrap="square" anchor="t" lIns="45720" rIns="45720" tIns="18288" bIns="18288">
            <a:spAutoFit/>
          </a:bodyPr>
          <a:lstStyle/>
          <a:p>
            <a:pPr algn="l">
              <a:spcAft>
                <a:spcPts val="1200"/>
              </a:spcAft>
            </a:pPr>
            <a:r>
              <a:rPr sz="1800" b="1" i="0">
                <a:solidFill>
                  <a:srgbClr val="1A1A1A"/>
                </a:solidFill>
                <a:latin typeface="Arial"/>
              </a:rPr>
              <a:t>Human hearing: more competing talkers → harder, even when total masker energy is held constant.</a:t>
            </a:r>
          </a:p>
          <a:p>
            <a:pPr algn="l">
              <a:spcAft>
                <a:spcPts val="1600"/>
              </a:spcAft>
            </a:pPr>
            <a:r>
              <a:rPr sz="1600" b="0" i="0">
                <a:solidFill>
                  <a:srgbClr val="1A1A1A"/>
                </a:solidFill>
                <a:latin typeface="Arial"/>
              </a:rPr>
              <a:t>That effect is </a:t>
            </a:r>
            <a:r>
              <a:rPr sz="1600" b="1" i="0">
                <a:solidFill>
                  <a:srgbClr val="9C2E6D"/>
                </a:solidFill>
                <a:latin typeface="Arial"/>
              </a:rPr>
              <a:t>information masking</a:t>
            </a:r>
            <a:r>
              <a:rPr sz="1600" b="0" i="0">
                <a:solidFill>
                  <a:srgbClr val="1A1A1A"/>
                </a:solidFill>
                <a:latin typeface="Arial"/>
              </a:rPr>
              <a:t> — being confused by other voices, not simply drowned out by energy.</a:t>
            </a:r>
          </a:p>
          <a:p>
            <a:pPr algn="l">
              <a:spcAft>
                <a:spcPts val="1600"/>
              </a:spcAft>
            </a:pPr>
            <a:r>
              <a:rPr sz="1600" b="0" i="0">
                <a:solidFill>
                  <a:srgbClr val="1A1A1A"/>
                </a:solidFill>
                <a:latin typeface="Arial"/>
              </a:rPr>
              <a:t>So the design must hold total masker energy CONSTANT while varying only the number of voices.</a:t>
            </a:r>
          </a:p>
          <a:p>
            <a:pPr algn="l">
              <a:spcAft>
                <a:spcPts val="1000"/>
              </a:spcAft>
            </a:pPr>
            <a:r>
              <a:rPr sz="1600" b="1" i="0">
                <a:solidFill>
                  <a:srgbClr val="1A1A1A"/>
                </a:solidFill>
                <a:latin typeface="Arial"/>
              </a:rPr>
              <a:t>Prediction under test: </a:t>
            </a:r>
            <a:r>
              <a:rPr sz="1600" b="0" i="0">
                <a:solidFill>
                  <a:srgbClr val="1A1A1A"/>
                </a:solidFill>
                <a:latin typeface="Arial"/>
              </a:rPr>
              <a:t>if the feature-gain model captures information masking, accuracy should fall as talkers are added — at matched energy.</a:t>
            </a:r>
          </a:p>
          <a:p>
            <a:pPr algn="l">
              <a:spcAft>
                <a:spcPts val="600"/>
              </a:spcAft>
            </a:pPr>
            <a:r>
              <a:rPr sz="1400" b="1" i="0">
                <a:solidFill>
                  <a:srgbClr val="1E7A46"/>
                </a:solidFill>
                <a:latin typeface="Arial"/>
              </a:rPr>
              <a:t>N=1 uses the same task and mixing logic as Part 1 — a built-in directional check.</a:t>
            </a:r>
          </a:p>
        </p:txBody>
      </p:sp>
      <p:sp>
        <p:nvSpPr>
          <p:cNvPr id="6" name="TextBox 5"/>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PART 2 · DESIGN (1/3)</a:t>
            </a:r>
          </a:p>
          <a:p>
            <a:pPr algn="l">
              <a:spcAft>
                <a:spcPts val="600"/>
              </a:spcAft>
            </a:pPr>
            <a:r>
              <a:rPr sz="2800" b="1" i="0">
                <a:solidFill>
                  <a:srgbClr val="1A1A1A"/>
                </a:solidFill>
                <a:latin typeface="Arial"/>
              </a:rPr>
              <a:t>Conditions &amp; nested sampling</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5486400" cy="4937760"/>
          </a:xfrm>
          <a:prstGeom prst="rect">
            <a:avLst/>
          </a:prstGeom>
          <a:noFill/>
        </p:spPr>
        <p:txBody>
          <a:bodyPr wrap="square" anchor="t" lIns="45720" rIns="45720" tIns="18288" bIns="18288">
            <a:spAutoFit/>
          </a:bodyPr>
          <a:lstStyle/>
          <a:p>
            <a:pPr algn="l">
              <a:spcAft>
                <a:spcPts val="500"/>
              </a:spcAft>
            </a:pPr>
            <a:r>
              <a:rPr sz="1700" b="1" i="0">
                <a:solidFill>
                  <a:srgbClr val="9C2E6D"/>
                </a:solidFill>
                <a:latin typeface="Arial"/>
              </a:rPr>
              <a:t>Conditions</a:t>
            </a:r>
          </a:p>
          <a:p>
            <a:pPr algn="l">
              <a:spcAft>
                <a:spcPts val="600"/>
              </a:spcAft>
            </a:pPr>
            <a:r>
              <a:rPr sz="1500" b="1" i="0">
                <a:solidFill>
                  <a:srgbClr val="1A1A1A"/>
                </a:solidFill>
                <a:latin typeface="Arial"/>
              </a:rPr>
              <a:t>no-distractor · 1 · 2 · 4 · 8-talker babble · + ISSN control</a:t>
            </a:r>
          </a:p>
          <a:p>
            <a:pPr algn="l">
              <a:spcAft>
                <a:spcPts val="1400"/>
              </a:spcAft>
            </a:pPr>
            <a:r>
              <a:rPr sz="1400" b="0" i="0">
                <a:solidFill>
                  <a:srgbClr val="5B5B64"/>
                </a:solidFill>
                <a:latin typeface="Arial"/>
              </a:rPr>
              <a:t>SNR: -9…+3 dB for maskers; no-distractor is a single +inf point.</a:t>
            </a:r>
          </a:p>
          <a:p>
            <a:pPr algn="l">
              <a:spcAft>
                <a:spcPts val="500"/>
              </a:spcAft>
            </a:pPr>
            <a:r>
              <a:rPr sz="1700" b="1" i="0">
                <a:solidFill>
                  <a:srgbClr val="9C2E6D"/>
                </a:solidFill>
                <a:latin typeface="Arial"/>
              </a:rPr>
              <a:t>Within-item</a:t>
            </a:r>
          </a:p>
          <a:p>
            <a:pPr algn="l">
              <a:spcAft>
                <a:spcPts val="1400"/>
              </a:spcAft>
            </a:pPr>
            <a:r>
              <a:rPr sz="1500" b="0" i="0">
                <a:solidFill>
                  <a:srgbClr val="1A1A1A"/>
                </a:solidFill>
                <a:latin typeface="Arial"/>
              </a:rPr>
              <a:t>The SAME 600 targets are re-mixed in every condition × SNR → differences come from the condition, not the sample.</a:t>
            </a:r>
          </a:p>
          <a:p>
            <a:pPr algn="l">
              <a:spcAft>
                <a:spcPts val="500"/>
              </a:spcAft>
            </a:pPr>
            <a:r>
              <a:rPr sz="1700" b="1" i="0">
                <a:solidFill>
                  <a:srgbClr val="9C2E6D"/>
                </a:solidFill>
                <a:latin typeface="Arial"/>
              </a:rPr>
              <a:t>Nested sampling</a:t>
            </a:r>
          </a:p>
          <a:p>
            <a:pPr algn="l">
              <a:spcAft>
                <a:spcPts val="600"/>
              </a:spcAft>
            </a:pPr>
            <a:r>
              <a:rPr sz="1500" b="0" i="0">
                <a:solidFill>
                  <a:srgbClr val="1A1A1A"/>
                </a:solidFill>
                <a:latin typeface="Arial"/>
              </a:rPr>
              <a:t>Each target draws a fixed set d1…d8; two = d1,d2; four = d1–d4; babble = d1–d8.</a:t>
            </a:r>
          </a:p>
          <a:p>
            <a:pPr algn="l">
              <a:spcAft>
                <a:spcPts val="600"/>
              </a:spcAft>
            </a:pPr>
            <a:r>
              <a:rPr sz="1500" b="0" i="0">
                <a:solidFill>
                  <a:srgbClr val="1A1A1A"/>
                </a:solidFill>
                <a:latin typeface="Arial"/>
              </a:rPr>
              <a:t>→ 'two-talker' is literally 'one-talker plus one more person'. Only the count changes.</a:t>
            </a:r>
          </a:p>
        </p:txBody>
      </p:sp>
      <p:sp>
        <p:nvSpPr>
          <p:cNvPr id="6" name="Rectangle 5"/>
          <p:cNvSpPr/>
          <p:nvPr/>
        </p:nvSpPr>
        <p:spPr>
          <a:xfrm>
            <a:off x="6492240" y="1417320"/>
            <a:ext cx="5029200" cy="484632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1645920"/>
            <a:ext cx="4480560" cy="4389120"/>
          </a:xfrm>
          <a:prstGeom prst="rect">
            <a:avLst/>
          </a:prstGeom>
          <a:noFill/>
        </p:spPr>
        <p:txBody>
          <a:bodyPr wrap="square" anchor="t" lIns="45720" rIns="45720" tIns="18288" bIns="18288">
            <a:spAutoFit/>
          </a:bodyPr>
          <a:lstStyle/>
          <a:p>
            <a:pPr algn="l">
              <a:spcAft>
                <a:spcPts val="800"/>
              </a:spcAft>
            </a:pPr>
            <a:r>
              <a:rPr sz="1600" b="1" i="0">
                <a:solidFill>
                  <a:srgbClr val="1F3B73"/>
                </a:solidFill>
                <a:latin typeface="Arial"/>
              </a:rPr>
              <a:t>Anchored distractor pool</a:t>
            </a:r>
          </a:p>
          <a:p>
            <a:pPr algn="l">
              <a:spcAft>
                <a:spcPts val="1000"/>
              </a:spcAft>
            </a:pPr>
            <a:r>
              <a:rPr sz="1400" b="0" i="0">
                <a:solidFill>
                  <a:srgbClr val="1A1A1A"/>
                </a:solidFill>
                <a:latin typeface="Arial"/>
              </a:rPr>
              <a:t>Every distractor recording also carries an in-vocab anchor word, sliced like the target.</a:t>
            </a:r>
          </a:p>
          <a:p>
            <a:pPr algn="l">
              <a:spcAft>
                <a:spcPts val="600"/>
              </a:spcAft>
            </a:pPr>
            <a:r>
              <a:rPr sz="1400" b="0" i="0">
                <a:solidFill>
                  <a:srgbClr val="5B5B64"/>
                </a:solidFill>
                <a:latin typeface="Arial"/>
              </a:rPr>
              <a:t>• 1,200 recordings / 1,200 speakers</a:t>
            </a:r>
          </a:p>
          <a:p>
            <a:pPr algn="l">
              <a:spcAft>
                <a:spcPts val="600"/>
              </a:spcAft>
            </a:pPr>
            <a:r>
              <a:rPr sz="1400" b="0" i="0">
                <a:solidFill>
                  <a:srgbClr val="5B5B64"/>
                </a:solidFill>
                <a:latin typeface="Arial"/>
              </a:rPr>
              <a:t>• male 600 / female 600</a:t>
            </a:r>
          </a:p>
          <a:p>
            <a:pPr algn="l">
              <a:spcAft>
                <a:spcPts val="600"/>
              </a:spcAft>
            </a:pPr>
            <a:r>
              <a:rPr sz="1400" b="0" i="0">
                <a:solidFill>
                  <a:srgbClr val="5B5B64"/>
                </a:solidFill>
                <a:latin typeface="Arial"/>
              </a:rPr>
              <a:t>• 0 overlap with target speakers</a:t>
            </a:r>
          </a:p>
          <a:p>
            <a:pPr algn="l">
              <a:spcAft>
                <a:spcPts val="600"/>
              </a:spcAft>
            </a:pPr>
            <a:r>
              <a:rPr sz="1400" b="0" i="0">
                <a:solidFill>
                  <a:srgbClr val="5B5B64"/>
                </a:solidFill>
                <a:latin typeface="Arial"/>
              </a:rPr>
              <a:t>• 534 distinct anchor words</a:t>
            </a:r>
          </a:p>
          <a:p>
            <a:pPr algn="l">
              <a:spcAft>
                <a:spcPts val="600"/>
              </a:spcAft>
            </a:pPr>
            <a:r>
              <a:rPr sz="1400" b="1" i="0">
                <a:solidFill>
                  <a:srgbClr val="1E7A46"/>
                </a:solidFill>
                <a:latin typeface="Arial"/>
              </a:rPr>
              <a:t>Now the model CAN output a distractor word → confusion becomes measurable.</a:t>
            </a:r>
          </a:p>
        </p:txBody>
      </p:sp>
      <p:sp>
        <p:nvSpPr>
          <p:cNvPr id="8" name="TextBox 7"/>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9/19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PART 2 · DESIGN (2/3)</a:t>
            </a:r>
          </a:p>
          <a:p>
            <a:pPr algn="l">
              <a:spcAft>
                <a:spcPts val="600"/>
              </a:spcAft>
            </a:pPr>
            <a:r>
              <a:rPr sz="2800" b="1" i="0">
                <a:solidFill>
                  <a:srgbClr val="1A1A1A"/>
                </a:solidFill>
                <a:latin typeface="Arial"/>
              </a:rPr>
              <a:t>Target-to-total-masker SNR isolates the variable</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881360" cy="4846320"/>
          </a:xfrm>
          <a:prstGeom prst="rect">
            <a:avLst/>
          </a:prstGeom>
          <a:noFill/>
        </p:spPr>
        <p:txBody>
          <a:bodyPr wrap="square" anchor="t" lIns="45720" rIns="45720" tIns="18288" bIns="18288">
            <a:spAutoFit/>
          </a:bodyPr>
          <a:lstStyle/>
          <a:p>
            <a:pPr algn="l">
              <a:spcAft>
                <a:spcPts val="1000"/>
              </a:spcAft>
            </a:pPr>
            <a:r>
              <a:rPr sz="1600" b="0" i="0">
                <a:solidFill>
                  <a:srgbClr val="1A1A1A"/>
                </a:solidFill>
                <a:latin typeface="Arial"/>
              </a:rPr>
              <a:t>• Each distractor is RMS-aligned, then SUMMED into one total masker.</a:t>
            </a:r>
          </a:p>
          <a:p>
            <a:pPr algn="l">
              <a:spcAft>
                <a:spcPts val="1000"/>
              </a:spcAft>
            </a:pPr>
            <a:r>
              <a:rPr sz="1600" b="0" i="0">
                <a:solidFill>
                  <a:srgbClr val="1A1A1A"/>
                </a:solidFill>
                <a:latin typeface="Arial"/>
              </a:rPr>
              <a:t>• The whole masker is scaled so  10·log10(P_target / P_masker) = SNR;  mixture = target + masker.</a:t>
            </a:r>
          </a:p>
          <a:p>
            <a:pPr algn="l">
              <a:spcAft>
                <a:spcPts val="1000"/>
              </a:spcAft>
            </a:pPr>
            <a:r>
              <a:rPr sz="1600" b="0" i="0">
                <a:solidFill>
                  <a:srgbClr val="1A1A1A"/>
                </a:solidFill>
                <a:latin typeface="Arial"/>
              </a:rPr>
              <a:t>• → 1 / 2 / 4-talker have </a:t>
            </a:r>
            <a:r>
              <a:rPr sz="1600" b="1" i="0">
                <a:solidFill>
                  <a:srgbClr val="9C2E6D"/>
                </a:solidFill>
                <a:latin typeface="Arial"/>
              </a:rPr>
              <a:t>identical total masker energy</a:t>
            </a:r>
            <a:r>
              <a:rPr sz="1600" b="0" i="0">
                <a:solidFill>
                  <a:srgbClr val="1A1A1A"/>
                </a:solidFill>
                <a:latin typeface="Arial"/>
              </a:rPr>
              <a:t> at a given SNR.</a:t>
            </a:r>
          </a:p>
          <a:p>
            <a:pPr algn="l">
              <a:spcAft>
                <a:spcPts val="1000"/>
              </a:spcAft>
            </a:pPr>
            <a:r>
              <a:rPr sz="1600" b="0" i="0">
                <a:solidFill>
                  <a:srgbClr val="1A1A1A"/>
                </a:solidFill>
                <a:latin typeface="Arial"/>
              </a:rPr>
              <a:t>• So any accuracy difference between them CANNOT be loudness — it is 'more confusable voices'.</a:t>
            </a:r>
          </a:p>
          <a:p>
            <a:pPr algn="l">
              <a:spcAft>
                <a:spcPts val="1000"/>
              </a:spcAft>
            </a:pPr>
            <a:r>
              <a:rPr sz="1600" b="0" i="0">
                <a:solidFill>
                  <a:srgbClr val="1E7A46"/>
                </a:solidFill>
                <a:latin typeface="Arial"/>
              </a:rPr>
              <a:t>• This matches the paper's core 2-/4-talker construction: equalize sources, sum, then set target-to-total-masker SNR.</a:t>
            </a:r>
          </a:p>
          <a:p>
            <a:pPr algn="l">
              <a:spcAft>
                <a:spcPts val="600"/>
              </a:spcAft>
            </a:pPr>
            <a:r>
              <a:rPr sz="1600" b="0" i="0">
                <a:solidFill>
                  <a:srgbClr val="5B5B64"/>
                </a:solidFill>
                <a:latin typeface="Arial"/>
              </a:rPr>
              <a:t>• The 8-talker babble remains an approximation: ours is summed online; the paper used pre-made files.</a:t>
            </a:r>
          </a:p>
        </p:txBody>
      </p:sp>
      <p:sp>
        <p:nvSpPr>
          <p:cNvPr id="6" name="TextBox 5"/>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10/19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PART 2 · DESIGN (3/3)</a:t>
            </a:r>
          </a:p>
          <a:p>
            <a:pPr algn="l">
              <a:spcAft>
                <a:spcPts val="600"/>
              </a:spcAft>
            </a:pPr>
            <a:r>
              <a:rPr sz="2800" b="1" i="0">
                <a:solidFill>
                  <a:srgbClr val="1A1A1A"/>
                </a:solidFill>
                <a:latin typeface="Arial"/>
              </a:rPr>
              <a:t>Two safeguards added before running</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17320"/>
            <a:ext cx="5486400" cy="484632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937760" cy="4389120"/>
          </a:xfrm>
          <a:prstGeom prst="rect">
            <a:avLst/>
          </a:prstGeom>
          <a:noFill/>
        </p:spPr>
        <p:txBody>
          <a:bodyPr wrap="square" anchor="t" lIns="45720" rIns="45720" tIns="18288" bIns="18288">
            <a:spAutoFit/>
          </a:bodyPr>
          <a:lstStyle/>
          <a:p>
            <a:pPr algn="l">
              <a:spcAft>
                <a:spcPts val="800"/>
              </a:spcAft>
            </a:pPr>
            <a:r>
              <a:rPr sz="1600" b="1" i="0">
                <a:solidFill>
                  <a:srgbClr val="B03030"/>
                </a:solidFill>
                <a:latin typeface="Arial"/>
              </a:rPr>
              <a:t>Gender balancing — a real confound</a:t>
            </a:r>
          </a:p>
          <a:p>
            <a:pPr algn="l">
              <a:spcAft>
                <a:spcPts val="800"/>
              </a:spcAft>
            </a:pPr>
            <a:r>
              <a:rPr sz="1400" b="0" i="0">
                <a:solidFill>
                  <a:srgbClr val="1A1A1A"/>
                </a:solidFill>
                <a:latin typeface="Arial"/>
              </a:rPr>
              <a:t>Random draws made P(≥1 same-sex distractor) climb with N: 50% → 99.6%.</a:t>
            </a:r>
          </a:p>
          <a:p>
            <a:pPr algn="l">
              <a:spcAft>
                <a:spcPts val="800"/>
              </a:spcAft>
            </a:pPr>
            <a:r>
              <a:rPr sz="1400" b="0" i="0">
                <a:solidFill>
                  <a:srgbClr val="1A1A1A"/>
                </a:solidFill>
                <a:latin typeface="Arial"/>
              </a:rPr>
              <a:t>Sex is a LARGE effect (Part 1) — it would masquerade as a talker-number effect.</a:t>
            </a:r>
          </a:p>
          <a:p>
            <a:pPr algn="l">
              <a:spcAft>
                <a:spcPts val="800"/>
              </a:spcAft>
            </a:pPr>
            <a:r>
              <a:rPr sz="1400" b="1" i="0">
                <a:solidFill>
                  <a:srgbClr val="1E7A46"/>
                </a:solidFill>
                <a:latin typeface="Arial"/>
              </a:rPr>
              <a:t>Fix: alternate d1…d8 by sex → same-sex count exactly 0.5 / 1 / 2 / 4.</a:t>
            </a:r>
          </a:p>
          <a:p>
            <a:pPr algn="l">
              <a:spcAft>
                <a:spcPts val="0"/>
              </a:spcAft>
            </a:pPr>
            <a:r>
              <a:rPr sz="1300" b="0" i="0">
                <a:solidFill>
                  <a:srgbClr val="5B5B64"/>
                </a:solidFill>
                <a:latin typeface="Arial"/>
              </a:rPr>
              <a:t>Verified across all 600 targets: zero jitter, nesting intact, no self / duplicate speakers.</a:t>
            </a:r>
          </a:p>
        </p:txBody>
      </p:sp>
      <p:sp>
        <p:nvSpPr>
          <p:cNvPr id="7" name="Rectangle 6"/>
          <p:cNvSpPr/>
          <p:nvPr/>
        </p:nvSpPr>
        <p:spPr>
          <a:xfrm>
            <a:off x="6400800" y="1417320"/>
            <a:ext cx="5120640" cy="4846320"/>
          </a:xfrm>
          <a:prstGeom prst="rect">
            <a:avLst/>
          </a:prstGeom>
          <a:solidFill>
            <a:srgbClr val="E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645920"/>
            <a:ext cx="4572000" cy="4389120"/>
          </a:xfrm>
          <a:prstGeom prst="rect">
            <a:avLst/>
          </a:prstGeom>
          <a:noFill/>
        </p:spPr>
        <p:txBody>
          <a:bodyPr wrap="square" anchor="t" lIns="45720" rIns="45720" tIns="18288" bIns="18288">
            <a:spAutoFit/>
          </a:bodyPr>
          <a:lstStyle/>
          <a:p>
            <a:pPr algn="l">
              <a:spcAft>
                <a:spcPts val="800"/>
              </a:spcAft>
            </a:pPr>
            <a:r>
              <a:rPr sz="1600" b="1" i="0">
                <a:solidFill>
                  <a:srgbClr val="1F3B73"/>
                </a:solidFill>
                <a:latin typeface="Arial"/>
              </a:rPr>
              <a:t>ISSN control condition</a:t>
            </a:r>
          </a:p>
          <a:p>
            <a:pPr algn="l">
              <a:spcAft>
                <a:spcPts val="800"/>
              </a:spcAft>
            </a:pPr>
            <a:r>
              <a:rPr sz="1400" b="0" i="0">
                <a:solidFill>
                  <a:srgbClr val="1A1A1A"/>
                </a:solidFill>
                <a:latin typeface="Arial"/>
              </a:rPr>
              <a:t>Spectrally-matched STATIONARY noise — gapless and contentless.</a:t>
            </a:r>
          </a:p>
          <a:p>
            <a:pPr algn="l">
              <a:spcAft>
                <a:spcPts val="800"/>
              </a:spcAft>
            </a:pPr>
            <a:r>
              <a:rPr sz="1400" b="0" i="0">
                <a:solidFill>
                  <a:srgbClr val="1A1A1A"/>
                </a:solidFill>
                <a:latin typeface="Arial"/>
              </a:rPr>
              <a:t>Separates information masking from 'glimpsing' into gaps between words.</a:t>
            </a:r>
          </a:p>
          <a:p>
            <a:pPr algn="l">
              <a:spcAft>
                <a:spcPts val="800"/>
              </a:spcAft>
            </a:pPr>
            <a:r>
              <a:rPr sz="1400" b="0" i="0">
                <a:solidFill>
                  <a:srgbClr val="1A1A1A"/>
                </a:solidFill>
                <a:latin typeface="Arial"/>
              </a:rPr>
              <a:t>If glimpsing drove the effect, speech (which has gaps) would be EASIER than gapless noise.</a:t>
            </a:r>
          </a:p>
          <a:p>
            <a:pPr algn="l">
              <a:spcAft>
                <a:spcPts val="600"/>
              </a:spcAft>
            </a:pPr>
            <a:r>
              <a:rPr sz="1300" b="0" i="0">
                <a:solidFill>
                  <a:srgbClr val="5B5B64"/>
                </a:solidFill>
                <a:latin typeface="Arial"/>
              </a:rPr>
              <a:t>Also: 1-talker split into one_same / one_diff → free Part-1 (Fig 2a/2b) anchors.</a:t>
            </a:r>
          </a:p>
        </p:txBody>
      </p:sp>
      <p:sp>
        <p:nvSpPr>
          <p:cNvPr id="9" name="TextBox 8"/>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11/19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PART 2 · RESULT 1</a:t>
            </a:r>
          </a:p>
          <a:p>
            <a:pPr algn="l">
              <a:spcAft>
                <a:spcPts val="600"/>
              </a:spcAft>
            </a:pPr>
            <a:r>
              <a:rPr sz="2800" b="1" i="0">
                <a:solidFill>
                  <a:srgbClr val="1A1A1A"/>
                </a:solidFill>
                <a:latin typeface="Arial"/>
              </a:rPr>
              <a:t>More competing talkers reduce target-word accuracy</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multi_talker_final.png"/>
          <p:cNvPicPr>
            <a:picLocks noChangeAspect="1"/>
          </p:cNvPicPr>
          <p:nvPr/>
        </p:nvPicPr>
        <p:blipFill>
          <a:blip r:embed="rId2"/>
          <a:stretch>
            <a:fillRect/>
          </a:stretch>
        </p:blipFill>
        <p:spPr>
          <a:xfrm>
            <a:off x="1806055" y="1234440"/>
            <a:ext cx="8549410" cy="3840480"/>
          </a:xfrm>
          <a:prstGeom prst="rect">
            <a:avLst/>
          </a:prstGeom>
        </p:spPr>
      </p:pic>
      <p:sp>
        <p:nvSpPr>
          <p:cNvPr id="6" name="TextBox 5"/>
          <p:cNvSpPr txBox="1"/>
          <p:nvPr/>
        </p:nvSpPr>
        <p:spPr>
          <a:xfrm>
            <a:off x="640080" y="5257800"/>
            <a:ext cx="10972800" cy="1371600"/>
          </a:xfrm>
          <a:prstGeom prst="rect">
            <a:avLst/>
          </a:prstGeom>
          <a:noFill/>
        </p:spPr>
        <p:txBody>
          <a:bodyPr wrap="square" anchor="t" lIns="45720" rIns="45720" tIns="18288" bIns="18288">
            <a:spAutoFit/>
          </a:bodyPr>
          <a:lstStyle/>
          <a:p>
            <a:pPr algn="l">
              <a:spcAft>
                <a:spcPts val="600"/>
              </a:spcAft>
            </a:pPr>
            <a:r>
              <a:rPr sz="1500" b="1" i="0">
                <a:solidFill>
                  <a:srgbClr val="1A1A1A"/>
                </a:solidFill>
                <a:latin typeface="Arial"/>
              </a:rPr>
              <a:t>Accuracy (left): </a:t>
            </a:r>
            <a:r>
              <a:rPr sz="1500" b="0" i="0">
                <a:solidFill>
                  <a:srgbClr val="1A1A1A"/>
                </a:solidFill>
                <a:latin typeface="Arial"/>
              </a:rPr>
              <a:t>monotonic in SNR; pooled one &gt; two &gt; four ≈ babble; +inf = 88%.   </a:t>
            </a:r>
            <a:r>
              <a:rPr sz="1500" b="1" i="0">
                <a:solidFill>
                  <a:srgbClr val="1A1A1A"/>
                </a:solidFill>
                <a:latin typeface="Arial"/>
              </a:rPr>
              <a:t>Confusion (right): </a:t>
            </a:r>
            <a:r>
              <a:rPr sz="1500" b="0" i="0">
                <a:solidFill>
                  <a:srgbClr val="1A1A1A"/>
                </a:solidFill>
                <a:latin typeface="Arial"/>
              </a:rPr>
              <a:t>specific distractor-word reports fall as the masker becomes more noise-like.</a:t>
            </a:r>
          </a:p>
          <a:p>
            <a:pPr algn="l">
              <a:spcAft>
                <a:spcPts val="600"/>
              </a:spcAft>
            </a:pPr>
            <a:r>
              <a:rPr sz="1300" b="0" i="1">
                <a:solidFill>
                  <a:srgbClr val="5B5B64"/>
                </a:solidFill>
                <a:latin typeface="Arial"/>
              </a:rPr>
              <a:t>Paper-compatible scoring · pooled one-talker sex · 95% CI clustered by 149 target speakers</a:t>
            </a:r>
          </a:p>
        </p:txBody>
      </p:sp>
      <p:sp>
        <p:nvSpPr>
          <p:cNvPr id="7" name="TextBox 6"/>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12/19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PART 2 · RESULT 2</a:t>
            </a:r>
          </a:p>
          <a:p>
            <a:pPr algn="l">
              <a:spcAft>
                <a:spcPts val="600"/>
              </a:spcAft>
            </a:pPr>
            <a:r>
              <a:rPr sz="2800" b="1" i="0">
                <a:solidFill>
                  <a:srgbClr val="1A1A1A"/>
                </a:solidFill>
                <a:latin typeface="Arial"/>
              </a:rPr>
              <a:t>Speech maskers remain harder than matched stationary noise</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issn_information_masking_final.png"/>
          <p:cNvPicPr>
            <a:picLocks noChangeAspect="1"/>
          </p:cNvPicPr>
          <p:nvPr/>
        </p:nvPicPr>
        <p:blipFill>
          <a:blip r:embed="rId2"/>
          <a:stretch>
            <a:fillRect/>
          </a:stretch>
        </p:blipFill>
        <p:spPr>
          <a:xfrm>
            <a:off x="548640" y="1741973"/>
            <a:ext cx="6583680" cy="4379894"/>
          </a:xfrm>
          <a:prstGeom prst="rect">
            <a:avLst/>
          </a:prstGeom>
        </p:spPr>
      </p:pic>
      <p:sp>
        <p:nvSpPr>
          <p:cNvPr id="6" name="TextBox 5"/>
          <p:cNvSpPr txBox="1"/>
          <p:nvPr/>
        </p:nvSpPr>
        <p:spPr>
          <a:xfrm>
            <a:off x="7315200" y="1463040"/>
            <a:ext cx="4297680" cy="4937760"/>
          </a:xfrm>
          <a:prstGeom prst="rect">
            <a:avLst/>
          </a:prstGeom>
          <a:noFill/>
        </p:spPr>
        <p:txBody>
          <a:bodyPr wrap="square" anchor="t" lIns="45720" rIns="45720" tIns="18288" bIns="18288">
            <a:spAutoFit/>
          </a:bodyPr>
          <a:lstStyle/>
          <a:p>
            <a:pPr algn="l">
              <a:spcAft>
                <a:spcPts val="1000"/>
              </a:spcAft>
            </a:pPr>
            <a:r>
              <a:rPr sz="1400" b="1" i="0">
                <a:solidFill>
                  <a:srgbClr val="9C2E6D"/>
                </a:solidFill>
                <a:latin typeface="Arial"/>
              </a:rPr>
              <a:t>ISSN = spectrally-matched stationary noise (gapless, no words)</a:t>
            </a:r>
          </a:p>
          <a:p>
            <a:pPr algn="l">
              <a:spcAft>
                <a:spcPts val="900"/>
              </a:spcAft>
            </a:pPr>
            <a:r>
              <a:rPr sz="1400" b="0" i="0">
                <a:solidFill>
                  <a:srgbClr val="1A1A1A"/>
                </a:solidFill>
                <a:latin typeface="Arial"/>
              </a:rPr>
              <a:t>• Four-talker and babble accuracy is below ISSN at every tested SNR.</a:t>
            </a:r>
          </a:p>
          <a:p>
            <a:pPr algn="l">
              <a:spcAft>
                <a:spcPts val="900"/>
              </a:spcAft>
            </a:pPr>
            <a:r>
              <a:rPr sz="1400" b="0" i="0">
                <a:solidFill>
                  <a:srgbClr val="1A1A1A"/>
                </a:solidFill>
                <a:latin typeface="Arial"/>
              </a:rPr>
              <a:t>• ISSN is gapless, whereas speech contains pauses that should permit glimpsing.</a:t>
            </a:r>
          </a:p>
          <a:p>
            <a:pPr algn="l">
              <a:spcAft>
                <a:spcPts val="900"/>
              </a:spcAft>
            </a:pPr>
            <a:r>
              <a:rPr sz="1400" b="0" i="0">
                <a:solidFill>
                  <a:srgbClr val="1A1A1A"/>
                </a:solidFill>
                <a:latin typeface="Arial"/>
              </a:rPr>
              <a:t>• The remaining speech disadvantage is consistent with information masking beyond gap-listening.</a:t>
            </a:r>
          </a:p>
          <a:p>
            <a:pPr algn="l">
              <a:spcAft>
                <a:spcPts val="900"/>
              </a:spcAft>
            </a:pPr>
            <a:r>
              <a:rPr sz="1400" b="0" i="0">
                <a:solidFill>
                  <a:srgbClr val="1A1A1A"/>
                </a:solidFill>
                <a:latin typeface="Arial"/>
              </a:rPr>
              <a:t>• This is supportive evidence, not a proof: corpus and masker construction still differ from the paper.</a:t>
            </a:r>
          </a:p>
        </p:txBody>
      </p:sp>
      <p:sp>
        <p:nvSpPr>
          <p:cNvPr id="7" name="TextBox 6"/>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13/19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PART 2 · RESULT 3</a:t>
            </a:r>
          </a:p>
          <a:p>
            <a:pPr algn="l">
              <a:spcAft>
                <a:spcPts val="600"/>
              </a:spcAft>
            </a:pPr>
            <a:r>
              <a:rPr sz="2800" b="1" i="0">
                <a:solidFill>
                  <a:srgbClr val="1A1A1A"/>
                </a:solidFill>
                <a:latin typeface="Arial"/>
              </a:rPr>
              <a:t>The anchored pool fixed the confusion underestimate</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63040"/>
            <a:ext cx="3383280" cy="210312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3017520" cy="1737360"/>
          </a:xfrm>
          <a:prstGeom prst="rect">
            <a:avLst/>
          </a:prstGeom>
          <a:noFill/>
        </p:spPr>
        <p:txBody>
          <a:bodyPr wrap="square" anchor="ctr" lIns="45720" rIns="45720" tIns="18288" bIns="18288">
            <a:spAutoFit/>
          </a:bodyPr>
          <a:lstStyle/>
          <a:p>
            <a:pPr algn="ctr">
              <a:spcAft>
                <a:spcPts val="400"/>
              </a:spcAft>
            </a:pPr>
            <a:r>
              <a:rPr sz="1500" b="1" i="0">
                <a:solidFill>
                  <a:srgbClr val="5B5B64"/>
                </a:solidFill>
                <a:latin typeface="Arial"/>
              </a:rPr>
              <a:t>Before (random)</a:t>
            </a:r>
          </a:p>
          <a:p>
            <a:pPr algn="ctr">
              <a:spcAft>
                <a:spcPts val="200"/>
              </a:spcAft>
            </a:pPr>
            <a:r>
              <a:rPr sz="4000" b="1" i="0">
                <a:solidFill>
                  <a:srgbClr val="B03030"/>
                </a:solidFill>
                <a:latin typeface="Arial"/>
              </a:rPr>
              <a:t>7.2%</a:t>
            </a:r>
          </a:p>
          <a:p>
            <a:pPr algn="ctr">
              <a:spcAft>
                <a:spcPts val="600"/>
              </a:spcAft>
            </a:pPr>
            <a:r>
              <a:rPr sz="1200" b="0" i="0">
                <a:solidFill>
                  <a:srgbClr val="5B5B64"/>
                </a:solidFill>
                <a:latin typeface="Arial"/>
              </a:rPr>
              <a:t>same-sex confusion @ -9 dB</a:t>
            </a:r>
          </a:p>
        </p:txBody>
      </p:sp>
      <p:sp>
        <p:nvSpPr>
          <p:cNvPr id="7" name="Rectangle 6"/>
          <p:cNvSpPr/>
          <p:nvPr/>
        </p:nvSpPr>
        <p:spPr>
          <a:xfrm>
            <a:off x="4160520" y="2286000"/>
            <a:ext cx="457200" cy="4572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54880" y="1463040"/>
            <a:ext cx="3383280" cy="2103120"/>
          </a:xfrm>
          <a:prstGeom prst="rect">
            <a:avLst/>
          </a:prstGeom>
          <a:solidFill>
            <a:srgbClr val="E6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7760" y="1645920"/>
            <a:ext cx="3017520" cy="1737360"/>
          </a:xfrm>
          <a:prstGeom prst="rect">
            <a:avLst/>
          </a:prstGeom>
          <a:noFill/>
        </p:spPr>
        <p:txBody>
          <a:bodyPr wrap="square" anchor="ctr" lIns="45720" rIns="45720" tIns="18288" bIns="18288">
            <a:spAutoFit/>
          </a:bodyPr>
          <a:lstStyle/>
          <a:p>
            <a:pPr algn="ctr">
              <a:spcAft>
                <a:spcPts val="400"/>
              </a:spcAft>
            </a:pPr>
            <a:r>
              <a:rPr sz="1500" b="1" i="0">
                <a:solidFill>
                  <a:srgbClr val="5B5B64"/>
                </a:solidFill>
                <a:latin typeface="Arial"/>
              </a:rPr>
              <a:t>After (anchored)</a:t>
            </a:r>
          </a:p>
          <a:p>
            <a:pPr algn="ctr">
              <a:spcAft>
                <a:spcPts val="200"/>
              </a:spcAft>
            </a:pPr>
            <a:r>
              <a:rPr sz="4000" b="1" i="0">
                <a:solidFill>
                  <a:srgbClr val="1E7A46"/>
                </a:solidFill>
                <a:latin typeface="Arial"/>
              </a:rPr>
              <a:t>28.0%</a:t>
            </a:r>
          </a:p>
          <a:p>
            <a:pPr algn="ctr">
              <a:spcAft>
                <a:spcPts val="600"/>
              </a:spcAft>
            </a:pPr>
            <a:r>
              <a:rPr sz="1200" b="0" i="0">
                <a:solidFill>
                  <a:srgbClr val="5B5B64"/>
                </a:solidFill>
                <a:latin typeface="Arial"/>
              </a:rPr>
              <a:t>same-sex confusion @ -9 dB</a:t>
            </a:r>
          </a:p>
        </p:txBody>
      </p:sp>
      <p:sp>
        <p:nvSpPr>
          <p:cNvPr id="10" name="Rectangle 9"/>
          <p:cNvSpPr/>
          <p:nvPr/>
        </p:nvSpPr>
        <p:spPr>
          <a:xfrm>
            <a:off x="8321040" y="1463040"/>
            <a:ext cx="3200400" cy="210312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1645920"/>
            <a:ext cx="2834640" cy="1737360"/>
          </a:xfrm>
          <a:prstGeom prst="rect">
            <a:avLst/>
          </a:prstGeom>
          <a:noFill/>
        </p:spPr>
        <p:txBody>
          <a:bodyPr wrap="square" anchor="ctr" lIns="45720" rIns="45720" tIns="18288" bIns="18288">
            <a:spAutoFit/>
          </a:bodyPr>
          <a:lstStyle/>
          <a:p>
            <a:pPr algn="ctr">
              <a:spcAft>
                <a:spcPts val="400"/>
              </a:spcAft>
            </a:pPr>
            <a:r>
              <a:rPr sz="1500" b="1" i="0">
                <a:solidFill>
                  <a:srgbClr val="5B5B64"/>
                </a:solidFill>
                <a:latin typeface="Arial"/>
              </a:rPr>
              <a:t>Paper</a:t>
            </a:r>
          </a:p>
          <a:p>
            <a:pPr algn="ctr">
              <a:spcAft>
                <a:spcPts val="200"/>
              </a:spcAft>
            </a:pPr>
            <a:r>
              <a:rPr sz="4000" b="1" i="0">
                <a:solidFill>
                  <a:srgbClr val="1A1A1A"/>
                </a:solidFill>
                <a:latin typeface="Arial"/>
              </a:rPr>
              <a:t>~41%</a:t>
            </a:r>
          </a:p>
          <a:p>
            <a:pPr algn="ctr">
              <a:spcAft>
                <a:spcPts val="600"/>
              </a:spcAft>
            </a:pPr>
            <a:r>
              <a:rPr sz="1200" b="0" i="0">
                <a:solidFill>
                  <a:srgbClr val="5B5B64"/>
                </a:solidFill>
                <a:latin typeface="Arial"/>
              </a:rPr>
              <a:t>target for this condition</a:t>
            </a:r>
          </a:p>
        </p:txBody>
      </p:sp>
      <p:sp>
        <p:nvSpPr>
          <p:cNvPr id="12" name="TextBox 11"/>
          <p:cNvSpPr txBox="1"/>
          <p:nvPr/>
        </p:nvSpPr>
        <p:spPr>
          <a:xfrm>
            <a:off x="640080" y="3931920"/>
            <a:ext cx="10972800" cy="2377440"/>
          </a:xfrm>
          <a:prstGeom prst="rect">
            <a:avLst/>
          </a:prstGeom>
          <a:noFill/>
        </p:spPr>
        <p:txBody>
          <a:bodyPr wrap="square" anchor="t" lIns="45720" rIns="45720" tIns="18288" bIns="18288">
            <a:spAutoFit/>
          </a:bodyPr>
          <a:lstStyle/>
          <a:p>
            <a:pPr algn="l">
              <a:spcAft>
                <a:spcPts val="1200"/>
              </a:spcAft>
            </a:pPr>
            <a:r>
              <a:rPr sz="1800" b="1" i="0">
                <a:solidFill>
                  <a:srgbClr val="1A1A1A"/>
                </a:solidFill>
                <a:latin typeface="Arial"/>
              </a:rPr>
              <a:t>From 5.7x too low to 1.5x too low — the root-cause diagnosis was correct.</a:t>
            </a:r>
          </a:p>
          <a:p>
            <a:pPr algn="l">
              <a:spcAft>
                <a:spcPts val="1000"/>
              </a:spcAft>
            </a:pPr>
            <a:r>
              <a:rPr sz="1500" b="1" i="0">
                <a:solidFill>
                  <a:srgbClr val="9C2E6D"/>
                </a:solidFill>
                <a:latin typeface="Arial"/>
              </a:rPr>
              <a:t>An honest reversal: </a:t>
            </a:r>
            <a:r>
              <a:rPr sz="1500" b="0" i="0">
                <a:solidFill>
                  <a:srgbClr val="1A1A1A"/>
                </a:solidFill>
                <a:latin typeface="Arial"/>
              </a:rPr>
              <a:t>confusion is HIGHEST for a single same-sex talker and DROPS as talkers are added — opposite to our pre-registered guess, but consistent with the paper. With many voices the masker becomes noise-like, so the model emits garbage rather than a specific distractor word.</a:t>
            </a:r>
          </a:p>
        </p:txBody>
      </p:sp>
      <p:sp>
        <p:nvSpPr>
          <p:cNvPr id="13" name="TextBox 12"/>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14/19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VALIDATION</a:t>
            </a:r>
          </a:p>
          <a:p>
            <a:pPr algn="l">
              <a:spcAft>
                <a:spcPts val="600"/>
              </a:spcAft>
            </a:pPr>
            <a:r>
              <a:rPr sz="2800" b="1" i="0">
                <a:solidFill>
                  <a:srgbClr val="1A1A1A"/>
                </a:solidFill>
                <a:latin typeface="Arial"/>
              </a:rPr>
              <a:t>Self-consistency checks — why the pattern is credible</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10881360" cy="4754880"/>
          </a:xfrm>
          <a:prstGeom prst="rect">
            <a:avLst/>
          </a:prstGeom>
          <a:noFill/>
        </p:spPr>
        <p:txBody>
          <a:bodyPr wrap="square" anchor="t" lIns="45720" rIns="45720" tIns="18288" bIns="18288">
            <a:spAutoFit/>
          </a:bodyPr>
          <a:lstStyle/>
          <a:p>
            <a:pPr algn="l">
              <a:spcAft>
                <a:spcPts val="1400"/>
              </a:spcAft>
            </a:pPr>
            <a:r>
              <a:rPr sz="1600" b="1" i="0">
                <a:solidFill>
                  <a:srgbClr val="1A1A1A"/>
                </a:solidFill>
                <a:latin typeface="Arial"/>
              </a:rPr>
              <a:t>• no-distractor = 88.0% </a:t>
            </a:r>
            <a:r>
              <a:rPr sz="1600" b="0" i="0">
                <a:solidFill>
                  <a:srgbClr val="1A1A1A"/>
                </a:solidFill>
                <a:latin typeface="Arial"/>
              </a:rPr>
              <a:t>— matches the +inf anchor from Part 1 exactly.</a:t>
            </a:r>
          </a:p>
          <a:p>
            <a:pPr algn="l">
              <a:spcAft>
                <a:spcPts val="1400"/>
              </a:spcAft>
            </a:pPr>
            <a:r>
              <a:rPr sz="1600" b="1" i="0">
                <a:solidFill>
                  <a:srgbClr val="1A1A1A"/>
                </a:solidFill>
                <a:latin typeface="Arial"/>
              </a:rPr>
              <a:t>• one_same / one_diff track the Part-1 single-distractor curves</a:t>
            </a:r>
            <a:r>
              <a:rPr sz="1600" b="0" i="0">
                <a:solidFill>
                  <a:srgbClr val="1A1A1A"/>
                </a:solidFill>
                <a:latin typeface="Arial"/>
              </a:rPr>
              <a:t>, 2–6 points lower (expected: a different, anchored distractor pool).</a:t>
            </a:r>
          </a:p>
          <a:p>
            <a:pPr algn="l">
              <a:spcAft>
                <a:spcPts val="1400"/>
              </a:spcAft>
            </a:pPr>
            <a:r>
              <a:rPr sz="1600" b="1" i="0">
                <a:solidFill>
                  <a:srgbClr val="1A1A1A"/>
                </a:solidFill>
                <a:latin typeface="Arial"/>
              </a:rPr>
              <a:t>• N=1 reduces to the single-distractor case</a:t>
            </a:r>
            <a:r>
              <a:rPr sz="1600" b="0" i="0">
                <a:solidFill>
                  <a:srgbClr val="1A1A1A"/>
                </a:solidFill>
                <a:latin typeface="Arial"/>
              </a:rPr>
              <a:t> that was already reproduced — direction and shape hold.</a:t>
            </a:r>
          </a:p>
          <a:p>
            <a:pPr algn="l">
              <a:spcAft>
                <a:spcPts val="1400"/>
              </a:spcAft>
            </a:pPr>
            <a:r>
              <a:rPr sz="1600" b="1" i="0">
                <a:solidFill>
                  <a:srgbClr val="1A1A1A"/>
                </a:solidFill>
                <a:latin typeface="Arial"/>
              </a:rPr>
              <a:t>• Gender balancing verified across all 600 targets</a:t>
            </a:r>
            <a:r>
              <a:rPr sz="1600" b="0" i="0">
                <a:solidFill>
                  <a:srgbClr val="1A1A1A"/>
                </a:solidFill>
                <a:latin typeface="Arial"/>
              </a:rPr>
              <a:t>: exact same-sex counts, nesting intact, no self/duplicate speakers.</a:t>
            </a:r>
          </a:p>
          <a:p>
            <a:pPr algn="l">
              <a:spcAft>
                <a:spcPts val="0"/>
              </a:spcAft>
            </a:pPr>
            <a:r>
              <a:rPr sz="1600" b="1" i="0">
                <a:solidFill>
                  <a:srgbClr val="1E7A46"/>
                </a:solidFill>
                <a:latin typeface="Arial"/>
              </a:rPr>
              <a:t>→ The results are internally coherent; the exact Windows run script still needs to be archived locally.</a:t>
            </a:r>
          </a:p>
        </p:txBody>
      </p:sp>
      <p:sp>
        <p:nvSpPr>
          <p:cNvPr id="6" name="TextBox 5"/>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15/19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SUMMARY</a:t>
            </a:r>
          </a:p>
          <a:p>
            <a:pPr algn="l">
              <a:spcAft>
                <a:spcPts val="600"/>
              </a:spcAft>
            </a:pPr>
            <a:r>
              <a:rPr sz="2800" b="1" i="0">
                <a:solidFill>
                  <a:srgbClr val="1A1A1A"/>
                </a:solidFill>
                <a:latin typeface="Arial"/>
              </a:rPr>
              <a:t>What reproduced</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17320"/>
            <a:ext cx="10881360" cy="64008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563624"/>
            <a:ext cx="310896" cy="310896"/>
          </a:xfrm>
          <a:prstGeom prst="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1417320"/>
            <a:ext cx="5120640" cy="640080"/>
          </a:xfrm>
          <a:prstGeom prst="rect">
            <a:avLst/>
          </a:prstGeom>
          <a:noFill/>
        </p:spPr>
        <p:txBody>
          <a:bodyPr wrap="square" anchor="ctr" lIns="45720" rIns="45720" tIns="18288" bIns="18288">
            <a:spAutoFit/>
          </a:bodyPr>
          <a:lstStyle/>
          <a:p>
            <a:pPr algn="l">
              <a:spcAft>
                <a:spcPts val="600"/>
              </a:spcAft>
            </a:pPr>
            <a:r>
              <a:rPr sz="1500" b="1" i="0">
                <a:solidFill>
                  <a:srgbClr val="1A1A1A"/>
                </a:solidFill>
                <a:latin typeface="Arial"/>
              </a:rPr>
              <a:t>Model validity (clean)</a:t>
            </a:r>
          </a:p>
        </p:txBody>
      </p:sp>
      <p:sp>
        <p:nvSpPr>
          <p:cNvPr id="8" name="TextBox 7"/>
          <p:cNvSpPr txBox="1"/>
          <p:nvPr/>
        </p:nvSpPr>
        <p:spPr>
          <a:xfrm>
            <a:off x="6492240" y="1417320"/>
            <a:ext cx="4846320" cy="640080"/>
          </a:xfrm>
          <a:prstGeom prst="rect">
            <a:avLst/>
          </a:prstGeom>
          <a:noFill/>
        </p:spPr>
        <p:txBody>
          <a:bodyPr wrap="square" anchor="ctr" lIns="45720" rIns="45720" tIns="18288" bIns="18288">
            <a:spAutoFit/>
          </a:bodyPr>
          <a:lstStyle/>
          <a:p>
            <a:pPr algn="l">
              <a:spcAft>
                <a:spcPts val="600"/>
              </a:spcAft>
            </a:pPr>
            <a:r>
              <a:rPr sz="1400" b="0" i="0">
                <a:solidFill>
                  <a:srgbClr val="5B5B64"/>
                </a:solidFill>
                <a:latin typeface="Arial"/>
              </a:rPr>
              <a:t>88.6% vs 0.1% chance</a:t>
            </a:r>
          </a:p>
        </p:txBody>
      </p:sp>
      <p:sp>
        <p:nvSpPr>
          <p:cNvPr id="9" name="Rectangle 8"/>
          <p:cNvSpPr/>
          <p:nvPr/>
        </p:nvSpPr>
        <p:spPr>
          <a:xfrm>
            <a:off x="640080" y="2167128"/>
            <a:ext cx="1088136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2313432"/>
            <a:ext cx="310896" cy="310896"/>
          </a:xfrm>
          <a:prstGeom prst="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2167128"/>
            <a:ext cx="5120640" cy="640080"/>
          </a:xfrm>
          <a:prstGeom prst="rect">
            <a:avLst/>
          </a:prstGeom>
          <a:noFill/>
        </p:spPr>
        <p:txBody>
          <a:bodyPr wrap="square" anchor="ctr" lIns="45720" rIns="45720" tIns="18288" bIns="18288">
            <a:spAutoFit/>
          </a:bodyPr>
          <a:lstStyle/>
          <a:p>
            <a:pPr algn="l">
              <a:spcAft>
                <a:spcPts val="600"/>
              </a:spcAft>
            </a:pPr>
            <a:r>
              <a:rPr sz="1500" b="1" i="0">
                <a:solidFill>
                  <a:srgbClr val="1A1A1A"/>
                </a:solidFill>
                <a:latin typeface="Arial"/>
              </a:rPr>
              <a:t>Accuracy vs SNR</a:t>
            </a:r>
          </a:p>
        </p:txBody>
      </p:sp>
      <p:sp>
        <p:nvSpPr>
          <p:cNvPr id="12" name="TextBox 11"/>
          <p:cNvSpPr txBox="1"/>
          <p:nvPr/>
        </p:nvSpPr>
        <p:spPr>
          <a:xfrm>
            <a:off x="6492240" y="2167128"/>
            <a:ext cx="4846320" cy="640080"/>
          </a:xfrm>
          <a:prstGeom prst="rect">
            <a:avLst/>
          </a:prstGeom>
          <a:noFill/>
        </p:spPr>
        <p:txBody>
          <a:bodyPr wrap="square" anchor="ctr" lIns="45720" rIns="45720" tIns="18288" bIns="18288">
            <a:spAutoFit/>
          </a:bodyPr>
          <a:lstStyle/>
          <a:p>
            <a:pPr algn="l">
              <a:spcAft>
                <a:spcPts val="600"/>
              </a:spcAft>
            </a:pPr>
            <a:r>
              <a:rPr sz="1400" b="0" i="0">
                <a:solidFill>
                  <a:srgbClr val="5B5B64"/>
                </a:solidFill>
                <a:latin typeface="Arial"/>
              </a:rPr>
              <a:t>monotonic rise, both experiments</a:t>
            </a:r>
          </a:p>
        </p:txBody>
      </p:sp>
      <p:sp>
        <p:nvSpPr>
          <p:cNvPr id="13" name="Rectangle 12"/>
          <p:cNvSpPr/>
          <p:nvPr/>
        </p:nvSpPr>
        <p:spPr>
          <a:xfrm>
            <a:off x="640080" y="2916936"/>
            <a:ext cx="10881360" cy="64008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063240"/>
            <a:ext cx="310896" cy="310896"/>
          </a:xfrm>
          <a:prstGeom prst="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2916936"/>
            <a:ext cx="5120640" cy="640080"/>
          </a:xfrm>
          <a:prstGeom prst="rect">
            <a:avLst/>
          </a:prstGeom>
          <a:noFill/>
        </p:spPr>
        <p:txBody>
          <a:bodyPr wrap="square" anchor="ctr" lIns="45720" rIns="45720" tIns="18288" bIns="18288">
            <a:spAutoFit/>
          </a:bodyPr>
          <a:lstStyle/>
          <a:p>
            <a:pPr algn="l">
              <a:spcAft>
                <a:spcPts val="600"/>
              </a:spcAft>
            </a:pPr>
            <a:r>
              <a:rPr sz="1500" b="1" i="0">
                <a:solidFill>
                  <a:srgbClr val="1A1A1A"/>
                </a:solidFill>
                <a:latin typeface="Arial"/>
              </a:rPr>
              <a:t>Different-sex &gt; same-sex</a:t>
            </a:r>
          </a:p>
        </p:txBody>
      </p:sp>
      <p:sp>
        <p:nvSpPr>
          <p:cNvPr id="16" name="TextBox 15"/>
          <p:cNvSpPr txBox="1"/>
          <p:nvPr/>
        </p:nvSpPr>
        <p:spPr>
          <a:xfrm>
            <a:off x="6492240" y="2916936"/>
            <a:ext cx="4846320" cy="640080"/>
          </a:xfrm>
          <a:prstGeom prst="rect">
            <a:avLst/>
          </a:prstGeom>
          <a:noFill/>
        </p:spPr>
        <p:txBody>
          <a:bodyPr wrap="square" anchor="ctr" lIns="45720" rIns="45720" tIns="18288" bIns="18288">
            <a:spAutoFit/>
          </a:bodyPr>
          <a:lstStyle/>
          <a:p>
            <a:pPr algn="l">
              <a:spcAft>
                <a:spcPts val="600"/>
              </a:spcAft>
            </a:pPr>
            <a:r>
              <a:rPr sz="1400" b="0" i="0">
                <a:solidFill>
                  <a:srgbClr val="5B5B64"/>
                </a:solidFill>
                <a:latin typeface="Arial"/>
              </a:rPr>
              <a:t>+9 to +18 percentage points</a:t>
            </a:r>
          </a:p>
        </p:txBody>
      </p:sp>
      <p:sp>
        <p:nvSpPr>
          <p:cNvPr id="17" name="Rectangle 16"/>
          <p:cNvSpPr/>
          <p:nvPr/>
        </p:nvSpPr>
        <p:spPr>
          <a:xfrm>
            <a:off x="640080" y="3666744"/>
            <a:ext cx="1088136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3813048"/>
            <a:ext cx="310896" cy="310896"/>
          </a:xfrm>
          <a:prstGeom prst="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3666744"/>
            <a:ext cx="5120640" cy="640080"/>
          </a:xfrm>
          <a:prstGeom prst="rect">
            <a:avLst/>
          </a:prstGeom>
          <a:noFill/>
        </p:spPr>
        <p:txBody>
          <a:bodyPr wrap="square" anchor="ctr" lIns="45720" rIns="45720" tIns="18288" bIns="18288">
            <a:spAutoFit/>
          </a:bodyPr>
          <a:lstStyle/>
          <a:p>
            <a:pPr algn="l">
              <a:spcAft>
                <a:spcPts val="600"/>
              </a:spcAft>
            </a:pPr>
            <a:r>
              <a:rPr sz="1500" b="1" i="0">
                <a:solidFill>
                  <a:srgbClr val="1A1A1A"/>
                </a:solidFill>
                <a:latin typeface="Arial"/>
              </a:rPr>
              <a:t>More talkers → harder</a:t>
            </a:r>
          </a:p>
        </p:txBody>
      </p:sp>
      <p:sp>
        <p:nvSpPr>
          <p:cNvPr id="20" name="TextBox 19"/>
          <p:cNvSpPr txBox="1"/>
          <p:nvPr/>
        </p:nvSpPr>
        <p:spPr>
          <a:xfrm>
            <a:off x="6492240" y="3666744"/>
            <a:ext cx="4846320" cy="640080"/>
          </a:xfrm>
          <a:prstGeom prst="rect">
            <a:avLst/>
          </a:prstGeom>
          <a:noFill/>
        </p:spPr>
        <p:txBody>
          <a:bodyPr wrap="square" anchor="ctr" lIns="45720" rIns="45720" tIns="18288" bIns="18288">
            <a:spAutoFit/>
          </a:bodyPr>
          <a:lstStyle/>
          <a:p>
            <a:pPr algn="l">
              <a:spcAft>
                <a:spcPts val="600"/>
              </a:spcAft>
            </a:pPr>
            <a:r>
              <a:rPr sz="1400" b="0" i="0">
                <a:solidFill>
                  <a:srgbClr val="5B5B64"/>
                </a:solidFill>
                <a:latin typeface="Arial"/>
              </a:rPr>
              <a:t>pooled one &gt; two &gt; four ≈ babble</a:t>
            </a:r>
          </a:p>
        </p:txBody>
      </p:sp>
      <p:sp>
        <p:nvSpPr>
          <p:cNvPr id="21" name="Rectangle 20"/>
          <p:cNvSpPr/>
          <p:nvPr/>
        </p:nvSpPr>
        <p:spPr>
          <a:xfrm>
            <a:off x="640080" y="4416552"/>
            <a:ext cx="10881360" cy="64008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4562856"/>
            <a:ext cx="310896" cy="310896"/>
          </a:xfrm>
          <a:prstGeom prst="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71600" y="4416552"/>
            <a:ext cx="5120640" cy="640080"/>
          </a:xfrm>
          <a:prstGeom prst="rect">
            <a:avLst/>
          </a:prstGeom>
          <a:noFill/>
        </p:spPr>
        <p:txBody>
          <a:bodyPr wrap="square" anchor="ctr" lIns="45720" rIns="45720" tIns="18288" bIns="18288">
            <a:spAutoFit/>
          </a:bodyPr>
          <a:lstStyle/>
          <a:p>
            <a:pPr algn="l">
              <a:spcAft>
                <a:spcPts val="600"/>
              </a:spcAft>
            </a:pPr>
            <a:r>
              <a:rPr sz="1500" b="1" i="0">
                <a:solidFill>
                  <a:srgbClr val="1A1A1A"/>
                </a:solidFill>
                <a:latin typeface="Arial"/>
              </a:rPr>
              <a:t>Confusion direction</a:t>
            </a:r>
          </a:p>
        </p:txBody>
      </p:sp>
      <p:sp>
        <p:nvSpPr>
          <p:cNvPr id="24" name="TextBox 23"/>
          <p:cNvSpPr txBox="1"/>
          <p:nvPr/>
        </p:nvSpPr>
        <p:spPr>
          <a:xfrm>
            <a:off x="6492240" y="4416552"/>
            <a:ext cx="4846320" cy="640080"/>
          </a:xfrm>
          <a:prstGeom prst="rect">
            <a:avLst/>
          </a:prstGeom>
          <a:noFill/>
        </p:spPr>
        <p:txBody>
          <a:bodyPr wrap="square" anchor="ctr" lIns="45720" rIns="45720" tIns="18288" bIns="18288">
            <a:spAutoFit/>
          </a:bodyPr>
          <a:lstStyle/>
          <a:p>
            <a:pPr algn="l">
              <a:spcAft>
                <a:spcPts val="600"/>
              </a:spcAft>
            </a:pPr>
            <a:r>
              <a:rPr sz="1400" b="0" i="0">
                <a:solidFill>
                  <a:srgbClr val="5B5B64"/>
                </a:solidFill>
                <a:latin typeface="Arial"/>
              </a:rPr>
              <a:t>lower SNR &amp; same-sex → more</a:t>
            </a:r>
          </a:p>
        </p:txBody>
      </p:sp>
      <p:sp>
        <p:nvSpPr>
          <p:cNvPr id="25" name="Rectangle 24"/>
          <p:cNvSpPr/>
          <p:nvPr/>
        </p:nvSpPr>
        <p:spPr>
          <a:xfrm>
            <a:off x="640080" y="5166360"/>
            <a:ext cx="1088136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8680" y="5312664"/>
            <a:ext cx="310896" cy="310896"/>
          </a:xfrm>
          <a:prstGeom prst="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71600" y="5166360"/>
            <a:ext cx="5120640" cy="640080"/>
          </a:xfrm>
          <a:prstGeom prst="rect">
            <a:avLst/>
          </a:prstGeom>
          <a:noFill/>
        </p:spPr>
        <p:txBody>
          <a:bodyPr wrap="square" anchor="ctr" lIns="45720" rIns="45720" tIns="18288" bIns="18288">
            <a:spAutoFit/>
          </a:bodyPr>
          <a:lstStyle/>
          <a:p>
            <a:pPr algn="l">
              <a:spcAft>
                <a:spcPts val="600"/>
              </a:spcAft>
            </a:pPr>
            <a:r>
              <a:rPr sz="1500" b="1" i="0">
                <a:solidFill>
                  <a:srgbClr val="1A1A1A"/>
                </a:solidFill>
                <a:latin typeface="Arial"/>
              </a:rPr>
              <a:t>Confusion magnitude</a:t>
            </a:r>
          </a:p>
        </p:txBody>
      </p:sp>
      <p:sp>
        <p:nvSpPr>
          <p:cNvPr id="28" name="TextBox 27"/>
          <p:cNvSpPr txBox="1"/>
          <p:nvPr/>
        </p:nvSpPr>
        <p:spPr>
          <a:xfrm>
            <a:off x="6492240" y="5166360"/>
            <a:ext cx="4846320" cy="640080"/>
          </a:xfrm>
          <a:prstGeom prst="rect">
            <a:avLst/>
          </a:prstGeom>
          <a:noFill/>
        </p:spPr>
        <p:txBody>
          <a:bodyPr wrap="square" anchor="ctr" lIns="45720" rIns="45720" tIns="18288" bIns="18288">
            <a:spAutoFit/>
          </a:bodyPr>
          <a:lstStyle/>
          <a:p>
            <a:pPr algn="l">
              <a:spcAft>
                <a:spcPts val="600"/>
              </a:spcAft>
            </a:pPr>
            <a:r>
              <a:rPr sz="1400" b="0" i="0">
                <a:solidFill>
                  <a:srgbClr val="5B5B64"/>
                </a:solidFill>
                <a:latin typeface="Arial"/>
              </a:rPr>
              <a:t>fixed 7.2% → 28% (paper ~41%)</a:t>
            </a:r>
          </a:p>
        </p:txBody>
      </p:sp>
      <p:sp>
        <p:nvSpPr>
          <p:cNvPr id="29" name="TextBox 28"/>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16/19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LIMITATIONS</a:t>
            </a:r>
          </a:p>
          <a:p>
            <a:pPr algn="l">
              <a:spcAft>
                <a:spcPts val="600"/>
              </a:spcAft>
            </a:pPr>
            <a:r>
              <a:rPr sz="2800" b="1" i="0">
                <a:solidFill>
                  <a:srgbClr val="1A1A1A"/>
                </a:solidFill>
                <a:latin typeface="Arial"/>
              </a:rPr>
              <a:t>Honest boundaries</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881360" cy="4846320"/>
          </a:xfrm>
          <a:prstGeom prst="rect">
            <a:avLst/>
          </a:prstGeom>
          <a:noFill/>
        </p:spPr>
        <p:txBody>
          <a:bodyPr wrap="square" anchor="t" lIns="45720" rIns="45720" tIns="18288" bIns="18288">
            <a:spAutoFit/>
          </a:bodyPr>
          <a:lstStyle/>
          <a:p>
            <a:pPr algn="l">
              <a:spcAft>
                <a:spcPts val="600"/>
              </a:spcAft>
            </a:pPr>
            <a:r>
              <a:rPr sz="1600" b="1" i="0">
                <a:solidFill>
                  <a:srgbClr val="B03030"/>
                </a:solidFill>
                <a:latin typeface="Arial"/>
              </a:rPr>
              <a:t>Corpus mismatch (CV ≠ SWC) — the biggest one:</a:t>
            </a:r>
          </a:p>
          <a:p>
            <a:pPr algn="l" lvl="1">
              <a:spcAft>
                <a:spcPts val="500"/>
              </a:spcAft>
            </a:pPr>
            <a:r>
              <a:rPr sz="1400" b="0" i="0">
                <a:solidFill>
                  <a:srgbClr val="5B5B64"/>
                </a:solidFill>
                <a:latin typeface="Arial"/>
              </a:rPr>
              <a:t>• our stimuli are Common Voice; the paper's Experiment 1 uses held-out Spoken Wikipedia (SWC).</a:t>
            </a:r>
          </a:p>
          <a:p>
            <a:pPr algn="l" lvl="1">
              <a:spcAft>
                <a:spcPts val="500"/>
              </a:spcAft>
            </a:pPr>
            <a:r>
              <a:rPr sz="1400" b="0" i="0">
                <a:solidFill>
                  <a:srgbClr val="5B5B64"/>
                </a:solidFill>
                <a:latin typeface="Arial"/>
              </a:rPr>
              <a:t>• 231/347 unique target files and 703/1,200 pool files belong to the CV training split.</a:t>
            </a:r>
          </a:p>
          <a:p>
            <a:pPr algn="l" lvl="1">
              <a:spcAft>
                <a:spcPts val="500"/>
              </a:spcAft>
            </a:pPr>
            <a:r>
              <a:rPr sz="1400" b="0" i="0">
                <a:solidFill>
                  <a:srgbClr val="5B5B64"/>
                </a:solidFill>
                <a:latin typeface="Arial"/>
              </a:rPr>
              <a:t>• split membership does not prove every clip was sampled during training, but held-out generalization cannot be claimed.</a:t>
            </a:r>
          </a:p>
          <a:p>
            <a:pPr algn="l" lvl="1">
              <a:spcAft>
                <a:spcPts val="500"/>
              </a:spcAft>
            </a:pPr>
            <a:r>
              <a:rPr sz="1400" b="0" i="0">
                <a:solidFill>
                  <a:srgbClr val="5B5B64"/>
                </a:solidFill>
                <a:latin typeface="Arial"/>
              </a:rPr>
              <a:t>• the within-panel contrast is informative, but absolute magnitudes and generalization remain uncertain.</a:t>
            </a:r>
          </a:p>
          <a:p>
            <a:pPr algn="l">
              <a:spcAft>
                <a:spcPts val="800"/>
              </a:spcAft>
            </a:pPr>
            <a:r>
              <a:rPr sz="1500" b="0" i="0">
                <a:solidFill>
                  <a:srgbClr val="1A1A1A"/>
                </a:solidFill>
                <a:latin typeface="Arial"/>
              </a:rPr>
              <a:t>• Confusion vs talker number came out opposite to our stated criterion (reported, not hidden).</a:t>
            </a:r>
          </a:p>
          <a:p>
            <a:pPr algn="l">
              <a:spcAft>
                <a:spcPts val="800"/>
              </a:spcAft>
            </a:pPr>
            <a:r>
              <a:rPr sz="1500" b="0" i="0">
                <a:solidFill>
                  <a:srgbClr val="1A1A1A"/>
                </a:solidFill>
                <a:latin typeface="Arial"/>
              </a:rPr>
              <a:t>• babble = 8 talkers summed online (paper uses pre-made files) — a deliberate, nesting-preserving choice.</a:t>
            </a:r>
          </a:p>
          <a:p>
            <a:pPr algn="l">
              <a:spcAft>
                <a:spcPts val="800"/>
              </a:spcAft>
            </a:pPr>
            <a:r>
              <a:rPr sz="1500" b="0" i="0">
                <a:solidFill>
                  <a:srgbClr val="1A1A1A"/>
                </a:solidFill>
                <a:latin typeface="Arial"/>
              </a:rPr>
              <a:t>• One checkpoint only; the paper's feature-gain curve averages ten architectures.</a:t>
            </a:r>
          </a:p>
          <a:p>
            <a:pPr algn="l">
              <a:spcAft>
                <a:spcPts val="600"/>
              </a:spcAft>
            </a:pPr>
            <a:r>
              <a:rPr sz="1500" b="0" i="0">
                <a:solidFill>
                  <a:srgbClr val="1A1A1A"/>
                </a:solidFill>
                <a:latin typeface="Arial"/>
              </a:rPr>
              <a:t>• Qualitative trend replication only; diotic and custom-stimulus conditions.</a:t>
            </a:r>
          </a:p>
        </p:txBody>
      </p:sp>
      <p:sp>
        <p:nvSpPr>
          <p:cNvPr id="6" name="TextBox 5"/>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17/19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Arial"/>
              </a:rPr>
              <a:t>OUTLOOK</a:t>
            </a:r>
          </a:p>
          <a:p>
            <a:pPr algn="l">
              <a:spcAft>
                <a:spcPts val="600"/>
              </a:spcAft>
            </a:pPr>
            <a:r>
              <a:rPr sz="2800" b="1" i="0">
                <a:solidFill>
                  <a:srgbClr val="1A1A1A"/>
                </a:solidFill>
                <a:latin typeface="Arial"/>
              </a:rPr>
              <a:t>Next steps</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10881360" cy="4754880"/>
          </a:xfrm>
          <a:prstGeom prst="rect">
            <a:avLst/>
          </a:prstGeom>
          <a:noFill/>
        </p:spPr>
        <p:txBody>
          <a:bodyPr wrap="square" anchor="t" lIns="45720" rIns="45720" tIns="18288" bIns="18288">
            <a:spAutoFit/>
          </a:bodyPr>
          <a:lstStyle/>
          <a:p>
            <a:pPr algn="l">
              <a:spcAft>
                <a:spcPts val="1200"/>
              </a:spcAft>
            </a:pPr>
            <a:r>
              <a:rPr sz="1600" b="0" i="0">
                <a:solidFill>
                  <a:srgbClr val="1A1A1A"/>
                </a:solidFill>
                <a:latin typeface="Arial"/>
              </a:rPr>
              <a:t>• Archive the exact RTX 3070 run script, environment, random seed and file hashes.</a:t>
            </a:r>
          </a:p>
          <a:p>
            <a:pPr algn="l">
              <a:spcAft>
                <a:spcPts val="1200"/>
              </a:spcAft>
            </a:pPr>
            <a:r>
              <a:rPr sz="1600" b="0" i="0">
                <a:solidFill>
                  <a:srgbClr val="1A1A1A"/>
                </a:solidFill>
                <a:latin typeface="Arial"/>
              </a:rPr>
              <a:t>• Rebuild the evaluation set from held-out Spoken Wikipedia for a paper-faithful replication.</a:t>
            </a:r>
          </a:p>
          <a:p>
            <a:pPr algn="l">
              <a:spcAft>
                <a:spcPts val="1200"/>
              </a:spcAft>
            </a:pPr>
            <a:r>
              <a:rPr sz="1600" b="0" i="0">
                <a:solidFill>
                  <a:srgbClr val="1A1A1A"/>
                </a:solidFill>
                <a:latin typeface="Arial"/>
              </a:rPr>
              <a:t>• Use the paper's pre-made babble and exact 2-/4-talker sex composition.</a:t>
            </a:r>
          </a:p>
          <a:p>
            <a:pPr algn="l">
              <a:spcAft>
                <a:spcPts val="1200"/>
              </a:spcAft>
            </a:pPr>
            <a:r>
              <a:rPr sz="1600" b="0" i="0">
                <a:solidFill>
                  <a:srgbClr val="1A1A1A"/>
                </a:solidFill>
                <a:latin typeface="Arial"/>
              </a:rPr>
              <a:t>• Run all ten feature-gain architectures, or explicitly retain the single-checkpoint scope.</a:t>
            </a:r>
          </a:p>
          <a:p>
            <a:pPr algn="l">
              <a:spcAft>
                <a:spcPts val="1200"/>
              </a:spcAft>
            </a:pPr>
            <a:r>
              <a:rPr sz="1600" b="0" i="0">
                <a:solidFill>
                  <a:srgbClr val="1A1A1A"/>
                </a:solidFill>
                <a:latin typeface="Arial"/>
              </a:rPr>
              <a:t>• Fit a mixed-effects model / speaker-cluster bootstrap and compare directly with OSF curves.</a:t>
            </a:r>
          </a:p>
        </p:txBody>
      </p:sp>
      <p:sp>
        <p:nvSpPr>
          <p:cNvPr id="6" name="TextBox 5"/>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Arial"/>
              </a:rPr>
              <a:t>Griffith et al. (2026) · qualitative single-checkpoint replication                                      18/19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210312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514600"/>
            <a:ext cx="10515600" cy="1828800"/>
          </a:xfrm>
          <a:prstGeom prst="rect">
            <a:avLst/>
          </a:prstGeom>
          <a:noFill/>
        </p:spPr>
        <p:txBody>
          <a:bodyPr wrap="square" anchor="ctr" lIns="45720" rIns="45720" tIns="18288" bIns="18288">
            <a:spAutoFit/>
          </a:bodyPr>
          <a:lstStyle/>
          <a:p>
            <a:pPr algn="l">
              <a:spcAft>
                <a:spcPts val="800"/>
              </a:spcAft>
            </a:pPr>
            <a:r>
              <a:rPr sz="2400" b="1" i="0">
                <a:solidFill>
                  <a:srgbClr val="1A1A1A"/>
                </a:solidFill>
                <a:latin typeface="Arial"/>
              </a:rPr>
              <a:t>A single frozen feature-gain model qualitatively reproduced</a:t>
            </a:r>
          </a:p>
          <a:p>
            <a:pPr algn="l">
              <a:spcAft>
                <a:spcPts val="600"/>
              </a:spcAft>
            </a:pPr>
            <a:r>
              <a:rPr sz="2400" b="1" i="0">
                <a:solidFill>
                  <a:srgbClr val="9C2E6D"/>
                </a:solidFill>
                <a:latin typeface="Arial"/>
              </a:rPr>
              <a:t>the SNR, distractor-sex and talker-number trends.</a:t>
            </a:r>
          </a:p>
        </p:txBody>
      </p:sp>
      <p:sp>
        <p:nvSpPr>
          <p:cNvPr id="5" name="TextBox 4"/>
          <p:cNvSpPr txBox="1"/>
          <p:nvPr/>
        </p:nvSpPr>
        <p:spPr>
          <a:xfrm>
            <a:off x="822960" y="4572000"/>
            <a:ext cx="10515600" cy="731520"/>
          </a:xfrm>
          <a:prstGeom prst="rect">
            <a:avLst/>
          </a:prstGeom>
          <a:noFill/>
        </p:spPr>
        <p:txBody>
          <a:bodyPr wrap="square" anchor="t" lIns="45720" rIns="45720" tIns="18288" bIns="18288">
            <a:spAutoFit/>
          </a:bodyPr>
          <a:lstStyle/>
          <a:p>
            <a:pPr algn="l">
              <a:spcAft>
                <a:spcPts val="600"/>
              </a:spcAft>
            </a:pPr>
            <a:r>
              <a:rPr sz="1800" b="1" i="0">
                <a:solidFill>
                  <a:srgbClr val="5B5B64"/>
                </a:solidFill>
                <a:latin typeface="Arial"/>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