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audio/wav"/>
  <Override PartName="/ppt/media/media2.wav" ContentType="audio/wav"/>
  <Override PartName="/ppt/media/media3.wav" ContentType="audio/wav"/>
  <Override PartName="/ppt/media/media4.wav" ContentType="audio/wav"/>
  <Override PartName="/ppt/media/media5.wav" ContentType="audio/wav"/>
  <Override PartName="/ppt/media/media6.wav" ContentType="audio/wav"/>
  <Override PartName="/ppt/media/media7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wav"/><Relationship Id="rId3" Type="http://schemas.openxmlformats.org/officeDocument/2006/relationships/video" Target="../media/media1.wav"/><Relationship Id="rId4" Type="http://schemas.openxmlformats.org/officeDocument/2006/relationships/image" Target="../media/image2.png"/><Relationship Id="rId5" Type="http://schemas.microsoft.com/office/2007/relationships/media" Target="../media/media2.wav"/><Relationship Id="rId6" Type="http://schemas.openxmlformats.org/officeDocument/2006/relationships/video" Target="../media/media2.wav"/><Relationship Id="rId7" Type="http://schemas.microsoft.com/office/2007/relationships/media" Target="../media/media3.wav"/><Relationship Id="rId8" Type="http://schemas.openxmlformats.org/officeDocument/2006/relationships/video" Target="../media/media3.wav"/><Relationship Id="rId9" Type="http://schemas.microsoft.com/office/2007/relationships/media" Target="../media/media4.wav"/><Relationship Id="rId10" Type="http://schemas.openxmlformats.org/officeDocument/2006/relationships/video" Target="../media/media4.wav"/><Relationship Id="rId11" Type="http://schemas.microsoft.com/office/2007/relationships/media" Target="../media/media5.wav"/><Relationship Id="rId12" Type="http://schemas.openxmlformats.org/officeDocument/2006/relationships/video" Target="../media/media5.wav"/><Relationship Id="rId13" Type="http://schemas.microsoft.com/office/2007/relationships/media" Target="../media/media6.wav"/><Relationship Id="rId14" Type="http://schemas.openxmlformats.org/officeDocument/2006/relationships/video" Target="../media/media6.wav"/><Relationship Id="rId15" Type="http://schemas.microsoft.com/office/2007/relationships/media" Target="../media/media7.wav"/><Relationship Id="rId16" Type="http://schemas.openxmlformats.org/officeDocument/2006/relationships/video" Target="../media/media7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選択的聴覚注意モデル —— 行動傾向の再現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再現対象論文: Griffith, Hess &amp; McDermott (2026), Nature Human Behaviour</a:t>
            </a:r>
          </a:p>
          <a:p>
            <a:r>
              <a:rPr sz="16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"Optimized feature gains explain and predict human selective listening"</a:t>
            </a:r>
          </a:p>
          <a:p>
            <a:r>
              <a:rPr sz="16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発表者: [氏名]      日付: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本発表の目的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本発表では、論文(Griffith et al., 2026)の著者が公開した事前学習モデルを用い、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自作のCommon Voice評価セット上で、その行動的傾向(Fig 2b)を再現できるかを検証・報告する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本発表で答える2つの問い: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① モデルは混合音声中の目標話者の中央単語を実際に認識できるか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② 正答率のSN比および妨害話者の性別への依存傾向は、論文と方向が一致するか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位置づけ: モデルの再学習は行わず、著者のパラメータをそのまま用いた検証実験。評価対象は傾向の方向であり、数値の一致は求めない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本再現が成功する意義: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著者モデルが未知のコーパス(Common Voice)にも汎化することを示せる —— モデルの頑健性・一般性の傍証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自作の評価パイプラインが正しく機能することを確認 —— 今後の拡張(他条件・独自研究)の基盤になる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論文の主要な行動的知見が独立に再現され、知見の信頼性(追試価値)を高める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一、研究背景と再現目標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論文: 「特徴ゲイン」型の注意機構をもつニューラルネットワークで、人間の「カクテルパーティー」聴取を模擬したモデル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目標話者の手がかり音声(cue)と「目標+妨害」の混合音声を入力し、混合音声中の目標話者の中央単語を答えさせる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cueに基づいて目標の音色に対応する特徴を増強し、それ以外を抑制することで、目標を混合音声から分離する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論文Figure 2は、認識の成否を規定する要因を行動曲線で示す(SN比が高いほど正答率↑、異性妨害は同性より分離しやすい 等)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本再現の目標: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① モデルの有効性検証: 著者の事前学習モデルが、自作の評価音声上で中央単語を認識できることを確認する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② Fig 2bの傾向の再現: 同性/異性妨害の下での正答率のSN比依存性を再現する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判定基準: 傾向の方向が論文と一致すれば成功とする。数値の完全一致は求めない(コーパスや話者が論文と異なるため)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一(補)、著者の手法との異同 —— 私は何を・どう行ったか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著者と同じ点(そのまま踏襲):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モデル本体と学習済みパラメータ / タスク定義(cue+混合音声→中央単語) / 評価の枠組み(SN比・同性/異性) / 採点基準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著者と異なる点 = 私が独自に行った作業: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著者の入力データ(学習・評価用の刺激音声)は非公開 → 評価セットを一から自作する必要があった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① Common Voice v9 から話者・録音を選別(性別均衡・話者分離)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② 強制アライメントで各単語の時間境界を推定(CVには無い情報)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③ 800語彙・時間余白の条件で目標単語(アンカー)を選定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④ cue/目標/妨害の三つ組を構成し、6段階SN比で混合(within-item)・RMS正規化・diotic化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要点: 「著者のデータをそのまま流用した」のではなく、著者のモデルを私が独自に構築した評価セットで検証した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二、データ準備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コーパス: Common Voice 9.0 英語版(論文と同一バージョン)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選別: 性別ラベルがあり一貫し、かつ2録音以上をもつ話者 → 利用可能 18,067名 / 971,848録音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目標語彙: 著者公開の800語(公式ファイルとバイト単位で一致)。モデルは800クラスの分類器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最終評価セット: 有効な目標サンプル600件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性別を厳密に均衡: 男性300 / 女性300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149名の話者・347録音に由来し、369種の異なる目標単語を含む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600サンプルにより、6段階のSN比それぞれで推定が安定(二項標準誤差 約±2%)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三、手法パイプライン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原音声 → 強制アライメント → テキスト正規化 → アンカー判定 → 切り出し・混合 → モデル入力 → 採点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1. 強制アライメント(MMS_FA, 16kHz): 各単語の時間境界を取得(CVは文単位の書き起こしのみで、単語の時刻をもたない)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2. テキスト正規化: 論文のconvert_transcriptに準拠(小文字化・記号除去・数字の単語化)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3. アンカー(中央単語)判定: 目標単語を中心とする。条件=語彙内 かつ 単語長&lt;2s かつ 前後に各1.25s以上の余白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4. 切り出し・混合: 各2.5s@44.1kHz(モデル内部で中央2sを使用)。within-itemで6段階のSN比に再混合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SN比: -9/-6/-3/0/+3/+inf dB。目標のエネルギーに合わせて妨害を調整。+inf=妨害なし。RMS 0.02に正規化。diotic(両耳同一)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5. 著者の事前学習チェックポイント(word_task_v10)でそのまま推論。再学習・微調整は行わない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三(続)、3つの重要な工学的判断 —— 「なぜそうしたか」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① テキスト正規化でアポストロフィを保持する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論文の公開コードはアポストロフィを削除するが、800語彙には16個の短縮形(can't/don't 等)が含まれる。削除すると語彙照合に失敗し脱落してしまう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② 「録音の中点の単語」ではなく「目標単語を中心」に切り出す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論文のソースコードで確認: まず目標単語を選び、それを中心に切り出す(先に切り出してから中点の単語を見るのではない)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③ アンカー優先のペアリング(先にアライメント、後にペアリング)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目標候補のみを整列し、アンカーをもつ録音を目標に採用。627録音から600サンプル(96%)を得て、旧手法の22%を大きく上回る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四、結果(1): モデル有効性の検証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clean条件(目標のみ・妨害なし)における中央単語認識の正答率: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88.6%   (偶然水準は0.1% = 1/800)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600サンプルの+inf条件でも88.0%となり、相互に裏付けられる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→ モデルは音声から目標の中央単語を実際に認識でき、偶然水準を大きく上回る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– これが以降の傾向実験の前提となる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四、結果(2): Fig 2b 再現 —— 同性 vs 異性妨害</a:t>
            </a:r>
          </a:p>
        </p:txBody>
      </p:sp>
      <p:pic>
        <p:nvPicPr>
          <p:cNvPr id="3" name="Picture 2" descr="fig2b_reproduc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5315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同性/異性の2本の線: 中央単語認識の正答率 vs SN比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再現された傾向(論文と一致):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① SN比とともに正答率が単調に増加(妨害が弱いほど正答↑)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② 異性妨害が全体的に同性より高い(9~18ポイント)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③ +inf(妨害なし)で2本の線が約88%に収束: 妨害がなければ性別は無関係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異性&gt;同性の差は安定: 妨害ありの5段階すべてでエラーバーが非重複(3.4~6.8σ)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エラーバー = ±1 SEM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四(補): 音声サンプル —— SN比ラダー(クリックで再生)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同一刺激(目標単語「around」)の6段階SN比混合。-9dBから妨害なしへ進むと、妨害話者が徐々に消え目標が明瞭になる</a:t>
            </a:r>
          </a:p>
        </p:txBody>
      </p:sp>
      <p:pic>
        <p:nvPicPr>
          <p:cNvPr id="4" name="mix_-9dB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228600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-9 dB</a:t>
            </a:r>
          </a:p>
        </p:txBody>
      </p:sp>
      <p:pic>
        <p:nvPicPr>
          <p:cNvPr id="6" name="mix_-6dB.wav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2286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-6 dB</a:t>
            </a:r>
          </a:p>
        </p:txBody>
      </p:sp>
      <p:pic>
        <p:nvPicPr>
          <p:cNvPr id="8" name="mix_-3dB.wav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0" y="22860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-3 dB</a:t>
            </a:r>
          </a:p>
        </p:txBody>
      </p:sp>
      <p:pic>
        <p:nvPicPr>
          <p:cNvPr id="10" name="mix_+0dB.wav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0" y="228600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0 dB</a:t>
            </a:r>
          </a:p>
        </p:txBody>
      </p:sp>
      <p:pic>
        <p:nvPicPr>
          <p:cNvPr id="12" name="mix_+3dB.wav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+3 dB</a:t>
            </a:r>
          </a:p>
        </p:txBody>
      </p:sp>
      <p:pic>
        <p:nvPicPr>
          <p:cNvPr id="14" name="mix_inf.wav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0" y="22860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+inf(妨害なし)</a:t>
            </a:r>
          </a:p>
        </p:txBody>
      </p:sp>
      <p:pic>
        <p:nvPicPr>
          <p:cNvPr id="16" name="cue.wav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4572000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cue(手がかり音)</a:t>
            </a:r>
          </a:p>
        </p:txBody>
      </p:sp>
      <p:pic>
        <p:nvPicPr>
          <p:cNvPr id="18" name="target_clean.wav">
            <a:hlinkClick r:id="" action="ppaction://media"/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457200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目標のみ(参照)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四(補)、本発表の2つの問いへの回答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問い①: モデルは目標話者の中央単語を認識できるか?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→ 認識できる。clean条件で正答率88.6%(偶然0.1%)。混合音声下でも-9dBの26%〜+infの88%まで一貫して機能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問い②: 正答率のSN比・妨害話者性別への依存傾向は論文と一致するか?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→ 一致する。SN比↑で正答率↑(単調増加)、異性妨害&gt;同性(全SN比でエラーバー非重複)、妨害なしで収束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いずれの問いも肯定 → 行動的傾向は論文と方向が一致し、再現に成功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五、重要な判断と誠実な補足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論文を厳密に踏襲した点: 800語彙・アライメント方針・目標単語中心の切り出し・6段階SN比・within-item・採点基準・著者パラメータの使用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実情に応じて調整した点(科学的な設定は変更しない):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アポストロフィの保持(短縮形照合のため)/ アンカー優先ペアリング(効率化)/ M1 CPU上での実行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現在の範囲と限界: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範囲は単一話者の音声妨害・diotic(非空間)。他の妨害種・harmonicity・空間実験は未実施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サンプル数600、CPUでの1回の走査は約6.5時間。今後hakusan GPUで拡張可能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数値が論文と異なるのは想定内: コーパス・話者・単語が異なるため。判定はあくまで傾向の方向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六、結論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著者公開の事前学習モデルを用い、自作のCommon Voice評価セット(600サンプル、性別均衡)上で: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① モデルの有効性を確認: clean正答率88.6%で、偶然水準0.1%を大きく上回る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② Fig 2bの行動傾向の再現に成功(方向が一致):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正答率はSN比とともに単調に増加、異性妨害が同性より優位、妨害なしで収束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本研究は「傾向の再現」であり、論文の科学的結論の真偽を再検証するものではない。数値の一致は求めない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七、今後の課題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hakusan GPU: 推論が数十倍に高速化し、サンプル数の増加や他パネルの追加が可能になる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パネル拡張: Fig 2c(中国語妨害)、Fig 2d/2e(混同分析。大部分は既存データの後処理で対応可能)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• (任意) 他の妨害種・空間実験: 追加資源(AudioSet/HRTF)が必要で、現在の範囲外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目的: 著者の事前学習モデルと自作CV評価セットを用い、Fig 2bの行動傾向を再現できるかを検証した</a:t>
            </a:r>
          </a:p>
          <a:p>
            <a:pPr>
              <a:spcAft>
                <a:spcPts val="600"/>
              </a:spcAft>
            </a:pPr>
            <a:r>
              <a:rPr sz="1900" b="0">
                <a:latin typeface="Meiryo"/>
                <a:ea typeface="Meiryo"/>
                <a:cs typeface="Meiryo"/>
              </a:rPr>
              <a:t>• 方法: 強制アライメント → 目標単語中心の切り出し → 6段階SN比で混合 → 著者チェックポイントで推論(600サンプル、性別均衡)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結果: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① モデルの有効性を確認: clean正答率 88.6% ≫ 偶然水準 0.1%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② Fig 2bの傾向を再現: SN比↑で正答↑、異性妨害 &gt; 同性、妨害なしで収束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結論: 傾向の方向が論文と一致 → 再現に成功(傾向の再現であり、論文の真偽検証ではない)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次にやること: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① hakusan GPUで大規模化(サンプル増、Fig 2c/2d/2e など他パネルの追加)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② 妨害も対称構成にし、混同(confusion)の絶対量を論文水準に近づける</a:t>
            </a:r>
          </a:p>
          <a:p>
            <a:pPr lvl="1">
              <a:spcAft>
                <a:spcPts val="600"/>
              </a:spcAft>
            </a:pPr>
            <a:r>
              <a:rPr sz="1700" b="0">
                <a:latin typeface="Meiryo"/>
                <a:ea typeface="Meiryo"/>
                <a:cs typeface="Meiryo"/>
              </a:rPr>
              <a:t>– ③ (発展) 発達パラメータαなど、独自拡張の検証へ進む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