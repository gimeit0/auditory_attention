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wav"/>
  <Override PartName="/ppt/media/media2.wav" ContentType="audio/wav"/>
  <Override PartName="/ppt/media/media3.wav" ContentType="audio/wav"/>
  <Override PartName="/ppt/media/media4.wav" ContentType="audio/wav"/>
  <Override PartName="/ppt/media/media5.wav" ContentType="audio/wav"/>
  <Override PartName="/ppt/media/media6.wav" ContentType="audio/wav"/>
  <Override PartName="/ppt/media/media7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av"/><Relationship Id="rId3" Type="http://schemas.openxmlformats.org/officeDocument/2006/relationships/video" Target="../media/media1.wav"/><Relationship Id="rId4" Type="http://schemas.openxmlformats.org/officeDocument/2006/relationships/image" Target="../media/image2.png"/><Relationship Id="rId5" Type="http://schemas.microsoft.com/office/2007/relationships/media" Target="../media/media2.wav"/><Relationship Id="rId6" Type="http://schemas.openxmlformats.org/officeDocument/2006/relationships/video" Target="../media/media2.wav"/><Relationship Id="rId7" Type="http://schemas.microsoft.com/office/2007/relationships/media" Target="../media/media3.wav"/><Relationship Id="rId8" Type="http://schemas.openxmlformats.org/officeDocument/2006/relationships/video" Target="../media/media3.wav"/><Relationship Id="rId9" Type="http://schemas.microsoft.com/office/2007/relationships/media" Target="../media/media4.wav"/><Relationship Id="rId10" Type="http://schemas.openxmlformats.org/officeDocument/2006/relationships/video" Target="../media/media4.wav"/><Relationship Id="rId11" Type="http://schemas.microsoft.com/office/2007/relationships/media" Target="../media/media5.wav"/><Relationship Id="rId12" Type="http://schemas.openxmlformats.org/officeDocument/2006/relationships/video" Target="../media/media5.wav"/><Relationship Id="rId13" Type="http://schemas.microsoft.com/office/2007/relationships/media" Target="../media/media6.wav"/><Relationship Id="rId14" Type="http://schemas.openxmlformats.org/officeDocument/2006/relationships/video" Target="../media/media6.wav"/><Relationship Id="rId15" Type="http://schemas.microsoft.com/office/2007/relationships/media" Target="../media/media7.wav"/><Relationship Id="rId16" Type="http://schemas.openxmlformats.org/officeDocument/2006/relationships/video" Target="../media/media7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選択的聴覚注意モデルの行動的傾向の再現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再現対象論文: Griffith, Hess &amp; McDermott (2026), Nature Human Behaviour</a:t>
            </a:r>
          </a:p>
          <a:p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"Optimized feature gains explain and predict human selective listening"</a:t>
            </a:r>
          </a:p>
          <a:p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発表者: [氏名]      日付: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本発表の目的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本発表では、著者(Griffith et al., 2026)が公開した事前学習モデルを用い、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自作したCommon Voice評価セット上で、Fig 2bの行動的傾向を再現できるかを報告する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本発表で答える2つの問い: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① モデルは混合音声中の目標話者の中央単語を実際に認識できるか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② 正答率の傾向(SN比、および同性/異性妨害)は、論文と方向が一致するか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位置づけ: 再学習は行わず、著者のパラメータをそのまま使用。数値ではなく傾向の方向を評価する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再現が成功する意義: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著者のモデルが未知のコーパス(Common Voice)にも汎化することを示せる —— 頑健性の証拠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自作の評価パイプラインが正しく機能することを確認 —— 今後の拡張の基盤となる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論文の主要な行動的知見を独立に再現し、追試としての価値を加える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一、研究背景と再現目標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論文: 「特徴ゲイン」型の注意機構をもつニューラルネットワークで、人間の「カクテルパーティー」聴取を模擬する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手がかり音(cue)と「目標+妨害」の混合音声を入力し、混合音声中の目標話者の中央単語を答える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cueに導かれて目標の音色に合う特徴を増強し、それ以外を抑制することで目標を分離する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Fig 2は認識の成否を規定する要因を行動曲線で示す(SN比が高いほど正答率↑、異性妨害ほど分離しやすい)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本再現の目標: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① モデルの検証: 著者の事前学習モデルが、自作の評価音声上で中央単語を認識できることを確認する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② Fig 2bの傾向の再現: 同性/異性妨害下での正答率のSN比依存性を再現する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判定基準: 傾向の方向が論文と一致すれば成功。数値の一致は期待しない(コーパス・話者が異なるため)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一(補)、著者の手法との比較 —— 私が何を、どう行ったか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著者と同じ点(そのまま使用):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モデルと事前学習パラメータ / タスク定義(cue+混合→中央単語) / 評価の枠組み(SN比、同性/異性) / 採点規則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著者と異なる点 = 私自身が行った作業: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著者の入力データ(学習・評価用の刺激)は非公開 → 評価セットを一から構築する必要があった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① Common Voice v9 から話者と録音を選定(性別均衡・話者分離)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② 強制アライメントで各単語の時間境界を推定(Common Voiceには無い情報)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③ 800語彙と時間余白の条件で目標単語(アンカー)を選定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④ cue/目標/妨害の三つ組を構成し、6段階SN比で混合(within-item)、RMS正規化、diotic化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要点: 著者のデータを流用したのではなく、著者のモデルを自作の評価セットで検証した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二、データ準備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コーパス: Common Voice 9.0 英語版(論文と同一バージョン)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選定: 性別ラベルが一貫し、かつ2録音以上をもつ話者 → 利用可能な 18,067名 / 971,848録音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目標語彙: 著者公開の800語(公式ファイルとバイト単位で一致)。モデルは800クラスの分類器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最終評価セット: 有効な目標サンプル 600件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厳密に性別均衡: 男性300 / 女性300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149名の話者・347録音に由来し、369種の異なる目標単語を含む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600サンプルにより、6段階のSN比それぞれで推定が安定(二項標準誤差 約±2%)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三、手法パイプライン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原音声 → 強制アライメント → テキスト正規化 → アンカー選定 → 切り出し・混合 → モデル入力 → 採点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1. 強制アライメント(MMS_FA, 16 kHz): 各単語の時間境界を取得(CVは文単位の書き起こしのみで、単語の時刻をもたない)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2. テキスト正規化: 論文のconvert_transcriptに準拠(小文字化・記号除去・数字の単語化)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3. アンカー(中央単語)選定: 目標単語を中心とする。条件=語彙内、単語長&lt;2s、前後に各1.25s以上の余白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4. 切り出し・混合: 各2.5s@44.1kHz(モデルは内部で中央2sを使用)。within-itemで6段階のSN比に再混合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SN比: -9/-6/-3/0/+3/+inf dB。目標のエネルギーに合わせ妨害を調整。+inf=妨害なし。RMS 0.02に正規化。diotic(両耳同一)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5. 著者の事前学習チェックポイント(word_task_v10)でそのまま推論。再学習・微調整は行わない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三(続)、3つの重要な工学的判断 —— 「なぜそうしたか」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① テキスト正規化でアポストロフィを保持する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論文の公開コードはアポストロフィを削除するが、800語彙には16個の短縮形(can't/don't 等)が含まれ、削除すると照合に失敗する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② 録音の中点の単語ではなく、目標単語を中心に切り出す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論文のソースコードで確認: まず目標単語を選び、それを中心に切り出す(先に切り出して中点の単語を見るのではない)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③ アンカー優先のペアリング(先にアライメント、後にペアリング)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目標候補のみを整列し、アンカーをもつ録音を採用: 627録音から600サンプル(96%)。旧手法の22%を大きく上回る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四、結果: モデルの有効性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clean条件(目標のみ・妨害なし)における中央単語認識の正答率: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88.6%   (偶然水準はわずか0.1% = 1/800)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600サンプルの+inf条件でも88.0%となり、これを裏付ける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→ モデルは目標の中央単語を確かに認識でき、偶然水準を大きく上回る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– これが以降の傾向実験すべての前提となる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四、結果: Fig 2b 再現 —— 同性 vs 異性妨害</a:t>
            </a:r>
          </a:p>
        </p:txBody>
      </p:sp>
      <p:pic>
        <p:nvPicPr>
          <p:cNvPr id="3" name="Picture 2" descr="fig2b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5315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55448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2本の線(同性/異性): 中央単語認識の正答率 vs SN比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再現された傾向(論文と一致):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① SN比とともに正答率が単調に増加(妨害が弱いほど正答率↑)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② 異性妨害が全体的に同性より高い(9~18ポイント)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③ +inf(妨害なし)で2本の線が約88%に収束: 妨害がなければ性別は無関係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異性&gt;同性は安定: 妨害ありの5段階すべてでエラーバーが非重複(3.4~6.8σ)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エラーバー = ±1 SEM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四(補)、音声サンプル —— SN比ラダー(クリックで再生)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同一刺激(目標単語「around」)を6段階のSN比で混合。-9dBから妨害なしへ進むと、妨害話者が徐々に消え目標が明瞭になる。</a:t>
            </a:r>
          </a:p>
        </p:txBody>
      </p:sp>
      <p:pic>
        <p:nvPicPr>
          <p:cNvPr id="4" name="mix_-9dB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-9 dB</a:t>
            </a:r>
          </a:p>
        </p:txBody>
      </p:sp>
      <p:pic>
        <p:nvPicPr>
          <p:cNvPr id="6" name="mix_-6dB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-6 dB</a:t>
            </a:r>
          </a:p>
        </p:txBody>
      </p:sp>
      <p:pic>
        <p:nvPicPr>
          <p:cNvPr id="8" name="mix_-3dB.wav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-3 dB</a:t>
            </a:r>
          </a:p>
        </p:txBody>
      </p:sp>
      <p:pic>
        <p:nvPicPr>
          <p:cNvPr id="10" name="mix_+0dB.wav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0 dB</a:t>
            </a:r>
          </a:p>
        </p:txBody>
      </p:sp>
      <p:pic>
        <p:nvPicPr>
          <p:cNvPr id="12" name="mix_+3dB.wav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+3 dB</a:t>
            </a:r>
          </a:p>
        </p:txBody>
      </p:sp>
      <p:pic>
        <p:nvPicPr>
          <p:cNvPr id="14" name="mix_inf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+inf(妨害なし)</a:t>
            </a:r>
          </a:p>
        </p:txBody>
      </p:sp>
      <p:pic>
        <p:nvPicPr>
          <p:cNvPr id="16" name="cue.wav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457200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cue</a:t>
            </a:r>
          </a:p>
        </p:txBody>
      </p:sp>
      <p:pic>
        <p:nvPicPr>
          <p:cNvPr id="18" name="target_clean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45720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目標のみ(参照)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四(補)、本発表の2つの問いへの回答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問い①: モデルは目標話者の中央単語を認識できるか?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→ できる。clean条件で88.6%(偶然0.1%)。混合音声下でも -9dBの26% 〜 +infの88% まで一貫して機能する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問い②: 正答率の傾向(SN比・妨害の性別)は論文と一致するか?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→ 一致する。SN比↑で正答率↑(単調)、異性&gt;同性(全SN比でエラーバー非重複)、妨害なしで収束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いずれも肯定 → 行動的傾向は論文と方向が一致し、再現に成功した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五、重要な判断と誠実な補足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論文を厳密に踏襲した点: 800語彙、アライメント方針、目標単語中心の切り出し、6段階SN比、within-item、採点規則、著者パラメータ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実情に応じて調整した点(科学的な設定は変更しない):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アポストロフィの保持(短縮形照合のため)/ アンカー優先ペアリング(効率化)/ M1 CPU上での実行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現在の範囲と限界: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範囲は単一話者の音声妨害・diotic(非空間)。他の妨害種・harmonicity・空間実験は未実施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サンプル600件、CPUでの1回の走査は約6.5時間。今後hakusan GPUで大規模化できる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数値が論文と異なるのは想定内: コーパス・話者・単語が異なるため。判定はあくまで傾向の方向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目的: 著者の事前学習モデルと自作CV評価セットを用い、Fig 2bの行動的傾向を再現できるかを検証した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方法: 強制アライメント → 目標単語中心の切り出し → 6段階SN比で混合 → 著者チェックポイントで推論(600サンプル、性別均衡)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結果: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① モデルの有効性を確認: clean正答率 88.6% ≫ 偶然 0.1%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② Fig 2bの傾向を再現: SN比↑で正答↑、異性&gt;同性、妨害なしで収束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結論: 傾向の方向が論文と一致 → 再現に成功(傾向の再現であり、論文の真偽検証ではない)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次にやること: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① 次回は学習済みチェックポイントを使わず、モデルを自分で一から学習し、同じ効果(傾向)が再現されるかを検証する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② hakusan GPUで大規模化(サンプル増、Fig 2c/2d/2e など他パネルの追加)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③ 妨害を対称構成にし、混同の絶対値を論文水準に近づける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④ (発展) 発達パラメータαなど、独自拡張の検証へ進む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