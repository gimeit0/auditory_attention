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6" r:id="rId2"/>
    <p:sldId id="268" r:id="rId3"/>
    <p:sldId id="258" r:id="rId4"/>
    <p:sldId id="261" r:id="rId5"/>
    <p:sldId id="257" r:id="rId6"/>
    <p:sldId id="266" r:id="rId7"/>
    <p:sldId id="259" r:id="rId8"/>
    <p:sldId id="260" r:id="rId9"/>
    <p:sldId id="262" r:id="rId10"/>
    <p:sldId id="267" r:id="rId11"/>
    <p:sldId id="263" r:id="rId12"/>
    <p:sldId id="26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93" autoAdjust="0"/>
    <p:restoredTop sz="94660"/>
  </p:normalViewPr>
  <p:slideViewPr>
    <p:cSldViewPr snapToGrid="0" showGuides="1">
      <p:cViewPr varScale="1">
        <p:scale>
          <a:sx n="112" d="100"/>
          <a:sy n="112" d="100"/>
        </p:scale>
        <p:origin x="592" y="184"/>
      </p:cViewPr>
      <p:guideLst>
        <p:guide orient="horz" pos="2160"/>
        <p:guide pos="381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2026/7/3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2026/7/3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2026/7/3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2026/7/3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2026/7/3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2026/7/3</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2026/7/3</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6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6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7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7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ja-JP"/>
              <a:t>:―― </a:t>
            </a:r>
            <a:r>
              <a:rPr lang="ja-JP" altLang="en-US"/>
              <a:t>入力と、選択に使う特徴を探る</a:t>
            </a:r>
            <a:endParaRPr lang="zh-CN" altLang="en-US"/>
          </a:p>
        </p:txBody>
      </p:sp>
      <p:sp>
        <p:nvSpPr>
          <p:cNvPr id="42" name="文本框 41"/>
          <p:cNvSpPr txBox="1"/>
          <p:nvPr/>
        </p:nvSpPr>
        <p:spPr>
          <a:xfrm>
            <a:off x="4580283" y="6101798"/>
            <a:ext cx="3031434" cy="398780"/>
          </a:xfrm>
          <a:prstGeom prst="rect">
            <a:avLst/>
          </a:prstGeom>
          <a:noFill/>
        </p:spPr>
        <p:txBody>
          <a:bodyPr wrap="square" rtlCol="0">
            <a:spAutoFit/>
          </a:bodyPr>
          <a:lstStyle/>
          <a:p>
            <a:pPr algn="ctr"/>
            <a:r>
              <a:rPr lang="en-US" sz="2000" b="1" dirty="0">
                <a:solidFill>
                  <a:srgbClr val="002060"/>
                </a:solidFill>
                <a:latin typeface="Meiryo" panose="020B0604030504040204" charset="-128"/>
                <a:ea typeface="Meiryo" panose="020B0604030504040204" charset="-128"/>
                <a:cs typeface="汉仪中简黑简" charset="0"/>
              </a:rPr>
              <a:t>2026/07/03</a:t>
            </a:r>
          </a:p>
        </p:txBody>
      </p:sp>
      <p:pic>
        <p:nvPicPr>
          <p:cNvPr id="12" name="图片 11"/>
          <p:cNvPicPr>
            <a:picLocks noChangeAspect="1"/>
          </p:cNvPicPr>
          <p:nvPr>
            <p:custDataLst>
              <p:tags r:id="rId2"/>
            </p:custDataLst>
          </p:nvPr>
        </p:nvPicPr>
        <p:blipFill>
          <a:blip r:embed="rId6"/>
          <a:stretch>
            <a:fillRect/>
          </a:stretch>
        </p:blipFill>
        <p:spPr>
          <a:xfrm>
            <a:off x="543560" y="4660265"/>
            <a:ext cx="2357755" cy="1671955"/>
          </a:xfrm>
          <a:prstGeom prst="rect">
            <a:avLst/>
          </a:prstGeom>
        </p:spPr>
      </p:pic>
      <p:sp>
        <p:nvSpPr>
          <p:cNvPr id="8" name="标题 1"/>
          <p:cNvSpPr>
            <a:spLocks noGrp="1"/>
          </p:cNvSpPr>
          <p:nvPr>
            <p:custDataLst>
              <p:tags r:id="rId3"/>
            </p:custDataLst>
          </p:nvPr>
        </p:nvSpPr>
        <p:spPr>
          <a:xfrm>
            <a:off x="195580" y="1578926"/>
            <a:ext cx="11359515" cy="1166495"/>
          </a:xfrm>
          <a:prstGeom prst="rect">
            <a:avLst/>
          </a:prstGeom>
        </p:spPr>
        <p:txBody>
          <a:bodyPr vert="horz" lIns="90000" tIns="46800" rIns="90000" bIns="4680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r>
              <a:rPr lang="zh-CN" altLang="zh-CN" sz="3200" dirty="0">
                <a:latin typeface="Meiryo" panose="020B0604030504040204" pitchFamily="34" charset="-128"/>
                <a:ea typeface="Meiryo" panose="020B0604030504040204" pitchFamily="34" charset="-128"/>
              </a:rPr>
              <a:t>Griffithらの選択的聴覚注意モデルの</a:t>
            </a:r>
            <a:r>
              <a:rPr lang="ja-JP" altLang="en-US" sz="3200" dirty="0">
                <a:latin typeface="Meiryo" panose="020B0604030504040204" pitchFamily="34" charset="-128"/>
                <a:ea typeface="Meiryo" panose="020B0604030504040204" pitchFamily="34" charset="-128"/>
              </a:rPr>
              <a:t>動作確認</a:t>
            </a:r>
            <a:endParaRPr lang="zh-CN" altLang="zh-CN" sz="3200" dirty="0">
              <a:latin typeface="Meiryo" panose="020B0604030504040204" pitchFamily="34" charset="-128"/>
              <a:ea typeface="Meiryo" panose="020B0604030504040204" pitchFamily="34" charset="-128"/>
            </a:endParaRPr>
          </a:p>
        </p:txBody>
      </p:sp>
      <p:sp>
        <p:nvSpPr>
          <p:cNvPr id="10" name="文本框 9"/>
          <p:cNvSpPr txBox="1"/>
          <p:nvPr/>
        </p:nvSpPr>
        <p:spPr>
          <a:xfrm>
            <a:off x="3048000" y="4577080"/>
            <a:ext cx="6096000" cy="398780"/>
          </a:xfrm>
          <a:prstGeom prst="rect">
            <a:avLst/>
          </a:prstGeom>
          <a:noFill/>
        </p:spPr>
        <p:txBody>
          <a:bodyPr wrap="square" rtlCol="0" anchor="t">
            <a:spAutoFit/>
          </a:bodyPr>
          <a:lstStyle/>
          <a:p>
            <a:pPr marL="0" lvl="0" indent="0" algn="ctr" rtl="0">
              <a:spcBef>
                <a:spcPts val="0"/>
              </a:spcBef>
              <a:spcAft>
                <a:spcPts val="0"/>
              </a:spcAft>
              <a:buNone/>
            </a:pPr>
            <a:r>
              <a:rPr lang="en-GB" sz="2000" dirty="0">
                <a:latin typeface="Meiryo" panose="020B0604030504040204" charset="-128"/>
                <a:ea typeface="Meiryo" panose="020B0604030504040204" charset="-128"/>
                <a:cs typeface="Old Standard TT" panose="00000500000000000000"/>
                <a:sym typeface="Old Standard TT" panose="00000500000000000000"/>
              </a:rPr>
              <a:t>発表：</a:t>
            </a:r>
            <a:r>
              <a:rPr lang="en-GB" sz="2000" i="1" dirty="0">
                <a:latin typeface="Meiryo" panose="020B0604030504040204" charset="-128"/>
                <a:ea typeface="Meiryo" panose="020B0604030504040204" charset="-128"/>
                <a:cs typeface="Old Standard TT" panose="00000500000000000000"/>
                <a:sym typeface="Old Standard TT" panose="00000500000000000000"/>
              </a:rPr>
              <a:t>Wei</a:t>
            </a:r>
            <a:r>
              <a:rPr lang="en-US" altLang="en-GB" sz="2000" i="1" dirty="0">
                <a:latin typeface="Meiryo" panose="020B0604030504040204" charset="-128"/>
                <a:ea typeface="Meiryo" panose="020B0604030504040204" charset="-128"/>
                <a:cs typeface="Old Standard TT" panose="00000500000000000000"/>
                <a:sym typeface="Old Standard TT" panose="00000500000000000000"/>
              </a:rPr>
              <a:t> </a:t>
            </a:r>
            <a:r>
              <a:rPr lang="en-US" altLang="zh-CN" sz="2000" i="1" dirty="0">
                <a:latin typeface="Meiryo" panose="020B0604030504040204" charset="-128"/>
                <a:ea typeface="Meiryo" panose="020B0604030504040204" charset="-128"/>
                <a:cs typeface="Old Standard TT" panose="00000500000000000000"/>
                <a:sym typeface="Old Standard TT" panose="00000500000000000000"/>
              </a:rPr>
              <a:t>Mingtao</a:t>
            </a:r>
            <a:r>
              <a:rPr lang="en-GB" sz="2000" i="1" dirty="0">
                <a:latin typeface="Meiryo" panose="020B0604030504040204" charset="-128"/>
                <a:ea typeface="Meiryo" panose="020B0604030504040204" charset="-128"/>
                <a:cs typeface="Old Standard TT" panose="00000500000000000000"/>
                <a:sym typeface="Old Standard TT" panose="00000500000000000000"/>
              </a:rPr>
              <a:t> (M2)</a:t>
            </a:r>
            <a:endParaRPr lang="en-GB" altLang="en-US" sz="2000" i="1" dirty="0">
              <a:latin typeface="Meiryo" panose="020B0604030504040204" charset="-128"/>
              <a:ea typeface="Meiryo" panose="020B0604030504040204" charset="-128"/>
              <a:cs typeface="Old Standard TT" panose="00000500000000000000"/>
              <a:sym typeface="Old Standard TT" panose="00000500000000000000"/>
            </a:endParaRPr>
          </a:p>
        </p:txBody>
      </p:sp>
      <p:sp>
        <p:nvSpPr>
          <p:cNvPr id="13" name="Text 0"/>
          <p:cNvSpPr/>
          <p:nvPr/>
        </p:nvSpPr>
        <p:spPr>
          <a:xfrm>
            <a:off x="543560" y="694055"/>
            <a:ext cx="8046720" cy="1828800"/>
          </a:xfrm>
          <a:prstGeom prst="rect">
            <a:avLst/>
          </a:prstGeom>
          <a:noFill/>
        </p:spPr>
        <p:txBody>
          <a:bodyPr wrap="square" lIns="0" tIns="0" rIns="0" bIns="0" rtlCol="0" anchor="ctr"/>
          <a:lstStyle/>
          <a:p>
            <a:pPr marL="0" indent="0">
              <a:lnSpc>
                <a:spcPct val="130000"/>
              </a:lnSpc>
              <a:buNone/>
            </a:pPr>
            <a:endParaRPr lang="en-US" sz="4000" b="1" dirty="0">
              <a:solidFill>
                <a:srgbClr val="333333"/>
              </a:solidFill>
              <a:latin typeface="Meiryo" panose="020B0604030504040204" charset="-128"/>
              <a:ea typeface="Meiryo" panose="020B0604030504040204" pitchFamily="34" charset="-122"/>
              <a:cs typeface="Meiryo" panose="020B0604030504040204" pitchFamily="34" charset="-120"/>
            </a:endParaRPr>
          </a:p>
        </p:txBody>
      </p:sp>
      <p:cxnSp>
        <p:nvCxnSpPr>
          <p:cNvPr id="5" name="直接连接符 4"/>
          <p:cNvCxnSpPr/>
          <p:nvPr/>
        </p:nvCxnSpPr>
        <p:spPr>
          <a:xfrm>
            <a:off x="601980" y="6331986"/>
            <a:ext cx="43789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7176135" y="6331986"/>
            <a:ext cx="43789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6722631-07A1-ADE3-B023-45C2C8DE0339}"/>
              </a:ext>
            </a:extLst>
          </p:cNvPr>
          <p:cNvSpPr txBox="1"/>
          <p:nvPr>
            <p:custDataLst>
              <p:tags r:id="rId4"/>
            </p:custDataLst>
          </p:nvPr>
        </p:nvSpPr>
        <p:spPr>
          <a:xfrm>
            <a:off x="5368866" y="2938911"/>
            <a:ext cx="5886450" cy="913070"/>
          </a:xfrm>
          <a:prstGeom prst="rect">
            <a:avLst/>
          </a:prstGeom>
          <a:noFill/>
        </p:spPr>
        <p:txBody>
          <a:bodyPr wrap="square" rtlCol="0" anchor="t">
            <a:spAutoFit/>
          </a:bodyPr>
          <a:lstStyle/>
          <a:p>
            <a:pPr indent="-317500" algn="ctr">
              <a:spcBef>
                <a:spcPts val="1600"/>
              </a:spcBef>
              <a:buSzPts val="1400"/>
            </a:pPr>
            <a:r>
              <a:rPr lang="en-US" altLang="ja-JP" sz="2000" dirty="0">
                <a:latin typeface="Meiryo" panose="020B0604030504040204" pitchFamily="34" charset="-128"/>
                <a:ea typeface="Meiryo" panose="020B0604030504040204" pitchFamily="34" charset="-128"/>
              </a:rPr>
              <a:t>――</a:t>
            </a:r>
            <a:r>
              <a:rPr lang="zh-CN" altLang="zh-CN" sz="2000" dirty="0">
                <a:latin typeface="Meiryo" panose="020B0604030504040204" pitchFamily="34" charset="-128"/>
                <a:ea typeface="Meiryo" panose="020B0604030504040204" pitchFamily="34" charset="-128"/>
              </a:rPr>
              <a:t>自作Common Voice評価セットによる検証</a:t>
            </a:r>
          </a:p>
          <a:p>
            <a:pPr lvl="0" indent="-317500" algn="ctr">
              <a:spcBef>
                <a:spcPts val="1600"/>
              </a:spcBef>
              <a:buSzPts val="1400"/>
            </a:pPr>
            <a:endParaRPr lang="ja-JP" altLang="en-US" sz="2000" dirty="0">
              <a:latin typeface="Meiryo" panose="020B0604030504040204" charset="-128"/>
              <a:ea typeface="Meiryo" panose="020B0604030504040204" charset="-128"/>
              <a:sym typeface="+mn-ea"/>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999999"/>
              </a:solidFill>
              <a:effectLst/>
              <a:uLnTx/>
              <a:uFillTx/>
              <a:latin typeface="Meiryo" panose="020B0604030504040204" charset="-128"/>
              <a:ea typeface="Meiryo" panose="020B0604030504040204" charset="-128"/>
              <a:cs typeface="Meiryo" panose="020B0604030504040204" pitchFamily="34" charset="-120"/>
            </a:endParaRPr>
          </a:p>
        </p:txBody>
      </p:sp>
      <p:sp>
        <p:nvSpPr>
          <p:cNvPr id="8" name="Text 3"/>
          <p:cNvSpPr/>
          <p:nvPr/>
        </p:nvSpPr>
        <p:spPr>
          <a:xfrm>
            <a:off x="427990" y="264160"/>
            <a:ext cx="11095990" cy="597535"/>
          </a:xfrm>
          <a:prstGeom prst="rect">
            <a:avLst/>
          </a:prstGeom>
          <a:noFill/>
        </p:spPr>
        <p:txBody>
          <a:bodyPr wrap="square" lIns="0" tIns="0" rIns="0" bIns="0" rtlCol="0" anchor="ctr"/>
          <a:lstStyle/>
          <a:p>
            <a:pPr lvl="0"/>
            <a:r>
              <a:rPr lang="zh-CN" altLang="zh-CN" sz="3200" b="1" dirty="0">
                <a:solidFill>
                  <a:srgbClr val="333333"/>
                </a:solidFill>
                <a:latin typeface="Meiryo" panose="020B0604030504040204" charset="-128"/>
                <a:ea typeface="Meiryo" panose="020B0604030504040204" charset="-128"/>
              </a:rPr>
              <a:t>修士研究における本発表の位置づけ</a:t>
            </a:r>
            <a:endParaRPr lang="zh-CN" altLang="en-US" sz="3200" b="1" dirty="0">
              <a:solidFill>
                <a:srgbClr val="333333"/>
              </a:solidFill>
              <a:latin typeface="Meiryo" panose="020B0604030504040204" charset="-128"/>
              <a:ea typeface="Meiryo" panose="020B0604030504040204" charset="-128"/>
            </a:endParaRPr>
          </a:p>
        </p:txBody>
      </p:sp>
      <p:sp>
        <p:nvSpPr>
          <p:cNvPr id="9" name="文本框 8">
            <a:extLst>
              <a:ext uri="{FF2B5EF4-FFF2-40B4-BE49-F238E27FC236}">
                <a16:creationId xmlns:a16="http://schemas.microsoft.com/office/drawing/2014/main" id="{200A5212-188D-11DC-708F-BCEFFAE68E59}"/>
              </a:ext>
            </a:extLst>
          </p:cNvPr>
          <p:cNvSpPr txBox="1"/>
          <p:nvPr/>
        </p:nvSpPr>
        <p:spPr>
          <a:xfrm>
            <a:off x="427990" y="1317060"/>
            <a:ext cx="10533658" cy="2386268"/>
          </a:xfrm>
          <a:prstGeom prst="rect">
            <a:avLst/>
          </a:prstGeom>
          <a:noFill/>
        </p:spPr>
        <p:txBody>
          <a:bodyPr wrap="square" rtlCol="0">
            <a:noAutofit/>
          </a:bodyPr>
          <a:lstStyle/>
          <a:p>
            <a:pPr lvl="0">
              <a:lnSpc>
                <a:spcPct val="120000"/>
              </a:lnSpc>
            </a:pPr>
            <a:r>
              <a:rPr lang="zh-CN" altLang="zh-CN" sz="2000" b="1" dirty="0">
                <a:latin typeface="Meiryo" panose="020B0604030504040204" pitchFamily="34" charset="-128"/>
                <a:ea typeface="Meiryo" panose="020B0604030504040204" pitchFamily="34" charset="-128"/>
              </a:rPr>
              <a:t>修士研究の目標は、子どもにおける選択的聴覚注意の発達を計算モデルで再現することである。そのために、Griffithらの「特徴ゲイン」モデルの増益機構に発達パラメータαを導入し、未成熟な選択的注意を表現することを目指す。</a:t>
            </a:r>
            <a:endParaRPr kumimoji="0" lang="en-US" altLang="zh-CN" sz="2000" b="1" i="0" u="none" strike="noStrike" kern="1200" cap="none" spc="0" normalizeH="0" baseline="0" noProof="0" dirty="0">
              <a:ln>
                <a:noFill/>
              </a:ln>
              <a:effectLst/>
              <a:uLnTx/>
              <a:uFillTx/>
              <a:latin typeface="Meiryo" panose="020B0604030504040204" pitchFamily="34" charset="-128"/>
              <a:ea typeface="Meiryo" panose="020B0604030504040204" pitchFamily="34" charset="-128"/>
              <a:cs typeface="Meiryo" panose="020B0604030504040204" charset="-128"/>
            </a:endParaRPr>
          </a:p>
        </p:txBody>
      </p:sp>
      <p:pic>
        <p:nvPicPr>
          <p:cNvPr id="11" name="图片 10">
            <a:extLst>
              <a:ext uri="{FF2B5EF4-FFF2-40B4-BE49-F238E27FC236}">
                <a16:creationId xmlns:a16="http://schemas.microsoft.com/office/drawing/2014/main" id="{11BE72D6-4FCC-6FE5-3669-B779B1D05F6D}"/>
              </a:ext>
            </a:extLst>
          </p:cNvPr>
          <p:cNvPicPr>
            <a:picLocks noChangeAspect="1"/>
          </p:cNvPicPr>
          <p:nvPr/>
        </p:nvPicPr>
        <p:blipFill>
          <a:blip r:embed="rId3"/>
          <a:stretch>
            <a:fillRect/>
          </a:stretch>
        </p:blipFill>
        <p:spPr>
          <a:xfrm>
            <a:off x="387944" y="3863474"/>
            <a:ext cx="10827426" cy="2366843"/>
          </a:xfrm>
          <a:prstGeom prst="rect">
            <a:avLst/>
          </a:prstGeom>
        </p:spPr>
      </p:pic>
      <p:sp>
        <p:nvSpPr>
          <p:cNvPr id="12" name="文本框 11">
            <a:extLst>
              <a:ext uri="{FF2B5EF4-FFF2-40B4-BE49-F238E27FC236}">
                <a16:creationId xmlns:a16="http://schemas.microsoft.com/office/drawing/2014/main" id="{5D45F5E9-7C24-8FAB-C7BA-7A57D5D086D2}"/>
              </a:ext>
            </a:extLst>
          </p:cNvPr>
          <p:cNvSpPr txBox="1"/>
          <p:nvPr/>
        </p:nvSpPr>
        <p:spPr>
          <a:xfrm>
            <a:off x="427990" y="2959516"/>
            <a:ext cx="11095990" cy="646331"/>
          </a:xfrm>
          <a:prstGeom prst="rect">
            <a:avLst/>
          </a:prstGeom>
          <a:noFill/>
        </p:spPr>
        <p:txBody>
          <a:bodyPr wrap="square" rtlCol="0">
            <a:spAutoFit/>
          </a:bodyPr>
          <a:lstStyle/>
          <a:p>
            <a:r>
              <a:rPr lang="zh-CN" altLang="zh-CN" b="1" dirty="0">
                <a:solidFill>
                  <a:schemeClr val="accent1"/>
                </a:solidFill>
                <a:latin typeface="Meiryo" panose="020B0604030504040204" pitchFamily="34" charset="-128"/>
                <a:ea typeface="Meiryo" panose="020B0604030504040204" pitchFamily="34" charset="-128"/>
              </a:rPr>
              <a:t>本発表は第1段階にあたる。αを導入する前に、著者のモデルが自作データ上で論文の傾向を正しく再現できることを確認する ― 以降の改造・比較すべての土台となる。</a:t>
            </a:r>
            <a:endParaRPr lang="zh-CN" altLang="en-US" b="1" dirty="0">
              <a:solidFill>
                <a:schemeClr val="accent1"/>
              </a:solidFill>
              <a:latin typeface="Meiryo" panose="020B0604030504040204" pitchFamily="34" charset="-128"/>
              <a:ea typeface="Meiryo" panose="020B0604030504040204" pitchFamily="34" charset="-128"/>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pitchFamily="34" charset="-122"/>
                <a:cs typeface="Meiryo" panose="020B0604030504040204" pitchFamily="34" charset="-120"/>
              </a:rPr>
              <a:t>1</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本発表の目的</a:t>
            </a:r>
          </a:p>
        </p:txBody>
      </p:sp>
      <p:sp>
        <p:nvSpPr>
          <p:cNvPr id="11" name="文本框 10"/>
          <p:cNvSpPr txBox="1"/>
          <p:nvPr/>
        </p:nvSpPr>
        <p:spPr>
          <a:xfrm>
            <a:off x="689610" y="977900"/>
            <a:ext cx="10812780" cy="4790959"/>
          </a:xfrm>
          <a:prstGeom prst="rect">
            <a:avLst/>
          </a:prstGeom>
          <a:noFill/>
        </p:spPr>
        <p:txBody>
          <a:bodyPr wrap="square" rtlCol="0">
            <a:noAutofit/>
          </a:bodyPr>
          <a:lstStyle/>
          <a:p>
            <a:pPr>
              <a:spcAft>
                <a:spcPts val="500"/>
              </a:spcAft>
            </a:pPr>
            <a:r>
              <a:rPr lang="en-US" altLang="ja-JP" sz="2000" dirty="0">
                <a:latin typeface="Meiryo"/>
                <a:ea typeface="Meiryo"/>
                <a:cs typeface="Meiryo"/>
              </a:rPr>
              <a:t> </a:t>
            </a:r>
            <a:r>
              <a:rPr lang="ja-JP" altLang="en-US" sz="2000" dirty="0">
                <a:latin typeface="Meiryo"/>
                <a:ea typeface="Meiryo"/>
                <a:cs typeface="Meiryo"/>
              </a:rPr>
              <a:t>本発表では、著者</a:t>
            </a:r>
            <a:r>
              <a:rPr lang="en-US" altLang="ja-JP" sz="2000" dirty="0">
                <a:latin typeface="Meiryo"/>
                <a:ea typeface="Meiryo"/>
                <a:cs typeface="Meiryo"/>
              </a:rPr>
              <a:t>(Griffith et al., 2026)</a:t>
            </a:r>
            <a:r>
              <a:rPr lang="ja-JP" altLang="en-US" sz="2000" dirty="0">
                <a:latin typeface="Meiryo"/>
                <a:ea typeface="Meiryo"/>
                <a:cs typeface="Meiryo"/>
              </a:rPr>
              <a:t>が公開した事前学習モデルを用い、</a:t>
            </a:r>
            <a:endParaRPr lang="en-US" altLang="ja-JP" sz="2000" dirty="0">
              <a:latin typeface="Meiryo"/>
              <a:ea typeface="Meiryo"/>
              <a:cs typeface="Meiryo"/>
            </a:endParaRPr>
          </a:p>
          <a:p>
            <a:pPr>
              <a:spcAft>
                <a:spcPts val="500"/>
              </a:spcAft>
            </a:pPr>
            <a:r>
              <a:rPr lang="en-US" altLang="ja-JP" sz="2000" dirty="0">
                <a:latin typeface="Meiryo"/>
                <a:ea typeface="Meiryo"/>
                <a:cs typeface="Meiryo"/>
              </a:rPr>
              <a:t>	</a:t>
            </a:r>
            <a:r>
              <a:rPr lang="zh-CN" altLang="zh-CN" sz="2000" dirty="0"/>
              <a:t>自作したCommon Voice評価セット上で、</a:t>
            </a:r>
            <a:r>
              <a:rPr lang="zh-CN" altLang="zh-CN" sz="2000" b="1" dirty="0"/>
              <a:t>混合音声中の目標単語の正答率がSN</a:t>
            </a:r>
            <a:r>
              <a:rPr lang="en-US" altLang="zh-CN" sz="2000" b="1" dirty="0"/>
              <a:t>R</a:t>
            </a:r>
            <a:r>
              <a:rPr lang="zh-CN" altLang="zh-CN" sz="2000" b="1" dirty="0"/>
              <a:t>と妨害話者の性別（同性/異性）によってどう変わるか</a:t>
            </a:r>
            <a:r>
              <a:rPr lang="zh-CN" altLang="zh-CN" sz="2000" dirty="0"/>
              <a:t>という傾向を再現できるかを報告する</a:t>
            </a:r>
            <a:endParaRPr lang="ja-JP" altLang="en-US" sz="2000" dirty="0">
              <a:latin typeface="Meiryo"/>
              <a:ea typeface="Meiryo"/>
              <a:cs typeface="Meiryo"/>
            </a:endParaRPr>
          </a:p>
          <a:p>
            <a:pPr lvl="1">
              <a:spcAft>
                <a:spcPts val="500"/>
              </a:spcAft>
            </a:pPr>
            <a:r>
              <a:rPr lang="ja-JP" altLang="en-US" sz="2000" b="1" dirty="0">
                <a:solidFill>
                  <a:srgbClr val="000000"/>
                </a:solidFill>
                <a:latin typeface="Meiryo"/>
                <a:ea typeface="Meiryo"/>
                <a:cs typeface="Meiryo"/>
              </a:rPr>
              <a:t>本発表で答える</a:t>
            </a:r>
            <a:r>
              <a:rPr lang="en-US" altLang="ja-JP" sz="2000" b="1" dirty="0">
                <a:solidFill>
                  <a:srgbClr val="000000"/>
                </a:solidFill>
                <a:latin typeface="Meiryo"/>
                <a:ea typeface="Meiryo"/>
                <a:cs typeface="Meiryo"/>
              </a:rPr>
              <a:t>2</a:t>
            </a:r>
            <a:r>
              <a:rPr lang="ja-JP" altLang="en-US" sz="2000" b="1" dirty="0">
                <a:solidFill>
                  <a:srgbClr val="000000"/>
                </a:solidFill>
                <a:latin typeface="Meiryo"/>
                <a:ea typeface="Meiryo"/>
                <a:cs typeface="Meiryo"/>
              </a:rPr>
              <a:t>つの問い</a:t>
            </a:r>
            <a:r>
              <a:rPr lang="en-US" altLang="ja-JP" sz="2000" b="1" dirty="0">
                <a:solidFill>
                  <a:srgbClr val="000000"/>
                </a:solidFill>
                <a:latin typeface="Meiryo"/>
                <a:ea typeface="Meiryo"/>
                <a:cs typeface="Meiryo"/>
              </a:rPr>
              <a:t>:</a:t>
            </a:r>
          </a:p>
          <a:p>
            <a:pPr lvl="1">
              <a:spcAft>
                <a:spcPts val="500"/>
              </a:spcAft>
            </a:pPr>
            <a:r>
              <a:rPr lang="en-US" altLang="ja-JP" sz="2000" dirty="0">
                <a:latin typeface="Meiryo"/>
                <a:ea typeface="Meiryo"/>
                <a:cs typeface="Meiryo"/>
              </a:rPr>
              <a:t>– ① </a:t>
            </a:r>
            <a:r>
              <a:rPr lang="ja-JP" altLang="en-US" sz="2000" dirty="0">
                <a:latin typeface="Meiryo"/>
                <a:ea typeface="Meiryo"/>
                <a:cs typeface="Meiryo"/>
              </a:rPr>
              <a:t>モデルは混合音声中の目標話者の中央単語を実際に認識できるか</a:t>
            </a:r>
          </a:p>
          <a:p>
            <a:pPr lvl="1">
              <a:spcAft>
                <a:spcPts val="500"/>
              </a:spcAft>
            </a:pPr>
            <a:r>
              <a:rPr lang="en-US" altLang="ja-JP" sz="2000" dirty="0">
                <a:latin typeface="Meiryo"/>
                <a:ea typeface="Meiryo"/>
                <a:cs typeface="Meiryo"/>
              </a:rPr>
              <a:t>– ② </a:t>
            </a:r>
            <a:r>
              <a:rPr lang="ja-JP" altLang="en-US" sz="2000" dirty="0">
                <a:latin typeface="Meiryo"/>
                <a:ea typeface="Meiryo"/>
                <a:cs typeface="Meiryo"/>
              </a:rPr>
              <a:t>正答率の傾向</a:t>
            </a:r>
            <a:r>
              <a:rPr lang="en-US" altLang="ja-JP" sz="2000" dirty="0">
                <a:latin typeface="Meiryo"/>
                <a:ea typeface="Meiryo"/>
                <a:cs typeface="Meiryo"/>
              </a:rPr>
              <a:t>(SNR</a:t>
            </a:r>
            <a:r>
              <a:rPr lang="ja-JP" altLang="en-US" sz="2000" dirty="0">
                <a:latin typeface="Meiryo"/>
                <a:ea typeface="Meiryo"/>
                <a:cs typeface="Meiryo"/>
              </a:rPr>
              <a:t>、および同性</a:t>
            </a:r>
            <a:r>
              <a:rPr lang="en-US" altLang="ja-JP" sz="2000" dirty="0">
                <a:latin typeface="Meiryo"/>
                <a:ea typeface="Meiryo"/>
                <a:cs typeface="Meiryo"/>
              </a:rPr>
              <a:t>/</a:t>
            </a:r>
            <a:r>
              <a:rPr lang="ja-JP" altLang="en-US" sz="2000" dirty="0">
                <a:latin typeface="Meiryo"/>
                <a:ea typeface="Meiryo"/>
                <a:cs typeface="Meiryo"/>
              </a:rPr>
              <a:t>異性妨害</a:t>
            </a:r>
            <a:r>
              <a:rPr lang="en-US" altLang="ja-JP" sz="2000" dirty="0">
                <a:latin typeface="Meiryo"/>
                <a:ea typeface="Meiryo"/>
                <a:cs typeface="Meiryo"/>
              </a:rPr>
              <a:t>)</a:t>
            </a:r>
            <a:r>
              <a:rPr lang="ja-JP" altLang="en-US" sz="2000" dirty="0">
                <a:latin typeface="Meiryo"/>
                <a:ea typeface="Meiryo"/>
                <a:cs typeface="Meiryo"/>
              </a:rPr>
              <a:t>は、論文と方向が一致するか</a:t>
            </a:r>
          </a:p>
          <a:p>
            <a:pPr>
              <a:spcAft>
                <a:spcPts val="500"/>
              </a:spcAft>
            </a:pP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位置づけ</a:t>
            </a: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再学習は行わず、著者のパラメータをそのまま使用。数値ではなく傾向を評価する</a:t>
            </a:r>
          </a:p>
          <a:p>
            <a:pPr>
              <a:spcAft>
                <a:spcPts val="500"/>
              </a:spcAft>
            </a:pPr>
            <a:r>
              <a:rPr lang="ja-JP" altLang="en-US" sz="2000" b="1" dirty="0">
                <a:solidFill>
                  <a:srgbClr val="000000"/>
                </a:solidFill>
                <a:latin typeface="Meiryo"/>
                <a:ea typeface="Meiryo"/>
                <a:cs typeface="Meiryo"/>
              </a:rPr>
              <a:t>意義</a:t>
            </a:r>
            <a:r>
              <a:rPr lang="en-US" altLang="ja-JP" sz="2000" b="1" dirty="0">
                <a:solidFill>
                  <a:srgbClr val="000000"/>
                </a:solidFill>
                <a:latin typeface="Meiryo"/>
                <a:ea typeface="Meiryo"/>
                <a:cs typeface="Meiryo"/>
              </a:rPr>
              <a:t>:</a:t>
            </a:r>
          </a:p>
          <a:p>
            <a:pPr lvl="1">
              <a:spcAft>
                <a:spcPts val="500"/>
              </a:spcAft>
            </a:pPr>
            <a:r>
              <a:rPr lang="en-US" altLang="ja-JP" sz="2000" dirty="0">
                <a:latin typeface="Meiryo"/>
                <a:ea typeface="Meiryo"/>
                <a:cs typeface="Meiryo"/>
              </a:rPr>
              <a:t>–</a:t>
            </a:r>
            <a:r>
              <a:rPr lang="zh-CN" altLang="zh-CN" sz="2000" dirty="0">
                <a:latin typeface="Meiryo"/>
                <a:ea typeface="Meiryo"/>
              </a:rPr>
              <a:t>著者のモデルが、学習時に見ていない話者・</a:t>
            </a:r>
            <a:r>
              <a:rPr lang="ja-JP" altLang="en-US" sz="2000" dirty="0">
                <a:latin typeface="Meiryo"/>
                <a:ea typeface="Meiryo"/>
              </a:rPr>
              <a:t>音声</a:t>
            </a:r>
            <a:r>
              <a:rPr lang="zh-CN" altLang="zh-CN" sz="2000" dirty="0">
                <a:latin typeface="Meiryo"/>
                <a:ea typeface="Meiryo"/>
              </a:rPr>
              <a:t>（Common Voice）に対しても機能することを示せる</a:t>
            </a:r>
            <a:r>
              <a:rPr lang="en-US" altLang="ja-JP" sz="2000" dirty="0">
                <a:latin typeface="Meiryo"/>
                <a:ea typeface="Meiryo"/>
                <a:cs typeface="Meiryo"/>
              </a:rPr>
              <a:t>—— </a:t>
            </a:r>
            <a:r>
              <a:rPr lang="ja-JP" altLang="en-US" sz="2000" dirty="0">
                <a:latin typeface="Meiryo"/>
                <a:ea typeface="Meiryo"/>
                <a:cs typeface="Meiryo"/>
              </a:rPr>
              <a:t>頑健性の証拠</a:t>
            </a: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自作の評価フローが正しく機能することを確認 </a:t>
            </a:r>
            <a:r>
              <a:rPr lang="en-US" altLang="ja-JP" sz="2000" dirty="0">
                <a:latin typeface="Meiryo"/>
                <a:ea typeface="Meiryo"/>
                <a:cs typeface="Meiryo"/>
              </a:rPr>
              <a:t>—— </a:t>
            </a:r>
            <a:r>
              <a:rPr lang="ja-JP" altLang="en-US" sz="2000" dirty="0">
                <a:latin typeface="Meiryo"/>
                <a:ea typeface="Meiryo"/>
                <a:cs typeface="Meiryo"/>
              </a:rPr>
              <a:t>今後の拡張の基盤</a:t>
            </a: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論文の主要な知見を再現し、追試としての価値を加える</a:t>
            </a:r>
          </a:p>
          <a:p>
            <a:pPr indent="0" algn="l" fontAlgn="auto">
              <a:lnSpc>
                <a:spcPct val="120000"/>
              </a:lnSpc>
            </a:pPr>
            <a:endParaRPr lang="en-US" altLang="zh-CN"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85967"/>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2</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研究背景</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pic>
        <p:nvPicPr>
          <p:cNvPr id="2" name="图片 1">
            <a:extLst>
              <a:ext uri="{FF2B5EF4-FFF2-40B4-BE49-F238E27FC236}">
                <a16:creationId xmlns:a16="http://schemas.microsoft.com/office/drawing/2014/main" id="{2A6CDF92-14FA-D865-DEE8-EA7A13FDF80D}"/>
              </a:ext>
            </a:extLst>
          </p:cNvPr>
          <p:cNvPicPr>
            <a:picLocks noChangeAspect="1"/>
          </p:cNvPicPr>
          <p:nvPr/>
        </p:nvPicPr>
        <p:blipFill>
          <a:blip r:embed="rId3"/>
          <a:stretch>
            <a:fillRect/>
          </a:stretch>
        </p:blipFill>
        <p:spPr>
          <a:xfrm>
            <a:off x="1423670" y="697374"/>
            <a:ext cx="9104630" cy="2973344"/>
          </a:xfrm>
          <a:prstGeom prst="rect">
            <a:avLst/>
          </a:prstGeom>
        </p:spPr>
      </p:pic>
      <p:sp>
        <p:nvSpPr>
          <p:cNvPr id="5" name="TextBox 2">
            <a:extLst>
              <a:ext uri="{FF2B5EF4-FFF2-40B4-BE49-F238E27FC236}">
                <a16:creationId xmlns:a16="http://schemas.microsoft.com/office/drawing/2014/main" id="{25C0C053-AB30-096B-172B-CB78AD9C0E4D}"/>
              </a:ext>
            </a:extLst>
          </p:cNvPr>
          <p:cNvSpPr txBox="1"/>
          <p:nvPr/>
        </p:nvSpPr>
        <p:spPr>
          <a:xfrm>
            <a:off x="427990" y="3927821"/>
            <a:ext cx="11290559" cy="274690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500"/>
              </a:spcAft>
            </a:pPr>
            <a:r>
              <a:rPr lang="zh-CN" altLang="zh-CN" sz="2000" b="1" dirty="0">
                <a:solidFill>
                  <a:schemeClr val="accent1"/>
                </a:solidFill>
                <a:latin typeface="Meiryo" panose="020B0604030504040204" pitchFamily="34" charset="-128"/>
                <a:ea typeface="Meiryo" panose="020B0604030504040204" pitchFamily="34" charset="-128"/>
              </a:rPr>
              <a:t>この課題を、「特徴ゲイン」型の注意機構をもつニューラルネットワークで解く。これは、雑音下で特定の話者に注意を向ける人間の「カクテルパーティー」聴取を模擬したものである。</a:t>
            </a:r>
            <a:endParaRPr sz="2000" b="1" dirty="0">
              <a:solidFill>
                <a:schemeClr val="accent1"/>
              </a:solidFill>
              <a:latin typeface="Meiryo" panose="020B0604030504040204" pitchFamily="34" charset="-128"/>
              <a:ea typeface="Meiryo" panose="020B0604030504040204" pitchFamily="34" charset="-128"/>
              <a:cs typeface="Meiryo"/>
            </a:endParaRPr>
          </a:p>
          <a:p>
            <a:pPr lvl="1">
              <a:spcAft>
                <a:spcPts val="500"/>
              </a:spcAft>
            </a:pPr>
            <a:r>
              <a:rPr sz="2000" b="0" dirty="0">
                <a:latin typeface="Meiryo"/>
                <a:ea typeface="Meiryo"/>
                <a:cs typeface="Meiryo"/>
              </a:rPr>
              <a:t>– </a:t>
            </a:r>
            <a:r>
              <a:rPr sz="2000" b="0" dirty="0" err="1">
                <a:latin typeface="Meiryo"/>
                <a:ea typeface="Meiryo"/>
                <a:cs typeface="Meiryo"/>
              </a:rPr>
              <a:t>手がかり音</a:t>
            </a:r>
            <a:r>
              <a:rPr sz="2000" b="0" dirty="0">
                <a:latin typeface="Meiryo"/>
                <a:ea typeface="Meiryo"/>
                <a:cs typeface="Meiryo"/>
              </a:rPr>
              <a:t>(cue)</a:t>
            </a:r>
            <a:r>
              <a:rPr sz="2000" b="0" dirty="0" err="1">
                <a:latin typeface="Meiryo"/>
                <a:ea typeface="Meiryo"/>
                <a:cs typeface="Meiryo"/>
              </a:rPr>
              <a:t>と「目標+妨害」の混合音声を入力し、混合音声中の目標話者の中央単語を答える</a:t>
            </a:r>
            <a:endParaRPr sz="2000" b="0" dirty="0">
              <a:latin typeface="Meiryo"/>
              <a:ea typeface="Meiryo"/>
              <a:cs typeface="Meiryo"/>
            </a:endParaRPr>
          </a:p>
          <a:p>
            <a:pPr lvl="1">
              <a:spcAft>
                <a:spcPts val="500"/>
              </a:spcAft>
            </a:pPr>
            <a:r>
              <a:rPr sz="2000" b="0" dirty="0">
                <a:latin typeface="Meiryo" panose="020B0604030504040204" pitchFamily="34" charset="-128"/>
                <a:ea typeface="Meiryo" panose="020B0604030504040204" pitchFamily="34" charset="-128"/>
                <a:cs typeface="Meiryo"/>
              </a:rPr>
              <a:t> </a:t>
            </a:r>
            <a:r>
              <a:rPr lang="zh-CN" altLang="zh-CN" sz="2000" dirty="0">
                <a:latin typeface="Meiryo" panose="020B0604030504040204" pitchFamily="34" charset="-128"/>
                <a:ea typeface="Meiryo" panose="020B0604030504040204" pitchFamily="34" charset="-128"/>
              </a:rPr>
              <a:t>– cueを手がかりに、目標話者の声に合う特徴を強め、それ以外を抑えることで、混合音声から目標を分離する</a:t>
            </a:r>
            <a:endParaRPr sz="2000" b="0" dirty="0">
              <a:latin typeface="Meiryo" panose="020B0604030504040204" pitchFamily="34" charset="-128"/>
              <a:ea typeface="Meiryo" panose="020B0604030504040204" pitchFamily="34" charset="-128"/>
              <a:cs typeface="Meiryo"/>
            </a:endParaRPr>
          </a:p>
          <a:p>
            <a:pPr lvl="1">
              <a:spcAft>
                <a:spcPts val="500"/>
              </a:spcAft>
            </a:pPr>
            <a:r>
              <a:rPr lang="zh-CN" altLang="zh-CN" sz="2000" dirty="0">
                <a:latin typeface="Meiryo" panose="020B0604030504040204" pitchFamily="34" charset="-128"/>
                <a:ea typeface="Meiryo" panose="020B0604030504040204" pitchFamily="34" charset="-128"/>
              </a:rPr>
              <a:t>– 正答率は妨害の条件によって変わる：SN比が高いほど正答率が上がり、妨害は同性より異性のほうが聞き分けやすい</a:t>
            </a:r>
            <a:endParaRPr sz="2000" b="0" dirty="0">
              <a:solidFill>
                <a:srgbClr val="C0392B"/>
              </a:solidFill>
              <a:latin typeface="Meiryo" panose="020B0604030504040204" pitchFamily="34" charset="-128"/>
              <a:ea typeface="Meiryo" panose="020B0604030504040204" pitchFamily="34" charset="-128"/>
              <a:cs typeface="Meiryo"/>
            </a:endParaRPr>
          </a:p>
        </p:txBody>
      </p:sp>
      <p:sp>
        <p:nvSpPr>
          <p:cNvPr id="6" name="src_caption">
            <a:extLst>
              <a:ext uri="{FF2B5EF4-FFF2-40B4-BE49-F238E27FC236}">
                <a16:creationId xmlns:a16="http://schemas.microsoft.com/office/drawing/2014/main" id="{BEA4B83D-8D7A-C828-1E0B-BC26AC87A0EB}"/>
              </a:ext>
            </a:extLst>
          </p:cNvPr>
          <p:cNvSpPr txBox="1"/>
          <p:nvPr/>
        </p:nvSpPr>
        <p:spPr>
          <a:xfrm>
            <a:off x="4014411" y="3618184"/>
            <a:ext cx="3637915" cy="274320"/>
          </a:xfrm>
          <a:prstGeom prst="rect">
            <a:avLst/>
          </a:prstGeom>
          <a:noFill/>
        </p:spPr>
        <p:txBody>
          <a:bodyPr wrap="square" lIns="0" tIns="0" rIns="0" bIns="0"/>
          <a:lstStyle>
            <a:defPPr marR="0" lvl="0" algn="l" rtl="0">
              <a:lnSpc>
                <a:spcPct val="100000"/>
              </a:lnSpc>
              <a:spcBef>
                <a:spcPts val="0"/>
              </a:spcBef>
              <a:spcAft>
                <a:spcPts val="0"/>
              </a:spcAft>
            </a:defPPr>
            <a:lvl1pPr>
              <a:defRPr sz="800" i="1">
                <a:solidFill>
                  <a:srgbClr val="808080"/>
                </a:solidFill>
              </a:defRPr>
            </a:lvl1pPr>
          </a:lstStyle>
          <a:p>
            <a:pPr algn="ctr"/>
            <a:r>
              <a:rPr lang="en-US" altLang="ja-JP" sz="1800" dirty="0">
                <a:latin typeface="Times New Roman" panose="02020603050405020304" charset="0"/>
                <a:cs typeface="Times New Roman" panose="02020603050405020304" charset="0"/>
              </a:rPr>
              <a:t>Griffith et al. (2026).,  Fig. 1a</a:t>
            </a:r>
            <a:endParaRPr lang="en-US" sz="1800" dirty="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pitchFamily="34" charset="-122"/>
                <a:cs typeface="Meiryo" panose="020B0604030504040204" pitchFamily="34" charset="-120"/>
              </a:rPr>
              <a:t>3</a:t>
            </a:r>
          </a:p>
        </p:txBody>
      </p:sp>
      <p:sp>
        <p:nvSpPr>
          <p:cNvPr id="9" name="Text 3"/>
          <p:cNvSpPr/>
          <p:nvPr/>
        </p:nvSpPr>
        <p:spPr>
          <a:xfrm>
            <a:off x="427990" y="264160"/>
            <a:ext cx="11095990" cy="597535"/>
          </a:xfrm>
          <a:prstGeom prst="rect">
            <a:avLst/>
          </a:prstGeom>
          <a:noFill/>
        </p:spPr>
        <p:txBody>
          <a:bodyPr wrap="square" lIns="0" tIns="0" rIns="0" bIns="0" rtlCol="0" anchor="ctr"/>
          <a:lstStyle/>
          <a:p>
            <a:r>
              <a:rPr lang="zh-CN" altLang="en-US" sz="3200" b="1" dirty="0">
                <a:solidFill>
                  <a:srgbClr val="000000"/>
                </a:solidFill>
                <a:latin typeface="Meiryo"/>
                <a:ea typeface="Meiryo"/>
                <a:cs typeface="Meiryo"/>
              </a:rPr>
              <a:t>私</a:t>
            </a:r>
            <a:r>
              <a:rPr lang="ja-JP" altLang="en-US" sz="3200" b="1" dirty="0">
                <a:solidFill>
                  <a:srgbClr val="000000"/>
                </a:solidFill>
                <a:latin typeface="Meiryo"/>
                <a:ea typeface="Meiryo"/>
                <a:cs typeface="Meiryo"/>
              </a:rPr>
              <a:t>が</a:t>
            </a:r>
            <a:r>
              <a:rPr lang="zh-CN" altLang="en-US" sz="3200" b="1" dirty="0">
                <a:solidFill>
                  <a:srgbClr val="000000"/>
                </a:solidFill>
                <a:latin typeface="Meiryo"/>
                <a:ea typeface="Meiryo"/>
                <a:cs typeface="Meiryo"/>
              </a:rPr>
              <a:t>何</a:t>
            </a:r>
            <a:r>
              <a:rPr lang="ja-JP" altLang="en-US" sz="3200" b="1" dirty="0">
                <a:solidFill>
                  <a:srgbClr val="000000"/>
                </a:solidFill>
                <a:latin typeface="Meiryo"/>
                <a:ea typeface="Meiryo"/>
                <a:cs typeface="Meiryo"/>
              </a:rPr>
              <a:t>を、どう</a:t>
            </a:r>
            <a:r>
              <a:rPr lang="zh-CN" altLang="en-US" sz="3200" b="1" dirty="0">
                <a:solidFill>
                  <a:srgbClr val="000000"/>
                </a:solidFill>
                <a:latin typeface="Meiryo"/>
                <a:ea typeface="Meiryo"/>
                <a:cs typeface="Meiryo"/>
              </a:rPr>
              <a:t>行</a:t>
            </a:r>
            <a:r>
              <a:rPr lang="ja-JP" altLang="en-US" sz="3200" b="1" dirty="0">
                <a:solidFill>
                  <a:srgbClr val="000000"/>
                </a:solidFill>
                <a:latin typeface="Meiryo"/>
                <a:ea typeface="Meiryo"/>
                <a:cs typeface="Meiryo"/>
              </a:rPr>
              <a:t>ったか</a:t>
            </a:r>
            <a:endParaRPr lang="zh-CN" altLang="en-US" sz="3200" dirty="0"/>
          </a:p>
        </p:txBody>
      </p:sp>
      <p:sp>
        <p:nvSpPr>
          <p:cNvPr id="14" name="文本框 13"/>
          <p:cNvSpPr txBox="1"/>
          <p:nvPr/>
        </p:nvSpPr>
        <p:spPr>
          <a:xfrm>
            <a:off x="427990" y="1087437"/>
            <a:ext cx="9802495" cy="5410200"/>
          </a:xfrm>
          <a:prstGeom prst="rect">
            <a:avLst/>
          </a:prstGeom>
          <a:noFill/>
        </p:spPr>
        <p:txBody>
          <a:bodyPr wrap="square" rtlCol="0">
            <a:noAutofit/>
          </a:bodyPr>
          <a:lstStyle/>
          <a:p>
            <a:pPr>
              <a:spcAft>
                <a:spcPts val="500"/>
              </a:spcAft>
            </a:pPr>
            <a:r>
              <a:rPr lang="ja-JP" altLang="en-US" sz="2000" b="1" dirty="0">
                <a:solidFill>
                  <a:srgbClr val="000000"/>
                </a:solidFill>
                <a:latin typeface="Meiryo"/>
                <a:ea typeface="Meiryo"/>
                <a:cs typeface="Meiryo"/>
              </a:rPr>
              <a:t>著者と同じ点</a:t>
            </a:r>
            <a:r>
              <a:rPr lang="en-US" altLang="ja-JP" sz="2000" b="1" dirty="0">
                <a:solidFill>
                  <a:srgbClr val="000000"/>
                </a:solidFill>
                <a:latin typeface="Meiryo"/>
                <a:ea typeface="Meiryo"/>
                <a:cs typeface="Meiryo"/>
              </a:rPr>
              <a:t>:</a:t>
            </a: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モデルと事前学習パラメータ </a:t>
            </a:r>
            <a:r>
              <a:rPr lang="en-US" altLang="ja-JP" sz="2000" dirty="0">
                <a:latin typeface="Meiryo"/>
                <a:ea typeface="Meiryo"/>
                <a:cs typeface="Meiryo"/>
              </a:rPr>
              <a:t>/ </a:t>
            </a:r>
            <a:r>
              <a:rPr lang="ja-JP" altLang="en-US" sz="2000" dirty="0">
                <a:latin typeface="Meiryo"/>
                <a:ea typeface="Meiryo"/>
                <a:cs typeface="Meiryo"/>
              </a:rPr>
              <a:t>タスク定義</a:t>
            </a:r>
            <a:r>
              <a:rPr lang="en-US" altLang="ja-JP" sz="2000" dirty="0">
                <a:latin typeface="Meiryo"/>
                <a:ea typeface="Meiryo"/>
                <a:cs typeface="Meiryo"/>
              </a:rPr>
              <a:t>(cue+</a:t>
            </a:r>
            <a:r>
              <a:rPr lang="ja-JP" altLang="en-US" sz="2000" dirty="0">
                <a:latin typeface="Meiryo"/>
                <a:ea typeface="Meiryo"/>
                <a:cs typeface="Meiryo"/>
              </a:rPr>
              <a:t>混合→中央単語</a:t>
            </a:r>
            <a:r>
              <a:rPr lang="en-US" altLang="ja-JP" sz="2000" dirty="0">
                <a:latin typeface="Meiryo"/>
                <a:ea typeface="Meiryo"/>
                <a:cs typeface="Meiryo"/>
              </a:rPr>
              <a:t>) / </a:t>
            </a:r>
            <a:r>
              <a:rPr lang="ja-JP" altLang="en-US" sz="2000" dirty="0">
                <a:latin typeface="Meiryo"/>
                <a:ea typeface="Meiryo"/>
                <a:cs typeface="Meiryo"/>
              </a:rPr>
              <a:t>評価の枠組み</a:t>
            </a:r>
            <a:r>
              <a:rPr lang="en-US" altLang="ja-JP" sz="2000" dirty="0">
                <a:latin typeface="Meiryo"/>
                <a:ea typeface="Meiryo"/>
                <a:cs typeface="Meiryo"/>
              </a:rPr>
              <a:t>(SNR</a:t>
            </a:r>
            <a:r>
              <a:rPr lang="ja-JP" altLang="en-US" sz="2000" dirty="0">
                <a:latin typeface="Meiryo"/>
                <a:ea typeface="Meiryo"/>
                <a:cs typeface="Meiryo"/>
              </a:rPr>
              <a:t>、同性</a:t>
            </a:r>
            <a:r>
              <a:rPr lang="en-US" altLang="ja-JP" sz="2000" dirty="0">
                <a:latin typeface="Meiryo"/>
                <a:ea typeface="Meiryo"/>
                <a:cs typeface="Meiryo"/>
              </a:rPr>
              <a:t>/</a:t>
            </a:r>
            <a:r>
              <a:rPr lang="ja-JP" altLang="en-US" sz="2000" dirty="0">
                <a:latin typeface="Meiryo"/>
                <a:ea typeface="Meiryo"/>
                <a:cs typeface="Meiryo"/>
              </a:rPr>
              <a:t>異性</a:t>
            </a:r>
            <a:r>
              <a:rPr lang="en-US" altLang="ja-JP" sz="2000" dirty="0">
                <a:latin typeface="Meiryo"/>
                <a:ea typeface="Meiryo"/>
                <a:cs typeface="Meiryo"/>
              </a:rPr>
              <a:t>) / </a:t>
            </a:r>
            <a:r>
              <a:rPr lang="ja-JP" altLang="en-US" sz="2000" dirty="0">
                <a:latin typeface="Meiryo"/>
                <a:ea typeface="Meiryo"/>
                <a:cs typeface="Meiryo"/>
              </a:rPr>
              <a:t>採点規則</a:t>
            </a:r>
          </a:p>
          <a:p>
            <a:pPr>
              <a:spcAft>
                <a:spcPts val="500"/>
              </a:spcAft>
            </a:pPr>
            <a:r>
              <a:rPr lang="ja-JP" altLang="en-US" sz="2000" b="1" dirty="0">
                <a:solidFill>
                  <a:srgbClr val="000000"/>
                </a:solidFill>
                <a:latin typeface="Meiryo"/>
                <a:ea typeface="Meiryo"/>
                <a:cs typeface="Meiryo"/>
              </a:rPr>
              <a:t>私自身が行った作業</a:t>
            </a:r>
            <a:r>
              <a:rPr lang="en-US" altLang="ja-JP" sz="2000" b="1" dirty="0">
                <a:solidFill>
                  <a:srgbClr val="000000"/>
                </a:solidFill>
                <a:latin typeface="Meiryo"/>
                <a:ea typeface="Meiryo"/>
                <a:cs typeface="Meiryo"/>
              </a:rPr>
              <a:t>:</a:t>
            </a:r>
          </a:p>
          <a:p>
            <a:pPr lvl="1">
              <a:spcAft>
                <a:spcPts val="500"/>
              </a:spcAft>
            </a:pPr>
            <a:r>
              <a:rPr lang="en-US" altLang="ja-JP" sz="2000" dirty="0">
                <a:solidFill>
                  <a:srgbClr val="0070C0"/>
                </a:solidFill>
                <a:latin typeface="Meiryo"/>
                <a:ea typeface="Meiryo"/>
                <a:cs typeface="Meiryo"/>
              </a:rPr>
              <a:t>– </a:t>
            </a:r>
            <a:r>
              <a:rPr lang="ja-JP" altLang="en-US" sz="2000" dirty="0">
                <a:solidFill>
                  <a:srgbClr val="0070C0"/>
                </a:solidFill>
                <a:latin typeface="Meiryo"/>
                <a:ea typeface="Meiryo"/>
                <a:cs typeface="Meiryo"/>
              </a:rPr>
              <a:t>著者の入力データは非公開 → 評価セットを一から構築する必要がある</a:t>
            </a:r>
          </a:p>
          <a:p>
            <a:pPr lvl="1">
              <a:spcAft>
                <a:spcPts val="500"/>
              </a:spcAft>
            </a:pPr>
            <a:r>
              <a:rPr lang="en-US" altLang="ja-JP" sz="2000" dirty="0">
                <a:latin typeface="Meiryo"/>
                <a:ea typeface="Meiryo"/>
                <a:cs typeface="Meiryo"/>
              </a:rPr>
              <a:t>– ① Common Voice v9 </a:t>
            </a:r>
            <a:r>
              <a:rPr lang="ja-JP" altLang="en-US" sz="2000" dirty="0">
                <a:latin typeface="Meiryo"/>
                <a:ea typeface="Meiryo"/>
                <a:cs typeface="Meiryo"/>
              </a:rPr>
              <a:t>から話者と録音を選定</a:t>
            </a:r>
            <a:r>
              <a:rPr lang="en-US" altLang="ja-JP" sz="2000" dirty="0">
                <a:latin typeface="Meiryo"/>
                <a:ea typeface="Meiryo"/>
                <a:cs typeface="Meiryo"/>
              </a:rPr>
              <a:t>(</a:t>
            </a:r>
            <a:r>
              <a:rPr lang="ja-JP" altLang="en-US" sz="2000" dirty="0">
                <a:latin typeface="Meiryo"/>
                <a:ea typeface="Meiryo"/>
                <a:cs typeface="Meiryo"/>
              </a:rPr>
              <a:t>性別均衡・話者分離</a:t>
            </a:r>
            <a:r>
              <a:rPr lang="en-US" altLang="ja-JP" sz="2000" dirty="0">
                <a:latin typeface="Meiryo"/>
                <a:ea typeface="Meiryo"/>
                <a:cs typeface="Meiryo"/>
              </a:rPr>
              <a:t>)</a:t>
            </a:r>
          </a:p>
          <a:p>
            <a:pPr lvl="1">
              <a:spcAft>
                <a:spcPts val="500"/>
              </a:spcAft>
            </a:pPr>
            <a:r>
              <a:rPr lang="en-US" altLang="ja-JP" sz="2000" dirty="0">
                <a:latin typeface="Meiryo"/>
                <a:ea typeface="Meiryo"/>
                <a:cs typeface="Meiryo"/>
              </a:rPr>
              <a:t>– ② </a:t>
            </a:r>
            <a:r>
              <a:rPr lang="ja-JP" altLang="en-US" sz="2000" dirty="0">
                <a:latin typeface="Meiryo"/>
                <a:ea typeface="Meiryo"/>
                <a:cs typeface="Meiryo"/>
              </a:rPr>
              <a:t>強制</a:t>
            </a:r>
            <a:r>
              <a:rPr lang="zh-CN" altLang="zh-CN" sz="2000" dirty="0"/>
              <a:t>アラインメント</a:t>
            </a:r>
            <a:r>
              <a:rPr lang="ja-JP" altLang="en-US" sz="2000" dirty="0">
                <a:latin typeface="Meiryo"/>
                <a:ea typeface="Meiryo"/>
                <a:cs typeface="Meiryo"/>
              </a:rPr>
              <a:t>で各単語の時間境界を推定</a:t>
            </a:r>
            <a:r>
              <a:rPr lang="en-US" altLang="ja-JP" sz="2000" dirty="0">
                <a:latin typeface="Meiryo"/>
                <a:ea typeface="Meiryo"/>
                <a:cs typeface="Meiryo"/>
              </a:rPr>
              <a:t>(</a:t>
            </a:r>
            <a:r>
              <a:rPr lang="zh-CN" altLang="zh-CN" sz="2000" dirty="0"/>
              <a:t>Common Voiceには存在しない情報</a:t>
            </a:r>
            <a:r>
              <a:rPr lang="en-US" altLang="ja-JP" sz="2000" dirty="0">
                <a:latin typeface="Meiryo"/>
                <a:ea typeface="Meiryo"/>
                <a:cs typeface="Meiryo"/>
              </a:rPr>
              <a:t>)</a:t>
            </a:r>
          </a:p>
          <a:p>
            <a:pPr lvl="1">
              <a:spcAft>
                <a:spcPts val="500"/>
              </a:spcAft>
            </a:pPr>
            <a:r>
              <a:rPr lang="en-US" altLang="ja-JP" sz="2000" dirty="0">
                <a:latin typeface="Meiryo"/>
                <a:ea typeface="Meiryo"/>
                <a:cs typeface="Meiryo"/>
              </a:rPr>
              <a:t>– ③ 800</a:t>
            </a:r>
            <a:r>
              <a:rPr lang="ja-JP" altLang="en-US" sz="2000" dirty="0">
                <a:latin typeface="Meiryo"/>
                <a:ea typeface="Meiryo"/>
                <a:cs typeface="Meiryo"/>
              </a:rPr>
              <a:t>語彙と時間余白の条件で目標単語を選定</a:t>
            </a:r>
          </a:p>
          <a:p>
            <a:pPr lvl="1">
              <a:spcAft>
                <a:spcPts val="500"/>
              </a:spcAft>
            </a:pPr>
            <a:r>
              <a:rPr lang="en-US" altLang="ja-JP" sz="2000" dirty="0">
                <a:latin typeface="Meiryo"/>
                <a:ea typeface="Meiryo"/>
                <a:cs typeface="Meiryo"/>
              </a:rPr>
              <a:t>– ④ cue/</a:t>
            </a:r>
            <a:r>
              <a:rPr lang="ja-JP" altLang="en-US" sz="2000" dirty="0">
                <a:latin typeface="Meiryo"/>
                <a:ea typeface="Meiryo"/>
                <a:cs typeface="Meiryo"/>
              </a:rPr>
              <a:t>目標</a:t>
            </a:r>
            <a:r>
              <a:rPr lang="en-US" altLang="ja-JP" sz="2000" dirty="0">
                <a:latin typeface="Meiryo"/>
                <a:ea typeface="Meiryo"/>
                <a:cs typeface="Meiryo"/>
              </a:rPr>
              <a:t>/</a:t>
            </a:r>
            <a:r>
              <a:rPr lang="ja-JP" altLang="en-US" sz="2000" dirty="0">
                <a:latin typeface="Meiryo"/>
                <a:ea typeface="Meiryo"/>
                <a:cs typeface="Meiryo"/>
              </a:rPr>
              <a:t>妨害の三つ組を構成し、</a:t>
            </a:r>
            <a:r>
              <a:rPr lang="en-US" altLang="ja-JP" sz="2000" dirty="0">
                <a:latin typeface="Meiryo"/>
                <a:ea typeface="Meiryo"/>
                <a:cs typeface="Meiryo"/>
              </a:rPr>
              <a:t>6</a:t>
            </a:r>
            <a:r>
              <a:rPr lang="ja-JP" altLang="en-US" sz="2000" dirty="0">
                <a:latin typeface="Meiryo"/>
                <a:ea typeface="Meiryo"/>
                <a:cs typeface="Meiryo"/>
              </a:rPr>
              <a:t>段階</a:t>
            </a:r>
            <a:r>
              <a:rPr lang="en-US" altLang="ja-JP" sz="2000" dirty="0">
                <a:latin typeface="Meiryo"/>
                <a:ea typeface="Meiryo"/>
                <a:cs typeface="Meiryo"/>
              </a:rPr>
              <a:t>SNR</a:t>
            </a:r>
            <a:r>
              <a:rPr lang="ja-JP" altLang="en-US" sz="2000" dirty="0">
                <a:latin typeface="Meiryo"/>
                <a:ea typeface="Meiryo"/>
                <a:cs typeface="Meiryo"/>
              </a:rPr>
              <a:t>で混合、</a:t>
            </a:r>
            <a:r>
              <a:rPr lang="en-US" altLang="ja-JP" sz="2000" dirty="0">
                <a:latin typeface="Meiryo"/>
                <a:ea typeface="Meiryo"/>
                <a:cs typeface="Meiryo"/>
              </a:rPr>
              <a:t>RMS</a:t>
            </a:r>
            <a:r>
              <a:rPr lang="ja-JP" altLang="en-US" sz="2000" dirty="0">
                <a:latin typeface="Meiryo"/>
                <a:ea typeface="Meiryo"/>
                <a:cs typeface="Meiryo"/>
              </a:rPr>
              <a:t>正規化、</a:t>
            </a:r>
            <a:r>
              <a:rPr lang="en-US" altLang="ja-JP" sz="2000" dirty="0">
                <a:latin typeface="Meiryo"/>
                <a:ea typeface="Meiryo"/>
                <a:cs typeface="Meiryo"/>
              </a:rPr>
              <a:t>diotic</a:t>
            </a:r>
            <a:r>
              <a:rPr lang="ja-JP" altLang="en-US" sz="2000" dirty="0">
                <a:latin typeface="Meiryo"/>
                <a:ea typeface="Meiryo"/>
                <a:cs typeface="Meiryo"/>
              </a:rPr>
              <a:t>化</a:t>
            </a:r>
          </a:p>
          <a:p>
            <a:pPr>
              <a:spcAft>
                <a:spcPts val="500"/>
              </a:spcAft>
            </a:pP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要点</a:t>
            </a:r>
            <a:r>
              <a:rPr lang="en-US" altLang="ja-JP" sz="2000" b="1" dirty="0">
                <a:solidFill>
                  <a:srgbClr val="0070C0"/>
                </a:solidFill>
                <a:latin typeface="Meiryo"/>
                <a:ea typeface="Meiryo"/>
                <a:cs typeface="Meiryo"/>
              </a:rPr>
              <a:t>: </a:t>
            </a:r>
            <a:r>
              <a:rPr lang="ja-JP" altLang="en-US" sz="2000" b="1" dirty="0">
                <a:solidFill>
                  <a:srgbClr val="0070C0"/>
                </a:solidFill>
                <a:latin typeface="Meiryo"/>
                <a:ea typeface="Meiryo"/>
                <a:cs typeface="Meiryo"/>
              </a:rPr>
              <a:t>著者のデータを流用したのではなく、著者のモデルを自作の評価セットで検証した</a:t>
            </a:r>
          </a:p>
          <a:p>
            <a:pPr lvl="0" indent="0" fontAlgn="auto">
              <a:lnSpc>
                <a:spcPct val="120000"/>
              </a:lnSpc>
            </a:pPr>
            <a:endParaRPr lang="en-US" altLang="zh-CN" sz="2400" dirty="0">
              <a:latin typeface="Meiryo" panose="020B0604030504040204" charset="-128"/>
              <a:ea typeface="Meiryo" panose="020B0604030504040204" charset="-128"/>
              <a:cs typeface="Meiryo" panose="020B0604030504040204" charset="-128"/>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DA04455-E7EA-C420-B91C-EC2D47DCD98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8EEF1BB-C3A0-EB41-1989-AADA167B3400}"/>
              </a:ext>
            </a:extLst>
          </p:cNvPr>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a:extLst>
              <a:ext uri="{FF2B5EF4-FFF2-40B4-BE49-F238E27FC236}">
                <a16:creationId xmlns:a16="http://schemas.microsoft.com/office/drawing/2014/main" id="{DA44DF8D-1B33-0E40-EC10-30832631BA03}"/>
              </a:ext>
            </a:extLst>
          </p:cNvPr>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4</a:t>
            </a:r>
          </a:p>
        </p:txBody>
      </p:sp>
      <p:sp>
        <p:nvSpPr>
          <p:cNvPr id="8" name="Text 3">
            <a:extLst>
              <a:ext uri="{FF2B5EF4-FFF2-40B4-BE49-F238E27FC236}">
                <a16:creationId xmlns:a16="http://schemas.microsoft.com/office/drawing/2014/main" id="{F5F70990-9AD0-81F5-5ACF-2FBB41A61D3A}"/>
              </a:ext>
            </a:extLst>
          </p:cNvPr>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データ</a:t>
            </a:r>
            <a:r>
              <a:rPr lang="zh-CN" altLang="en-US" sz="3200" b="1" dirty="0">
                <a:solidFill>
                  <a:srgbClr val="000000"/>
                </a:solidFill>
                <a:latin typeface="Meiryo"/>
                <a:ea typeface="Meiryo"/>
                <a:cs typeface="Meiryo"/>
              </a:rPr>
              <a:t>準備</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9" name="文本框 8">
            <a:extLst>
              <a:ext uri="{FF2B5EF4-FFF2-40B4-BE49-F238E27FC236}">
                <a16:creationId xmlns:a16="http://schemas.microsoft.com/office/drawing/2014/main" id="{0A4F88E3-EA4F-1303-860A-D1B5044AA1E2}"/>
              </a:ext>
            </a:extLst>
          </p:cNvPr>
          <p:cNvSpPr txBox="1"/>
          <p:nvPr/>
        </p:nvSpPr>
        <p:spPr>
          <a:xfrm>
            <a:off x="427990" y="1538922"/>
            <a:ext cx="9802495" cy="5410200"/>
          </a:xfrm>
          <a:prstGeom prst="rect">
            <a:avLst/>
          </a:prstGeom>
          <a:noFill/>
        </p:spPr>
        <p:txBody>
          <a:bodyPr wrap="square" rtlCol="0">
            <a:noAutofit/>
          </a:bodyPr>
          <a:lstStyle/>
          <a:p>
            <a:pPr>
              <a:spcAft>
                <a:spcPts val="500"/>
              </a:spcAft>
            </a:pPr>
            <a:r>
              <a:rPr lang="en-US" altLang="ja-JP" sz="2000" dirty="0">
                <a:latin typeface="Meiryo"/>
                <a:ea typeface="Meiryo"/>
                <a:cs typeface="Meiryo"/>
              </a:rPr>
              <a:t> </a:t>
            </a:r>
            <a:r>
              <a:rPr lang="ja-JP" altLang="en-US" sz="2000" b="1" dirty="0">
                <a:latin typeface="Meiryo"/>
                <a:ea typeface="Meiryo"/>
                <a:cs typeface="Meiryo"/>
              </a:rPr>
              <a:t>コーパス</a:t>
            </a:r>
            <a:r>
              <a:rPr lang="en-US" altLang="ja-JP" sz="2000" b="1" dirty="0">
                <a:latin typeface="Meiryo"/>
                <a:ea typeface="Meiryo"/>
                <a:cs typeface="Meiryo"/>
              </a:rPr>
              <a:t>: </a:t>
            </a:r>
            <a:r>
              <a:rPr lang="en-US" altLang="ja-JP" sz="2000" dirty="0">
                <a:latin typeface="Meiryo"/>
                <a:ea typeface="Meiryo"/>
                <a:cs typeface="Meiryo"/>
              </a:rPr>
              <a:t>Common Voice 9.0 </a:t>
            </a:r>
            <a:r>
              <a:rPr lang="ja-JP" altLang="en-US" sz="2000" dirty="0">
                <a:latin typeface="Meiryo"/>
                <a:ea typeface="Meiryo"/>
                <a:cs typeface="Meiryo"/>
              </a:rPr>
              <a:t>英語版</a:t>
            </a:r>
            <a:endParaRPr lang="en-US" altLang="ja-JP" sz="2000" dirty="0">
              <a:latin typeface="Meiryo"/>
              <a:ea typeface="Meiryo"/>
              <a:cs typeface="Meiryo"/>
            </a:endParaRPr>
          </a:p>
          <a:p>
            <a:pPr lvl="1">
              <a:spcAft>
                <a:spcPts val="500"/>
              </a:spcAft>
            </a:pPr>
            <a:r>
              <a:rPr lang="en-US" altLang="ja-JP" sz="2000" dirty="0">
                <a:latin typeface="Meiryo"/>
                <a:ea typeface="Meiryo"/>
                <a:cs typeface="Meiryo"/>
              </a:rPr>
              <a:t>– </a:t>
            </a:r>
            <a:r>
              <a:rPr lang="ja-JP" altLang="en-US" sz="2000" dirty="0">
                <a:latin typeface="Meiryo"/>
                <a:ea typeface="Meiryo"/>
                <a:cs typeface="Meiryo"/>
              </a:rPr>
              <a:t>選定</a:t>
            </a:r>
            <a:r>
              <a:rPr lang="en-US" altLang="ja-JP" sz="2000" dirty="0">
                <a:latin typeface="Meiryo"/>
                <a:ea typeface="Meiryo"/>
                <a:cs typeface="Meiryo"/>
              </a:rPr>
              <a:t>: </a:t>
            </a:r>
            <a:r>
              <a:rPr lang="ja-JP" altLang="en-US" sz="2000" dirty="0">
                <a:latin typeface="Meiryo"/>
                <a:ea typeface="Meiryo"/>
                <a:cs typeface="Meiryo"/>
              </a:rPr>
              <a:t>性別ラベルが一貫し、かつ</a:t>
            </a:r>
            <a:r>
              <a:rPr lang="en-US" altLang="ja-JP" sz="2000" dirty="0">
                <a:latin typeface="Meiryo"/>
                <a:ea typeface="Meiryo"/>
                <a:cs typeface="Meiryo"/>
              </a:rPr>
              <a:t>2</a:t>
            </a:r>
            <a:r>
              <a:rPr lang="ja-JP" altLang="en-US" sz="2000" dirty="0">
                <a:latin typeface="Meiryo"/>
                <a:ea typeface="Meiryo"/>
                <a:cs typeface="Meiryo"/>
              </a:rPr>
              <a:t>録音以上をもつ話者 → 利用可能な </a:t>
            </a:r>
            <a:r>
              <a:rPr lang="en-US" altLang="ja-JP" sz="2000" dirty="0">
                <a:latin typeface="Meiryo"/>
                <a:ea typeface="Meiryo"/>
                <a:cs typeface="Meiryo"/>
              </a:rPr>
              <a:t>18,067</a:t>
            </a:r>
            <a:r>
              <a:rPr lang="ja-JP" altLang="en-US" sz="2000" dirty="0">
                <a:latin typeface="Meiryo"/>
                <a:ea typeface="Meiryo"/>
                <a:cs typeface="Meiryo"/>
              </a:rPr>
              <a:t>名 </a:t>
            </a:r>
            <a:r>
              <a:rPr lang="en-US" altLang="ja-JP" sz="2000" dirty="0">
                <a:latin typeface="Meiryo"/>
                <a:ea typeface="Meiryo"/>
                <a:cs typeface="Meiryo"/>
              </a:rPr>
              <a:t>/ 971,848</a:t>
            </a:r>
            <a:r>
              <a:rPr lang="ja-JP" altLang="en-US" sz="2000" dirty="0">
                <a:latin typeface="Meiryo"/>
                <a:ea typeface="Meiryo"/>
                <a:cs typeface="Meiryo"/>
              </a:rPr>
              <a:t>録音</a:t>
            </a:r>
          </a:p>
          <a:p>
            <a:pPr>
              <a:spcAft>
                <a:spcPts val="500"/>
              </a:spcAft>
            </a:pPr>
            <a:r>
              <a:rPr lang="en-US" altLang="ja-JP" sz="2000" b="1" dirty="0">
                <a:latin typeface="Meiryo"/>
                <a:ea typeface="Meiryo"/>
                <a:cs typeface="Meiryo"/>
              </a:rPr>
              <a:t> </a:t>
            </a:r>
            <a:r>
              <a:rPr lang="ja-JP" altLang="en-US" sz="2000" b="1" dirty="0">
                <a:latin typeface="Meiryo"/>
                <a:ea typeface="Meiryo"/>
                <a:cs typeface="Meiryo"/>
              </a:rPr>
              <a:t>目標語彙</a:t>
            </a:r>
            <a:r>
              <a:rPr lang="en-US" altLang="ja-JP" sz="2000" b="1" dirty="0">
                <a:latin typeface="Meiryo"/>
                <a:ea typeface="Meiryo"/>
                <a:cs typeface="Meiryo"/>
              </a:rPr>
              <a:t>: </a:t>
            </a:r>
            <a:r>
              <a:rPr lang="ja-JP" altLang="en-US" sz="2000" dirty="0">
                <a:latin typeface="Meiryo"/>
                <a:ea typeface="Meiryo"/>
                <a:cs typeface="Meiryo"/>
              </a:rPr>
              <a:t>著者公開の</a:t>
            </a:r>
            <a:r>
              <a:rPr lang="en-US" altLang="ja-JP" sz="2000" dirty="0">
                <a:latin typeface="Meiryo"/>
                <a:ea typeface="Meiryo"/>
                <a:cs typeface="Meiryo"/>
              </a:rPr>
              <a:t>800</a:t>
            </a:r>
            <a:r>
              <a:rPr lang="ja-JP" altLang="en-US" sz="2000" dirty="0">
                <a:latin typeface="Meiryo"/>
                <a:ea typeface="Meiryo"/>
                <a:cs typeface="Meiryo"/>
              </a:rPr>
              <a:t>語</a:t>
            </a:r>
            <a:r>
              <a:rPr lang="en-US" altLang="ja-JP" sz="2000" dirty="0">
                <a:latin typeface="Meiryo"/>
                <a:ea typeface="Meiryo"/>
                <a:cs typeface="Meiryo"/>
              </a:rPr>
              <a:t>(</a:t>
            </a:r>
            <a:r>
              <a:rPr lang="ja-JP" altLang="en-US" sz="2000" dirty="0">
                <a:latin typeface="Meiryo"/>
                <a:ea typeface="Meiryo"/>
                <a:cs typeface="Meiryo"/>
              </a:rPr>
              <a:t>公式ファイルと一致</a:t>
            </a:r>
            <a:r>
              <a:rPr lang="en-US" altLang="ja-JP" sz="2000" dirty="0">
                <a:latin typeface="Meiryo"/>
                <a:ea typeface="Meiryo"/>
                <a:cs typeface="Meiryo"/>
              </a:rPr>
              <a:t>)</a:t>
            </a:r>
            <a:r>
              <a:rPr lang="ja-JP" altLang="en-US" sz="2000" dirty="0">
                <a:latin typeface="Meiryo"/>
                <a:ea typeface="Meiryo"/>
                <a:cs typeface="Meiryo"/>
              </a:rPr>
              <a:t>。</a:t>
            </a:r>
            <a:r>
              <a:rPr lang="zh-CN" altLang="zh-CN" sz="2000" dirty="0"/>
              <a:t>モデルはこの800語を出力クラスとする分類器である。</a:t>
            </a:r>
            <a:endParaRPr lang="ja-JP" altLang="en-US" sz="2000" dirty="0">
              <a:latin typeface="Meiryo"/>
              <a:ea typeface="Meiryo"/>
              <a:cs typeface="Meiryo"/>
            </a:endParaRPr>
          </a:p>
          <a:p>
            <a:pPr>
              <a:spcAft>
                <a:spcPts val="500"/>
              </a:spcAft>
            </a:pPr>
            <a:r>
              <a:rPr lang="en-US" altLang="ja-JP" sz="2000" b="1" dirty="0">
                <a:solidFill>
                  <a:srgbClr val="000000"/>
                </a:solidFill>
                <a:latin typeface="Meiryo"/>
                <a:ea typeface="Meiryo"/>
                <a:cs typeface="Meiryo"/>
              </a:rPr>
              <a:t>  </a:t>
            </a:r>
            <a:r>
              <a:rPr lang="ja-JP" altLang="en-US" sz="2000" b="1" dirty="0">
                <a:solidFill>
                  <a:srgbClr val="000000"/>
                </a:solidFill>
                <a:latin typeface="Meiryo"/>
                <a:ea typeface="Meiryo"/>
                <a:cs typeface="Meiryo"/>
              </a:rPr>
              <a:t>最終評価セット</a:t>
            </a:r>
            <a:r>
              <a:rPr lang="en-US" altLang="ja-JP" sz="2000" b="1" dirty="0">
                <a:solidFill>
                  <a:srgbClr val="000000"/>
                </a:solidFill>
                <a:latin typeface="Meiryo"/>
                <a:ea typeface="Meiryo"/>
                <a:cs typeface="Meiryo"/>
              </a:rPr>
              <a:t>: </a:t>
            </a:r>
            <a:r>
              <a:rPr lang="ja-JP" altLang="en-US" sz="2000" b="1" dirty="0">
                <a:solidFill>
                  <a:srgbClr val="000000"/>
                </a:solidFill>
                <a:latin typeface="Meiryo"/>
                <a:ea typeface="Meiryo"/>
                <a:cs typeface="Meiryo"/>
              </a:rPr>
              <a:t>有効な目標サンプル </a:t>
            </a:r>
            <a:r>
              <a:rPr lang="en-US" altLang="ja-JP" sz="2000" b="1" dirty="0">
                <a:solidFill>
                  <a:srgbClr val="000000"/>
                </a:solidFill>
                <a:latin typeface="Meiryo"/>
                <a:ea typeface="Meiryo"/>
                <a:cs typeface="Meiryo"/>
              </a:rPr>
              <a:t>600</a:t>
            </a:r>
            <a:r>
              <a:rPr lang="ja-JP" altLang="en-US" sz="2000" b="1" dirty="0">
                <a:solidFill>
                  <a:srgbClr val="000000"/>
                </a:solidFill>
                <a:latin typeface="Meiryo"/>
                <a:ea typeface="Meiryo"/>
                <a:cs typeface="Meiryo"/>
              </a:rPr>
              <a:t>件</a:t>
            </a:r>
          </a:p>
          <a:p>
            <a:pPr lvl="1">
              <a:spcAft>
                <a:spcPts val="500"/>
              </a:spcAft>
            </a:pPr>
            <a:r>
              <a:rPr lang="ja-JP" altLang="en-US" sz="2000" b="1" dirty="0">
                <a:solidFill>
                  <a:schemeClr val="accent1"/>
                </a:solidFill>
                <a:latin typeface="Meiryo" panose="020B0604030504040204" pitchFamily="34" charset="-128"/>
                <a:ea typeface="Meiryo" panose="020B0604030504040204" pitchFamily="34" charset="-128"/>
                <a:cs typeface="Meiryo"/>
              </a:rPr>
              <a:t>性別均衡</a:t>
            </a:r>
            <a:r>
              <a:rPr lang="en-US" altLang="ja-JP" sz="2000" b="1" dirty="0">
                <a:solidFill>
                  <a:schemeClr val="accent1"/>
                </a:solidFill>
                <a:latin typeface="Meiryo" panose="020B0604030504040204" pitchFamily="34" charset="-128"/>
                <a:ea typeface="Meiryo" panose="020B0604030504040204" pitchFamily="34" charset="-128"/>
                <a:cs typeface="Meiryo"/>
              </a:rPr>
              <a:t>: </a:t>
            </a:r>
            <a:r>
              <a:rPr lang="ja-JP" altLang="en-US" sz="2000" b="1" dirty="0">
                <a:solidFill>
                  <a:schemeClr val="accent1"/>
                </a:solidFill>
                <a:latin typeface="Meiryo" panose="020B0604030504040204" pitchFamily="34" charset="-128"/>
                <a:ea typeface="Meiryo" panose="020B0604030504040204" pitchFamily="34" charset="-128"/>
                <a:cs typeface="Meiryo"/>
              </a:rPr>
              <a:t>男性</a:t>
            </a:r>
            <a:r>
              <a:rPr lang="en-US" altLang="ja-JP" sz="2000" b="1" dirty="0">
                <a:solidFill>
                  <a:schemeClr val="accent1"/>
                </a:solidFill>
                <a:latin typeface="Meiryo" panose="020B0604030504040204" pitchFamily="34" charset="-128"/>
                <a:ea typeface="Meiryo" panose="020B0604030504040204" pitchFamily="34" charset="-128"/>
                <a:cs typeface="Meiryo"/>
              </a:rPr>
              <a:t>300 / </a:t>
            </a:r>
            <a:r>
              <a:rPr lang="ja-JP" altLang="en-US" sz="2000" b="1" dirty="0">
                <a:solidFill>
                  <a:schemeClr val="accent1"/>
                </a:solidFill>
                <a:latin typeface="Meiryo" panose="020B0604030504040204" pitchFamily="34" charset="-128"/>
                <a:ea typeface="Meiryo" panose="020B0604030504040204" pitchFamily="34" charset="-128"/>
                <a:cs typeface="Meiryo"/>
              </a:rPr>
              <a:t>女性</a:t>
            </a:r>
            <a:r>
              <a:rPr lang="en-US" altLang="ja-JP" sz="2000" b="1" dirty="0">
                <a:solidFill>
                  <a:schemeClr val="accent1"/>
                </a:solidFill>
                <a:latin typeface="Meiryo" panose="020B0604030504040204" pitchFamily="34" charset="-128"/>
                <a:ea typeface="Meiryo" panose="020B0604030504040204" pitchFamily="34" charset="-128"/>
                <a:cs typeface="Meiryo"/>
              </a:rPr>
              <a:t>300</a:t>
            </a:r>
          </a:p>
          <a:p>
            <a:pPr lvl="1">
              <a:spcAft>
                <a:spcPts val="500"/>
              </a:spcAft>
            </a:pPr>
            <a:endParaRPr lang="en-US" altLang="zh-CN" sz="2000" b="1" dirty="0">
              <a:solidFill>
                <a:schemeClr val="accent1"/>
              </a:solidFill>
              <a:latin typeface="Meiryo" panose="020B0604030504040204" pitchFamily="34" charset="-128"/>
              <a:ea typeface="Meiryo" panose="020B0604030504040204" pitchFamily="34" charset="-128"/>
            </a:endParaRPr>
          </a:p>
          <a:p>
            <a:pPr lvl="1">
              <a:spcAft>
                <a:spcPts val="500"/>
              </a:spcAft>
            </a:pPr>
            <a:r>
              <a:rPr lang="zh-CN" altLang="zh-CN" sz="2000" b="1" dirty="0">
                <a:solidFill>
                  <a:schemeClr val="accent1"/>
                </a:solidFill>
                <a:latin typeface="Meiryo" panose="020B0604030504040204" pitchFamily="34" charset="-128"/>
                <a:ea typeface="Meiryo" panose="020B0604030504040204" pitchFamily="34" charset="-128"/>
              </a:rPr>
              <a:t>目標として149名の話者・347音声を用い、369種の異なる目標単語を含む</a:t>
            </a:r>
            <a:endParaRPr lang="en-US" altLang="zh-CN" sz="2000" b="1" dirty="0">
              <a:solidFill>
                <a:schemeClr val="accent1"/>
              </a:solidFill>
              <a:latin typeface="Meiryo" panose="020B0604030504040204" pitchFamily="34" charset="-128"/>
              <a:ea typeface="Meiryo" panose="020B0604030504040204" pitchFamily="34" charset="-128"/>
            </a:endParaRPr>
          </a:p>
          <a:p>
            <a:pPr lvl="1">
              <a:spcAft>
                <a:spcPts val="500"/>
              </a:spcAft>
            </a:pPr>
            <a:endParaRPr lang="en-US" altLang="zh-CN" sz="2000" b="1" dirty="0">
              <a:solidFill>
                <a:schemeClr val="accent1"/>
              </a:solidFill>
              <a:latin typeface="Meiryo" panose="020B0604030504040204" pitchFamily="34" charset="-128"/>
              <a:ea typeface="Meiryo" panose="020B0604030504040204" pitchFamily="34" charset="-128"/>
            </a:endParaRPr>
          </a:p>
          <a:p>
            <a:pPr lvl="1">
              <a:spcAft>
                <a:spcPts val="500"/>
              </a:spcAft>
            </a:pPr>
            <a:r>
              <a:rPr lang="zh-CN" altLang="zh-CN" sz="2000" b="1" dirty="0">
                <a:solidFill>
                  <a:schemeClr val="accent1"/>
                </a:solidFill>
                <a:latin typeface="Meiryo" panose="020B0604030504040204" pitchFamily="34" charset="-128"/>
                <a:ea typeface="Meiryo" panose="020B0604030504040204" pitchFamily="34" charset="-128"/>
              </a:rPr>
              <a:t>各SN</a:t>
            </a:r>
            <a:r>
              <a:rPr lang="en-US" altLang="zh-CN" sz="2000" b="1" dirty="0">
                <a:solidFill>
                  <a:schemeClr val="accent1"/>
                </a:solidFill>
                <a:latin typeface="Meiryo" panose="020B0604030504040204" pitchFamily="34" charset="-128"/>
                <a:ea typeface="Meiryo" panose="020B0604030504040204" pitchFamily="34" charset="-128"/>
              </a:rPr>
              <a:t>R</a:t>
            </a:r>
            <a:r>
              <a:rPr lang="zh-CN" altLang="zh-CN" sz="2000" b="1" dirty="0">
                <a:solidFill>
                  <a:schemeClr val="accent1"/>
                </a:solidFill>
                <a:latin typeface="Meiryo" panose="020B0604030504040204" pitchFamily="34" charset="-128"/>
                <a:ea typeface="Meiryo" panose="020B0604030504040204" pitchFamily="34" charset="-128"/>
              </a:rPr>
              <a:t>とも約600サンプルで評価するため、二項標準誤差は約±2%に収まり、推定が安定する</a:t>
            </a:r>
            <a:endParaRPr lang="en-US" altLang="zh-CN" sz="2000" b="1" dirty="0">
              <a:solidFill>
                <a:schemeClr val="accent1"/>
              </a:solidFill>
              <a:latin typeface="Meiryo" panose="020B0604030504040204" pitchFamily="34" charset="-128"/>
              <a:ea typeface="Meiryo" panose="020B0604030504040204" pitchFamily="34" charset="-128"/>
            </a:endParaRPr>
          </a:p>
        </p:txBody>
      </p:sp>
    </p:spTree>
    <p:custDataLst>
      <p:tags r:id="rId1"/>
    </p:custDataLst>
    <p:extLst>
      <p:ext uri="{BB962C8B-B14F-4D97-AF65-F5344CB8AC3E}">
        <p14:creationId xmlns:p14="http://schemas.microsoft.com/office/powerpoint/2010/main" val="178215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79705"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5</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zh-CN" altLang="en-US" sz="3200" b="1" dirty="0">
                <a:solidFill>
                  <a:srgbClr val="000000"/>
                </a:solidFill>
                <a:latin typeface="Meiryo"/>
                <a:ea typeface="Meiryo"/>
                <a:cs typeface="Meiryo"/>
              </a:rPr>
              <a:t>手法</a:t>
            </a:r>
            <a:r>
              <a:rPr lang="ja-JP" altLang="en-US" sz="3200" b="1" dirty="0">
                <a:solidFill>
                  <a:srgbClr val="000000"/>
                </a:solidFill>
                <a:latin typeface="Meiryo"/>
                <a:ea typeface="Meiryo"/>
                <a:cs typeface="Meiryo"/>
              </a:rPr>
              <a:t>フロー</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12" name="TextBox 2">
            <a:extLst>
              <a:ext uri="{FF2B5EF4-FFF2-40B4-BE49-F238E27FC236}">
                <a16:creationId xmlns:a16="http://schemas.microsoft.com/office/drawing/2014/main" id="{502FDCE8-01C9-ECB6-EA29-DBFA5A097F64}"/>
              </a:ext>
            </a:extLst>
          </p:cNvPr>
          <p:cNvSpPr txBox="1"/>
          <p:nvPr/>
        </p:nvSpPr>
        <p:spPr>
          <a:xfrm>
            <a:off x="626744" y="1475913"/>
            <a:ext cx="10897235" cy="514499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500"/>
              </a:spcAft>
            </a:pPr>
            <a:r>
              <a:rPr sz="2000" b="1" dirty="0" err="1">
                <a:solidFill>
                  <a:srgbClr val="000000"/>
                </a:solidFill>
                <a:latin typeface="Meiryo"/>
                <a:ea typeface="Meiryo"/>
                <a:cs typeface="Meiryo"/>
              </a:rPr>
              <a:t>原音声</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強制アライメント</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テキスト正規化</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アンカー選定</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切り出し・混合</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モデル入力</a:t>
            </a:r>
            <a:r>
              <a:rPr sz="2000" b="1" dirty="0">
                <a:solidFill>
                  <a:srgbClr val="000000"/>
                </a:solidFill>
                <a:latin typeface="Meiryo"/>
                <a:ea typeface="Meiryo"/>
                <a:cs typeface="Meiryo"/>
              </a:rPr>
              <a:t> → </a:t>
            </a:r>
            <a:r>
              <a:rPr sz="2000" b="1" dirty="0" err="1">
                <a:solidFill>
                  <a:srgbClr val="000000"/>
                </a:solidFill>
                <a:latin typeface="Meiryo"/>
                <a:ea typeface="Meiryo"/>
                <a:cs typeface="Meiryo"/>
              </a:rPr>
              <a:t>採点</a:t>
            </a:r>
            <a:endParaRPr lang="en-US" sz="2000" b="1" dirty="0">
              <a:solidFill>
                <a:srgbClr val="000000"/>
              </a:solidFill>
              <a:latin typeface="Meiryo"/>
              <a:ea typeface="Meiryo"/>
              <a:cs typeface="Meiryo"/>
            </a:endParaRPr>
          </a:p>
          <a:p>
            <a:pPr>
              <a:spcAft>
                <a:spcPts val="500"/>
              </a:spcAft>
            </a:pPr>
            <a:endParaRPr sz="2000" b="1" dirty="0">
              <a:solidFill>
                <a:srgbClr val="000000"/>
              </a:solidFill>
              <a:latin typeface="Meiryo"/>
              <a:ea typeface="Meiryo"/>
              <a:cs typeface="Meiryo"/>
            </a:endParaRPr>
          </a:p>
          <a:p>
            <a:r>
              <a:rPr lang="zh-CN" altLang="zh-CN" sz="2000" b="1" dirty="0">
                <a:latin typeface="Meiryo" panose="020B0604030504040204" pitchFamily="34" charset="-128"/>
                <a:ea typeface="Meiryo" panose="020B0604030504040204" pitchFamily="34" charset="-128"/>
              </a:rPr>
              <a:t>1. 各単語の時間位置を求める（強制アライメント）</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Common Voiceは文単位の書き起こししかなく、単語ごとの時刻がない。そこで音声とテキストを対応づけ、各単語の開始・終了時刻を推定する。</a:t>
            </a:r>
          </a:p>
          <a:p>
            <a:r>
              <a:rPr lang="zh-CN" altLang="zh-CN" sz="2000" b="1" dirty="0">
                <a:latin typeface="Meiryo" panose="020B0604030504040204" pitchFamily="34" charset="-128"/>
                <a:ea typeface="Meiryo" panose="020B0604030504040204" pitchFamily="34" charset="-128"/>
              </a:rPr>
              <a:t>2. 書き起こしを整える（テキスト正規化）</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大文字・記号・数字表記のゆれをそろえ、語彙と照合できる形にする。</a:t>
            </a:r>
          </a:p>
          <a:p>
            <a:r>
              <a:rPr lang="zh-CN" altLang="zh-CN" sz="2000" b="1" dirty="0">
                <a:latin typeface="Meiryo" panose="020B0604030504040204" pitchFamily="34" charset="-128"/>
                <a:ea typeface="Meiryo" panose="020B0604030504040204" pitchFamily="34" charset="-128"/>
              </a:rPr>
              <a:t>3. 目標となる中央単語を選ぶ（アンカー選定）</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800語の語彙に含まれ、前後に十分な余白のある単語を、目標（中央単語）として選ぶ。</a:t>
            </a:r>
          </a:p>
          <a:p>
            <a:r>
              <a:rPr lang="zh-CN" altLang="zh-CN" sz="2000" b="1" dirty="0">
                <a:latin typeface="Meiryo" panose="020B0604030504040204" pitchFamily="34" charset="-128"/>
                <a:ea typeface="Meiryo" panose="020B0604030504040204" pitchFamily="34" charset="-128"/>
              </a:rPr>
              <a:t>4. 音声を切り出して混合する</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各サンプルを2.5秒に切り出し、目標音声に妨害音声を重ねる。SN比を6段階（−9〜+3 dB、および妨害なし）に変えて、同じ素材で混合し直す。</a:t>
            </a:r>
          </a:p>
          <a:p>
            <a:r>
              <a:rPr lang="zh-CN" altLang="zh-CN" sz="2000" b="1" dirty="0">
                <a:latin typeface="Meiryo" panose="020B0604030504040204" pitchFamily="34" charset="-128"/>
                <a:ea typeface="Meiryo" panose="020B0604030504040204" pitchFamily="34" charset="-128"/>
              </a:rPr>
              <a:t>5. 著者のモデルでそのまま</a:t>
            </a:r>
            <a:r>
              <a:rPr lang="ja-JP" altLang="en-US" sz="2000" b="1" dirty="0">
                <a:latin typeface="Meiryo" panose="020B0604030504040204" pitchFamily="34" charset="-128"/>
                <a:ea typeface="Meiryo" panose="020B0604030504040204" pitchFamily="34" charset="-128"/>
              </a:rPr>
              <a:t>使う</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著者が公開した学習済みモデルを、再学習せずにそのまま使って答えを出させる。</a:t>
            </a:r>
          </a:p>
          <a:p>
            <a:pPr>
              <a:spcAft>
                <a:spcPts val="500"/>
              </a:spcAft>
            </a:pPr>
            <a:endParaRPr sz="2000" b="0" dirty="0">
              <a:latin typeface="Meiryo"/>
              <a:ea typeface="Meiryo"/>
              <a:cs typeface="Meiryo"/>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2128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6</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音声サンプル</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2" name="TextBox 2">
            <a:extLst>
              <a:ext uri="{FF2B5EF4-FFF2-40B4-BE49-F238E27FC236}">
                <a16:creationId xmlns:a16="http://schemas.microsoft.com/office/drawing/2014/main" id="{0668D79B-343B-C83B-2254-BFCB1BCA6578}"/>
              </a:ext>
            </a:extLst>
          </p:cNvPr>
          <p:cNvSpPr txBox="1"/>
          <p:nvPr/>
        </p:nvSpPr>
        <p:spPr>
          <a:xfrm>
            <a:off x="701040" y="1019556"/>
            <a:ext cx="10972800" cy="70788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2000" b="1" dirty="0" err="1">
                <a:solidFill>
                  <a:srgbClr val="0070C0"/>
                </a:solidFill>
                <a:latin typeface="Meiryo"/>
                <a:ea typeface="Meiryo"/>
                <a:cs typeface="Meiryo"/>
              </a:rPr>
              <a:t>同一刺激</a:t>
            </a:r>
            <a:r>
              <a:rPr sz="2000" b="1" dirty="0">
                <a:solidFill>
                  <a:srgbClr val="0070C0"/>
                </a:solidFill>
                <a:latin typeface="Meiryo"/>
                <a:ea typeface="Meiryo"/>
                <a:cs typeface="Meiryo"/>
              </a:rPr>
              <a:t>(</a:t>
            </a:r>
            <a:r>
              <a:rPr sz="2000" b="1" dirty="0" err="1">
                <a:solidFill>
                  <a:srgbClr val="0070C0"/>
                </a:solidFill>
                <a:latin typeface="Meiryo"/>
                <a:ea typeface="Meiryo"/>
                <a:cs typeface="Meiryo"/>
              </a:rPr>
              <a:t>目標単語「around</a:t>
            </a:r>
            <a:r>
              <a:rPr sz="2000" b="1" dirty="0">
                <a:solidFill>
                  <a:srgbClr val="0070C0"/>
                </a:solidFill>
                <a:latin typeface="Meiryo"/>
                <a:ea typeface="Meiryo"/>
                <a:cs typeface="Meiryo"/>
              </a:rPr>
              <a:t>」)を6段階のSN比で混合。-9dBから妨害なしへ進むと、妨害話者が徐々に消え目標が明瞭になる。</a:t>
            </a:r>
          </a:p>
        </p:txBody>
      </p:sp>
      <p:pic>
        <p:nvPicPr>
          <p:cNvPr id="5" name="mix_-9dB.wav">
            <a:hlinkClick r:id="" action="ppaction://media"/>
            <a:extLst>
              <a:ext uri="{FF2B5EF4-FFF2-40B4-BE49-F238E27FC236}">
                <a16:creationId xmlns:a16="http://schemas.microsoft.com/office/drawing/2014/main" id="{197CE771-AA05-9E10-C1C6-3557536AD746}"/>
              </a:ext>
            </a:extLst>
          </p:cNvPr>
          <p:cNvPicPr>
            <a:picLocks noChangeAspect="1"/>
          </p:cNvPicPr>
          <p:nvPr/>
        </p:nvPicPr>
        <p:blipFill>
          <a:blip r:embed="rId3"/>
          <a:stretch>
            <a:fillRect/>
          </a:stretch>
        </p:blipFill>
        <p:spPr>
          <a:xfrm>
            <a:off x="975360" y="2253996"/>
            <a:ext cx="914400" cy="914400"/>
          </a:xfrm>
          <a:prstGeom prst="rect">
            <a:avLst/>
          </a:prstGeom>
        </p:spPr>
      </p:pic>
      <p:sp>
        <p:nvSpPr>
          <p:cNvPr id="6" name="TextBox 4">
            <a:extLst>
              <a:ext uri="{FF2B5EF4-FFF2-40B4-BE49-F238E27FC236}">
                <a16:creationId xmlns:a16="http://schemas.microsoft.com/office/drawing/2014/main" id="{D82AF52E-2B15-421F-38E1-1410B4BD901D}"/>
              </a:ext>
            </a:extLst>
          </p:cNvPr>
          <p:cNvSpPr txBox="1"/>
          <p:nvPr/>
        </p:nvSpPr>
        <p:spPr>
          <a:xfrm>
            <a:off x="5181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-9 dB</a:t>
            </a:r>
          </a:p>
        </p:txBody>
      </p:sp>
      <p:pic>
        <p:nvPicPr>
          <p:cNvPr id="7" name="mix_-6dB.wav">
            <a:hlinkClick r:id="" action="ppaction://media"/>
            <a:extLst>
              <a:ext uri="{FF2B5EF4-FFF2-40B4-BE49-F238E27FC236}">
                <a16:creationId xmlns:a16="http://schemas.microsoft.com/office/drawing/2014/main" id="{D8483B05-1B8B-E50A-1C69-94C924AA6120}"/>
              </a:ext>
            </a:extLst>
          </p:cNvPr>
          <p:cNvPicPr>
            <a:picLocks noChangeAspect="1"/>
          </p:cNvPicPr>
          <p:nvPr/>
        </p:nvPicPr>
        <p:blipFill>
          <a:blip r:embed="rId3"/>
          <a:stretch>
            <a:fillRect/>
          </a:stretch>
        </p:blipFill>
        <p:spPr>
          <a:xfrm>
            <a:off x="2804160" y="2253996"/>
            <a:ext cx="914400" cy="914400"/>
          </a:xfrm>
          <a:prstGeom prst="rect">
            <a:avLst/>
          </a:prstGeom>
        </p:spPr>
      </p:pic>
      <p:sp>
        <p:nvSpPr>
          <p:cNvPr id="9" name="TextBox 6">
            <a:extLst>
              <a:ext uri="{FF2B5EF4-FFF2-40B4-BE49-F238E27FC236}">
                <a16:creationId xmlns:a16="http://schemas.microsoft.com/office/drawing/2014/main" id="{E3BB6C6A-760D-95E7-25B9-8D0276779E06}"/>
              </a:ext>
            </a:extLst>
          </p:cNvPr>
          <p:cNvSpPr txBox="1"/>
          <p:nvPr/>
        </p:nvSpPr>
        <p:spPr>
          <a:xfrm>
            <a:off x="23469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-6 dB</a:t>
            </a:r>
          </a:p>
        </p:txBody>
      </p:sp>
      <p:pic>
        <p:nvPicPr>
          <p:cNvPr id="10" name="mix_-3dB.wav">
            <a:hlinkClick r:id="" action="ppaction://media"/>
            <a:extLst>
              <a:ext uri="{FF2B5EF4-FFF2-40B4-BE49-F238E27FC236}">
                <a16:creationId xmlns:a16="http://schemas.microsoft.com/office/drawing/2014/main" id="{C658DDA1-1E24-D8A0-9FCC-2B8BBD5815C3}"/>
              </a:ext>
            </a:extLst>
          </p:cNvPr>
          <p:cNvPicPr>
            <a:picLocks noChangeAspect="1"/>
          </p:cNvPicPr>
          <p:nvPr/>
        </p:nvPicPr>
        <p:blipFill>
          <a:blip r:embed="rId3"/>
          <a:stretch>
            <a:fillRect/>
          </a:stretch>
        </p:blipFill>
        <p:spPr>
          <a:xfrm>
            <a:off x="4632960" y="2253996"/>
            <a:ext cx="914400" cy="914400"/>
          </a:xfrm>
          <a:prstGeom prst="rect">
            <a:avLst/>
          </a:prstGeom>
        </p:spPr>
      </p:pic>
      <p:sp>
        <p:nvSpPr>
          <p:cNvPr id="11" name="TextBox 8">
            <a:extLst>
              <a:ext uri="{FF2B5EF4-FFF2-40B4-BE49-F238E27FC236}">
                <a16:creationId xmlns:a16="http://schemas.microsoft.com/office/drawing/2014/main" id="{F943BF8A-2B6E-09E4-E3DF-863E258C44E5}"/>
              </a:ext>
            </a:extLst>
          </p:cNvPr>
          <p:cNvSpPr txBox="1"/>
          <p:nvPr/>
        </p:nvSpPr>
        <p:spPr>
          <a:xfrm>
            <a:off x="41757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-3 dB</a:t>
            </a:r>
          </a:p>
        </p:txBody>
      </p:sp>
      <p:pic>
        <p:nvPicPr>
          <p:cNvPr id="12" name="mix_+0dB.wav">
            <a:hlinkClick r:id="" action="ppaction://media"/>
            <a:extLst>
              <a:ext uri="{FF2B5EF4-FFF2-40B4-BE49-F238E27FC236}">
                <a16:creationId xmlns:a16="http://schemas.microsoft.com/office/drawing/2014/main" id="{AAD6BF53-2EAA-AB87-4050-94EA59D4EBC0}"/>
              </a:ext>
            </a:extLst>
          </p:cNvPr>
          <p:cNvPicPr>
            <a:picLocks noChangeAspect="1"/>
          </p:cNvPicPr>
          <p:nvPr/>
        </p:nvPicPr>
        <p:blipFill>
          <a:blip r:embed="rId3"/>
          <a:stretch>
            <a:fillRect/>
          </a:stretch>
        </p:blipFill>
        <p:spPr>
          <a:xfrm>
            <a:off x="6461760" y="2253996"/>
            <a:ext cx="914400" cy="914400"/>
          </a:xfrm>
          <a:prstGeom prst="rect">
            <a:avLst/>
          </a:prstGeom>
        </p:spPr>
      </p:pic>
      <p:sp>
        <p:nvSpPr>
          <p:cNvPr id="16" name="TextBox 10">
            <a:extLst>
              <a:ext uri="{FF2B5EF4-FFF2-40B4-BE49-F238E27FC236}">
                <a16:creationId xmlns:a16="http://schemas.microsoft.com/office/drawing/2014/main" id="{5F7475F0-B4CE-231A-2A06-F26464FFC9D9}"/>
              </a:ext>
            </a:extLst>
          </p:cNvPr>
          <p:cNvSpPr txBox="1"/>
          <p:nvPr/>
        </p:nvSpPr>
        <p:spPr>
          <a:xfrm>
            <a:off x="60045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0 dB</a:t>
            </a:r>
          </a:p>
        </p:txBody>
      </p:sp>
      <p:pic>
        <p:nvPicPr>
          <p:cNvPr id="17" name="mix_+3dB.wav">
            <a:hlinkClick r:id="" action="ppaction://media"/>
            <a:extLst>
              <a:ext uri="{FF2B5EF4-FFF2-40B4-BE49-F238E27FC236}">
                <a16:creationId xmlns:a16="http://schemas.microsoft.com/office/drawing/2014/main" id="{B288AFF8-F567-15DA-FCC8-166C44EDA20B}"/>
              </a:ext>
            </a:extLst>
          </p:cNvPr>
          <p:cNvPicPr>
            <a:picLocks noChangeAspect="1"/>
          </p:cNvPicPr>
          <p:nvPr/>
        </p:nvPicPr>
        <p:blipFill>
          <a:blip r:embed="rId3"/>
          <a:stretch>
            <a:fillRect/>
          </a:stretch>
        </p:blipFill>
        <p:spPr>
          <a:xfrm>
            <a:off x="8290560" y="2253996"/>
            <a:ext cx="914400" cy="914400"/>
          </a:xfrm>
          <a:prstGeom prst="rect">
            <a:avLst/>
          </a:prstGeom>
        </p:spPr>
      </p:pic>
      <p:sp>
        <p:nvSpPr>
          <p:cNvPr id="18" name="TextBox 12">
            <a:extLst>
              <a:ext uri="{FF2B5EF4-FFF2-40B4-BE49-F238E27FC236}">
                <a16:creationId xmlns:a16="http://schemas.microsoft.com/office/drawing/2014/main" id="{F0EA992C-CFB8-4363-3895-E34297D337E2}"/>
              </a:ext>
            </a:extLst>
          </p:cNvPr>
          <p:cNvSpPr txBox="1"/>
          <p:nvPr/>
        </p:nvSpPr>
        <p:spPr>
          <a:xfrm>
            <a:off x="78333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+3 dB</a:t>
            </a:r>
          </a:p>
        </p:txBody>
      </p:sp>
      <p:pic>
        <p:nvPicPr>
          <p:cNvPr id="19" name="mix_inf.wav">
            <a:hlinkClick r:id="" action="ppaction://media"/>
            <a:extLst>
              <a:ext uri="{FF2B5EF4-FFF2-40B4-BE49-F238E27FC236}">
                <a16:creationId xmlns:a16="http://schemas.microsoft.com/office/drawing/2014/main" id="{25A12CDA-7D57-54D6-C328-2B7542C4C4B8}"/>
              </a:ext>
            </a:extLst>
          </p:cNvPr>
          <p:cNvPicPr>
            <a:picLocks noChangeAspect="1"/>
          </p:cNvPicPr>
          <p:nvPr/>
        </p:nvPicPr>
        <p:blipFill>
          <a:blip r:embed="rId3"/>
          <a:stretch>
            <a:fillRect/>
          </a:stretch>
        </p:blipFill>
        <p:spPr>
          <a:xfrm>
            <a:off x="10119360" y="2253996"/>
            <a:ext cx="914400" cy="914400"/>
          </a:xfrm>
          <a:prstGeom prst="rect">
            <a:avLst/>
          </a:prstGeom>
        </p:spPr>
      </p:pic>
      <p:sp>
        <p:nvSpPr>
          <p:cNvPr id="21" name="TextBox 14">
            <a:extLst>
              <a:ext uri="{FF2B5EF4-FFF2-40B4-BE49-F238E27FC236}">
                <a16:creationId xmlns:a16="http://schemas.microsoft.com/office/drawing/2014/main" id="{6C7A63A8-22DA-3FE9-CE91-802E72B29E16}"/>
              </a:ext>
            </a:extLst>
          </p:cNvPr>
          <p:cNvSpPr txBox="1"/>
          <p:nvPr/>
        </p:nvSpPr>
        <p:spPr>
          <a:xfrm>
            <a:off x="9662160" y="3186684"/>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a:solidFill>
                  <a:srgbClr val="000000"/>
                </a:solidFill>
                <a:latin typeface="Meiryo"/>
                <a:ea typeface="Meiryo"/>
                <a:cs typeface="Meiryo"/>
              </a:rPr>
              <a:t>+inf(妨害なし)</a:t>
            </a:r>
          </a:p>
        </p:txBody>
      </p:sp>
      <p:pic>
        <p:nvPicPr>
          <p:cNvPr id="22" name="cue.wav">
            <a:hlinkClick r:id="" action="ppaction://media"/>
            <a:extLst>
              <a:ext uri="{FF2B5EF4-FFF2-40B4-BE49-F238E27FC236}">
                <a16:creationId xmlns:a16="http://schemas.microsoft.com/office/drawing/2014/main" id="{0FA45CEC-7565-1BDD-B782-8A1736ADB6BB}"/>
              </a:ext>
            </a:extLst>
          </p:cNvPr>
          <p:cNvPicPr>
            <a:picLocks noChangeAspect="1"/>
          </p:cNvPicPr>
          <p:nvPr/>
        </p:nvPicPr>
        <p:blipFill>
          <a:blip r:embed="rId3"/>
          <a:stretch>
            <a:fillRect/>
          </a:stretch>
        </p:blipFill>
        <p:spPr>
          <a:xfrm>
            <a:off x="2804160" y="3752671"/>
            <a:ext cx="914400" cy="914400"/>
          </a:xfrm>
          <a:prstGeom prst="rect">
            <a:avLst/>
          </a:prstGeom>
        </p:spPr>
      </p:pic>
      <p:sp>
        <p:nvSpPr>
          <p:cNvPr id="23" name="TextBox 16">
            <a:extLst>
              <a:ext uri="{FF2B5EF4-FFF2-40B4-BE49-F238E27FC236}">
                <a16:creationId xmlns:a16="http://schemas.microsoft.com/office/drawing/2014/main" id="{23601A8E-DCC8-6ECC-F002-66785EF06E54}"/>
              </a:ext>
            </a:extLst>
          </p:cNvPr>
          <p:cNvSpPr txBox="1"/>
          <p:nvPr/>
        </p:nvSpPr>
        <p:spPr>
          <a:xfrm>
            <a:off x="2346960" y="4867298"/>
            <a:ext cx="18288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dirty="0">
                <a:solidFill>
                  <a:srgbClr val="000000"/>
                </a:solidFill>
                <a:latin typeface="Meiryo"/>
                <a:ea typeface="Meiryo"/>
                <a:cs typeface="Meiryo"/>
              </a:rPr>
              <a:t>cue</a:t>
            </a:r>
          </a:p>
        </p:txBody>
      </p:sp>
      <p:pic>
        <p:nvPicPr>
          <p:cNvPr id="27" name="target_clean.wav">
            <a:hlinkClick r:id="" action="ppaction://media"/>
            <a:extLst>
              <a:ext uri="{FF2B5EF4-FFF2-40B4-BE49-F238E27FC236}">
                <a16:creationId xmlns:a16="http://schemas.microsoft.com/office/drawing/2014/main" id="{34F4DA80-FFB2-7287-3CF6-62DCDE0F365F}"/>
              </a:ext>
            </a:extLst>
          </p:cNvPr>
          <p:cNvPicPr>
            <a:picLocks noChangeAspect="1"/>
          </p:cNvPicPr>
          <p:nvPr/>
        </p:nvPicPr>
        <p:blipFill>
          <a:blip r:embed="rId3"/>
          <a:stretch>
            <a:fillRect/>
          </a:stretch>
        </p:blipFill>
        <p:spPr>
          <a:xfrm>
            <a:off x="6461760" y="3817366"/>
            <a:ext cx="914400" cy="914400"/>
          </a:xfrm>
          <a:prstGeom prst="rect">
            <a:avLst/>
          </a:prstGeom>
        </p:spPr>
      </p:pic>
      <p:sp>
        <p:nvSpPr>
          <p:cNvPr id="30" name="TextBox 18">
            <a:extLst>
              <a:ext uri="{FF2B5EF4-FFF2-40B4-BE49-F238E27FC236}">
                <a16:creationId xmlns:a16="http://schemas.microsoft.com/office/drawing/2014/main" id="{03CA3F11-80DA-C248-4B36-AEEA80D25CA8}"/>
              </a:ext>
            </a:extLst>
          </p:cNvPr>
          <p:cNvSpPr txBox="1"/>
          <p:nvPr/>
        </p:nvSpPr>
        <p:spPr>
          <a:xfrm>
            <a:off x="6078451" y="4780603"/>
            <a:ext cx="1828800" cy="27699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0" dirty="0">
                <a:solidFill>
                  <a:srgbClr val="000000"/>
                </a:solidFill>
                <a:latin typeface="Meiryo"/>
                <a:ea typeface="Meiryo"/>
                <a:cs typeface="Meiryo"/>
              </a:rPr>
              <a:t>target</a:t>
            </a:r>
            <a:endParaRPr sz="1200" b="0" dirty="0">
              <a:solidFill>
                <a:srgbClr val="000000"/>
              </a:solidFill>
              <a:latin typeface="Meiryo"/>
              <a:ea typeface="Meiryo"/>
              <a:cs typeface="Meiryo"/>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4795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7</a:t>
            </a:r>
          </a:p>
        </p:txBody>
      </p:sp>
      <p:sp>
        <p:nvSpPr>
          <p:cNvPr id="13" name="Text 3"/>
          <p:cNvSpPr/>
          <p:nvPr/>
        </p:nvSpPr>
        <p:spPr>
          <a:xfrm>
            <a:off x="427990" y="264160"/>
            <a:ext cx="11095990" cy="597535"/>
          </a:xfrm>
          <a:prstGeom prst="rect">
            <a:avLst/>
          </a:prstGeom>
          <a:noFill/>
        </p:spPr>
        <p:txBody>
          <a:bodyPr wrap="square" lIns="0" tIns="0" rIns="0" bIns="0" rtlCol="0" anchor="ctr"/>
          <a:lstStyle/>
          <a:p>
            <a:r>
              <a:rPr lang="zh-TW" altLang="en-US" sz="3200" b="1" dirty="0">
                <a:solidFill>
                  <a:srgbClr val="000000"/>
                </a:solidFill>
                <a:latin typeface="Meiryo"/>
                <a:ea typeface="Meiryo"/>
                <a:cs typeface="Meiryo"/>
              </a:rPr>
              <a:t>結果</a:t>
            </a:r>
            <a:r>
              <a:rPr lang="en-US" altLang="zh-TW" sz="3200" b="1" dirty="0">
                <a:solidFill>
                  <a:srgbClr val="000000"/>
                </a:solidFill>
                <a:latin typeface="Meiryo"/>
                <a:ea typeface="Meiryo"/>
                <a:cs typeface="Meiryo"/>
              </a:rPr>
              <a:t>: Fig 2b </a:t>
            </a:r>
            <a:r>
              <a:rPr lang="zh-TW" altLang="en-US" sz="3200" b="1" dirty="0">
                <a:solidFill>
                  <a:srgbClr val="000000"/>
                </a:solidFill>
                <a:latin typeface="Meiryo"/>
                <a:ea typeface="Meiryo"/>
                <a:cs typeface="Meiryo"/>
              </a:rPr>
              <a:t>再現 </a:t>
            </a:r>
            <a:r>
              <a:rPr lang="en-US" altLang="zh-TW" sz="3200" b="1" dirty="0">
                <a:solidFill>
                  <a:srgbClr val="000000"/>
                </a:solidFill>
                <a:latin typeface="Meiryo"/>
                <a:ea typeface="Meiryo"/>
                <a:cs typeface="Meiryo"/>
              </a:rPr>
              <a:t>—— </a:t>
            </a:r>
            <a:r>
              <a:rPr lang="zh-TW" altLang="en-US" sz="3200" b="1" dirty="0">
                <a:solidFill>
                  <a:srgbClr val="000000"/>
                </a:solidFill>
                <a:latin typeface="Meiryo"/>
                <a:ea typeface="Meiryo"/>
                <a:cs typeface="Meiryo"/>
              </a:rPr>
              <a:t>同性 </a:t>
            </a:r>
            <a:r>
              <a:rPr lang="en-US" altLang="zh-TW" sz="3200" b="1" dirty="0">
                <a:solidFill>
                  <a:srgbClr val="000000"/>
                </a:solidFill>
                <a:latin typeface="Meiryo"/>
                <a:ea typeface="Meiryo"/>
                <a:cs typeface="Meiryo"/>
              </a:rPr>
              <a:t>vs </a:t>
            </a:r>
            <a:r>
              <a:rPr lang="zh-TW" altLang="en-US" sz="3200" b="1" dirty="0">
                <a:solidFill>
                  <a:srgbClr val="000000"/>
                </a:solidFill>
                <a:latin typeface="Meiryo"/>
                <a:ea typeface="Meiryo"/>
                <a:cs typeface="Meiryo"/>
              </a:rPr>
              <a:t>異性妨害</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pic>
        <p:nvPicPr>
          <p:cNvPr id="2" name="图片 1">
            <a:extLst>
              <a:ext uri="{FF2B5EF4-FFF2-40B4-BE49-F238E27FC236}">
                <a16:creationId xmlns:a16="http://schemas.microsoft.com/office/drawing/2014/main" id="{DACFD2E3-7362-0841-60B5-914A2CCC20D7}"/>
              </a:ext>
            </a:extLst>
          </p:cNvPr>
          <p:cNvPicPr>
            <a:picLocks noChangeAspect="1"/>
          </p:cNvPicPr>
          <p:nvPr/>
        </p:nvPicPr>
        <p:blipFill>
          <a:blip r:embed="rId3"/>
          <a:stretch>
            <a:fillRect/>
          </a:stretch>
        </p:blipFill>
        <p:spPr>
          <a:xfrm>
            <a:off x="940072" y="1564449"/>
            <a:ext cx="3197148" cy="3207700"/>
          </a:xfrm>
          <a:prstGeom prst="rect">
            <a:avLst/>
          </a:prstGeom>
        </p:spPr>
      </p:pic>
      <p:pic>
        <p:nvPicPr>
          <p:cNvPr id="3" name="图片 2" descr="图表, 折线图&#10;&#10;AI 生成的内容可能不正确。">
            <a:extLst>
              <a:ext uri="{FF2B5EF4-FFF2-40B4-BE49-F238E27FC236}">
                <a16:creationId xmlns:a16="http://schemas.microsoft.com/office/drawing/2014/main" id="{8B4B646B-3313-E6DC-4446-489EAFC06050}"/>
              </a:ext>
            </a:extLst>
          </p:cNvPr>
          <p:cNvPicPr>
            <a:picLocks noChangeAspect="1"/>
          </p:cNvPicPr>
          <p:nvPr/>
        </p:nvPicPr>
        <p:blipFill>
          <a:blip r:embed="rId4"/>
          <a:stretch>
            <a:fillRect/>
          </a:stretch>
        </p:blipFill>
        <p:spPr>
          <a:xfrm>
            <a:off x="5792677" y="1552974"/>
            <a:ext cx="4215903" cy="3439040"/>
          </a:xfrm>
          <a:prstGeom prst="rect">
            <a:avLst/>
          </a:prstGeom>
        </p:spPr>
      </p:pic>
      <p:sp>
        <p:nvSpPr>
          <p:cNvPr id="5" name="TextBox 3">
            <a:extLst>
              <a:ext uri="{FF2B5EF4-FFF2-40B4-BE49-F238E27FC236}">
                <a16:creationId xmlns:a16="http://schemas.microsoft.com/office/drawing/2014/main" id="{CF859B7B-0DF5-D1FA-F394-165CC0481A39}"/>
              </a:ext>
            </a:extLst>
          </p:cNvPr>
          <p:cNvSpPr txBox="1"/>
          <p:nvPr/>
        </p:nvSpPr>
        <p:spPr>
          <a:xfrm>
            <a:off x="5629029" y="5024228"/>
            <a:ext cx="7189810" cy="163121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pPr>
            <a:r>
              <a:rPr lang="zh-CN" altLang="zh-CN" sz="2000" b="1" dirty="0">
                <a:latin typeface="Meiryo" panose="020B0604030504040204" pitchFamily="34" charset="-128"/>
                <a:ea typeface="Meiryo" panose="020B0604030504040204" pitchFamily="34" charset="-128"/>
              </a:rPr>
              <a:t>② Fig 2bの傾向を再現（論文と一致）</a:t>
            </a:r>
            <a:br>
              <a:rPr lang="zh-CN" altLang="zh-CN" sz="2000" dirty="0">
                <a:latin typeface="Meiryo" panose="020B0604030504040204" pitchFamily="34" charset="-128"/>
                <a:ea typeface="Meiryo" panose="020B0604030504040204" pitchFamily="34" charset="-128"/>
              </a:rPr>
            </a:br>
            <a:r>
              <a:rPr lang="zh-CN" altLang="zh-CN" sz="2000" b="1" dirty="0">
                <a:solidFill>
                  <a:schemeClr val="accent1"/>
                </a:solidFill>
                <a:latin typeface="Meiryo" panose="020B0604030504040204" pitchFamily="34" charset="-128"/>
                <a:ea typeface="Meiryo" panose="020B0604030504040204" pitchFamily="34" charset="-128"/>
              </a:rPr>
              <a:t>2本の線＝同性/異性妨害での正答率 vs SN</a:t>
            </a:r>
            <a:r>
              <a:rPr lang="en-US" altLang="ja-JP" sz="2000" b="1" dirty="0">
                <a:solidFill>
                  <a:schemeClr val="accent1"/>
                </a:solidFill>
                <a:latin typeface="Meiryo" panose="020B0604030504040204" pitchFamily="34" charset="-128"/>
                <a:ea typeface="Meiryo" panose="020B0604030504040204" pitchFamily="34" charset="-128"/>
              </a:rPr>
              <a:t>R</a:t>
            </a:r>
            <a:r>
              <a:rPr lang="zh-CN" altLang="zh-CN" sz="2000" b="1" dirty="0">
                <a:solidFill>
                  <a:schemeClr val="accent1"/>
                </a:solidFill>
                <a:latin typeface="Meiryo" panose="020B0604030504040204" pitchFamily="34" charset="-128"/>
                <a:ea typeface="Meiryo" panose="020B0604030504040204" pitchFamily="34" charset="-128"/>
              </a:rPr>
              <a:t>。</a:t>
            </a:r>
            <a:br>
              <a:rPr lang="zh-CN" altLang="zh-CN" sz="2000" b="1" dirty="0">
                <a:solidFill>
                  <a:schemeClr val="accent1"/>
                </a:solidFill>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SN比が高いほど正答率が上がる</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異性妨害のほうが同性より正答率が高い</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妨害なしでは2本が約88%に収束</a:t>
            </a:r>
            <a:endParaRPr sz="2000" b="0" dirty="0">
              <a:solidFill>
                <a:srgbClr val="555555"/>
              </a:solidFill>
              <a:latin typeface="Meiryo" panose="020B0604030504040204" pitchFamily="34" charset="-128"/>
              <a:ea typeface="Meiryo" panose="020B0604030504040204" pitchFamily="34" charset="-128"/>
              <a:cs typeface="Meiryo"/>
            </a:endParaRPr>
          </a:p>
        </p:txBody>
      </p:sp>
      <p:sp>
        <p:nvSpPr>
          <p:cNvPr id="7" name="TextBox 2">
            <a:extLst>
              <a:ext uri="{FF2B5EF4-FFF2-40B4-BE49-F238E27FC236}">
                <a16:creationId xmlns:a16="http://schemas.microsoft.com/office/drawing/2014/main" id="{0476C5BE-03FD-3CE6-BFAE-769E91815FC7}"/>
              </a:ext>
            </a:extLst>
          </p:cNvPr>
          <p:cNvSpPr txBox="1"/>
          <p:nvPr/>
        </p:nvSpPr>
        <p:spPr>
          <a:xfrm>
            <a:off x="427990" y="5514057"/>
            <a:ext cx="5066193" cy="107978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500"/>
              </a:spcAft>
            </a:pPr>
            <a:r>
              <a:rPr lang="zh-CN" altLang="zh-CN" sz="2000" b="1" dirty="0">
                <a:latin typeface="Meiryo" panose="020B0604030504040204" pitchFamily="34" charset="-128"/>
                <a:ea typeface="Meiryo" panose="020B0604030504040204" pitchFamily="34" charset="-128"/>
              </a:rPr>
              <a:t>① モデルは目標を認識できる</a:t>
            </a:r>
            <a:endParaRPr lang="en-US" altLang="zh-CN" sz="2000" b="1" dirty="0">
              <a:latin typeface="Meiryo" panose="020B0604030504040204" pitchFamily="34" charset="-128"/>
              <a:ea typeface="Meiryo" panose="020B0604030504040204" pitchFamily="34" charset="-128"/>
            </a:endParaRPr>
          </a:p>
          <a:p>
            <a:pPr>
              <a:spcAft>
                <a:spcPts val="500"/>
              </a:spcAft>
            </a:pPr>
            <a:r>
              <a:rPr lang="zh-CN" altLang="zh-CN" sz="2000" dirty="0">
                <a:latin typeface="Meiryo" panose="020B0604030504040204" pitchFamily="34" charset="-128"/>
                <a:ea typeface="Meiryo" panose="020B0604030504040204" pitchFamily="34" charset="-128"/>
              </a:rPr>
              <a:t>clean条件（妨害なし）で正答率88.6%。偶然水準0.1%（1/800）を大きく上回る。</a:t>
            </a:r>
            <a:endParaRPr lang="ja-JP" altLang="en-US" sz="2000" b="0" dirty="0">
              <a:solidFill>
                <a:srgbClr val="555555"/>
              </a:solidFill>
              <a:latin typeface="Meiryo" panose="020B0604030504040204" pitchFamily="34" charset="-128"/>
              <a:ea typeface="Meiryo" panose="020B0604030504040204" pitchFamily="34" charset="-128"/>
              <a:cs typeface="Meiryo"/>
            </a:endParaRPr>
          </a:p>
        </p:txBody>
      </p:sp>
      <p:sp>
        <p:nvSpPr>
          <p:cNvPr id="8" name="src_caption">
            <a:extLst>
              <a:ext uri="{FF2B5EF4-FFF2-40B4-BE49-F238E27FC236}">
                <a16:creationId xmlns:a16="http://schemas.microsoft.com/office/drawing/2014/main" id="{3019D8A6-9069-0C7C-2472-C55674FBA16A}"/>
              </a:ext>
            </a:extLst>
          </p:cNvPr>
          <p:cNvSpPr txBox="1"/>
          <p:nvPr/>
        </p:nvSpPr>
        <p:spPr>
          <a:xfrm>
            <a:off x="679468" y="4918402"/>
            <a:ext cx="3637915" cy="274320"/>
          </a:xfrm>
          <a:prstGeom prst="rect">
            <a:avLst/>
          </a:prstGeom>
          <a:noFill/>
        </p:spPr>
        <p:txBody>
          <a:bodyPr wrap="square" lIns="0" tIns="0" rIns="0" bIns="0"/>
          <a:lstStyle>
            <a:defPPr marR="0" lvl="0" algn="l" rtl="0">
              <a:lnSpc>
                <a:spcPct val="100000"/>
              </a:lnSpc>
              <a:spcBef>
                <a:spcPts val="0"/>
              </a:spcBef>
              <a:spcAft>
                <a:spcPts val="0"/>
              </a:spcAft>
            </a:defPPr>
            <a:lvl1pPr>
              <a:defRPr sz="800" i="1">
                <a:solidFill>
                  <a:srgbClr val="808080"/>
                </a:solidFill>
              </a:defRPr>
            </a:lvl1pPr>
          </a:lstStyle>
          <a:p>
            <a:pPr algn="ctr"/>
            <a:r>
              <a:rPr lang="en-US" altLang="ja-JP" sz="1800" dirty="0">
                <a:latin typeface="Times New Roman" panose="02020603050405020304" charset="0"/>
                <a:cs typeface="Times New Roman" panose="02020603050405020304" charset="0"/>
              </a:rPr>
              <a:t>Griffith et al. (2026).,  Fig. 2b</a:t>
            </a:r>
            <a:endParaRPr lang="en-US" sz="1800" dirty="0">
              <a:latin typeface="Times New Roman" panose="02020603050405020304" charset="0"/>
              <a:cs typeface="Times New Roman" panose="02020603050405020304" charset="0"/>
            </a:endParaRPr>
          </a:p>
        </p:txBody>
      </p:sp>
      <p:sp>
        <p:nvSpPr>
          <p:cNvPr id="9" name="文本框 8">
            <a:extLst>
              <a:ext uri="{FF2B5EF4-FFF2-40B4-BE49-F238E27FC236}">
                <a16:creationId xmlns:a16="http://schemas.microsoft.com/office/drawing/2014/main" id="{44E9C4CB-B905-97B6-AD1A-8460E1943051}"/>
              </a:ext>
            </a:extLst>
          </p:cNvPr>
          <p:cNvSpPr txBox="1"/>
          <p:nvPr/>
        </p:nvSpPr>
        <p:spPr>
          <a:xfrm>
            <a:off x="6951344" y="1133280"/>
            <a:ext cx="3057236" cy="369332"/>
          </a:xfrm>
          <a:prstGeom prst="rect">
            <a:avLst/>
          </a:prstGeom>
          <a:noFill/>
        </p:spPr>
        <p:txBody>
          <a:bodyPr wrap="square" rtlCol="0">
            <a:spAutoFit/>
          </a:bodyPr>
          <a:lstStyle/>
          <a:p>
            <a:r>
              <a:rPr lang="ja-JP" altLang="en-US" b="1" dirty="0">
                <a:solidFill>
                  <a:schemeClr val="accent1"/>
                </a:solidFill>
                <a:latin typeface="Meiryo" panose="020B0604030504040204" pitchFamily="34" charset="-128"/>
                <a:ea typeface="Meiryo" panose="020B0604030504040204" pitchFamily="34" charset="-128"/>
              </a:rPr>
              <a:t>本実験の結果</a:t>
            </a:r>
            <a:endParaRPr lang="zh-CN" altLang="en-US" b="1" dirty="0">
              <a:solidFill>
                <a:schemeClr val="accent1"/>
              </a:solidFill>
              <a:latin typeface="Meiryo" panose="020B0604030504040204" pitchFamily="34" charset="-128"/>
              <a:ea typeface="Meiryo" panose="020B0604030504040204" pitchFamily="34" charset="-128"/>
            </a:endParaRPr>
          </a:p>
        </p:txBody>
      </p:sp>
      <p:sp>
        <p:nvSpPr>
          <p:cNvPr id="10" name="文本框 9">
            <a:extLst>
              <a:ext uri="{FF2B5EF4-FFF2-40B4-BE49-F238E27FC236}">
                <a16:creationId xmlns:a16="http://schemas.microsoft.com/office/drawing/2014/main" id="{0514E962-5467-2C9E-05C9-2B60D9F40FA3}"/>
              </a:ext>
            </a:extLst>
          </p:cNvPr>
          <p:cNvSpPr txBox="1"/>
          <p:nvPr/>
        </p:nvSpPr>
        <p:spPr>
          <a:xfrm>
            <a:off x="1497271" y="1283274"/>
            <a:ext cx="3057236" cy="369332"/>
          </a:xfrm>
          <a:prstGeom prst="rect">
            <a:avLst/>
          </a:prstGeom>
          <a:noFill/>
        </p:spPr>
        <p:txBody>
          <a:bodyPr wrap="square" rtlCol="0">
            <a:spAutoFit/>
          </a:bodyPr>
          <a:lstStyle/>
          <a:p>
            <a:r>
              <a:rPr lang="ja-JP" altLang="en-US" b="1" dirty="0">
                <a:solidFill>
                  <a:schemeClr val="accent1"/>
                </a:solidFill>
                <a:latin typeface="Meiryo" panose="020B0604030504040204" pitchFamily="34" charset="-128"/>
                <a:ea typeface="Meiryo" panose="020B0604030504040204" pitchFamily="34" charset="-128"/>
              </a:rPr>
              <a:t>先行研究の結果</a:t>
            </a:r>
            <a:endParaRPr lang="zh-CN" altLang="en-US" b="1" dirty="0">
              <a:solidFill>
                <a:schemeClr val="accent1"/>
              </a:solidFill>
              <a:latin typeface="Meiryo" panose="020B0604030504040204" pitchFamily="34" charset="-128"/>
              <a:ea typeface="Meiryo" panose="020B0604030504040204" pitchFamily="34" charset="-128"/>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8044F73-1E08-6C78-E3E2-F2F7483C655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385FF17-9639-06AF-845C-0BA8D1DBB556}"/>
              </a:ext>
            </a:extLst>
          </p:cNvPr>
          <p:cNvSpPr/>
          <p:nvPr/>
        </p:nvSpPr>
        <p:spPr>
          <a:xfrm>
            <a:off x="110807" y="14795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a:extLst>
              <a:ext uri="{FF2B5EF4-FFF2-40B4-BE49-F238E27FC236}">
                <a16:creationId xmlns:a16="http://schemas.microsoft.com/office/drawing/2014/main" id="{BE277E36-86CD-D24E-D3CA-A9E20A127E32}"/>
              </a:ext>
            </a:extLst>
          </p:cNvPr>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8</a:t>
            </a:r>
          </a:p>
        </p:txBody>
      </p:sp>
      <p:sp>
        <p:nvSpPr>
          <p:cNvPr id="8" name="Text 3">
            <a:extLst>
              <a:ext uri="{FF2B5EF4-FFF2-40B4-BE49-F238E27FC236}">
                <a16:creationId xmlns:a16="http://schemas.microsoft.com/office/drawing/2014/main" id="{422886CB-A777-8F6D-9B8E-60E285C62D54}"/>
              </a:ext>
            </a:extLst>
          </p:cNvPr>
          <p:cNvSpPr/>
          <p:nvPr/>
        </p:nvSpPr>
        <p:spPr>
          <a:xfrm>
            <a:off x="427990" y="264160"/>
            <a:ext cx="11095990" cy="597535"/>
          </a:xfrm>
          <a:prstGeom prst="rect">
            <a:avLst/>
          </a:prstGeom>
          <a:noFill/>
        </p:spPr>
        <p:txBody>
          <a:bodyPr wrap="square" lIns="0" tIns="0" rIns="0" bIns="0" rtlCol="0" anchor="ctr"/>
          <a:lstStyle/>
          <a:p>
            <a:r>
              <a:rPr lang="ja-JP" altLang="en-US" sz="3200" b="1" dirty="0">
                <a:solidFill>
                  <a:srgbClr val="000000"/>
                </a:solidFill>
                <a:latin typeface="Meiryo"/>
                <a:ea typeface="Meiryo"/>
                <a:cs typeface="Meiryo"/>
              </a:rPr>
              <a:t>本発表の</a:t>
            </a:r>
            <a:r>
              <a:rPr lang="en-US" altLang="ja-JP" sz="3200" b="1" dirty="0">
                <a:solidFill>
                  <a:srgbClr val="000000"/>
                </a:solidFill>
                <a:latin typeface="Meiryo"/>
                <a:ea typeface="Meiryo"/>
                <a:cs typeface="Meiryo"/>
              </a:rPr>
              <a:t>2</a:t>
            </a:r>
            <a:r>
              <a:rPr lang="ja-JP" altLang="en-US" sz="3200" b="1" dirty="0">
                <a:solidFill>
                  <a:srgbClr val="000000"/>
                </a:solidFill>
                <a:latin typeface="Meiryo"/>
                <a:ea typeface="Meiryo"/>
                <a:cs typeface="Meiryo"/>
              </a:rPr>
              <a:t>つの問い</a:t>
            </a:r>
            <a:endParaRPr lang="zh-CN" altLang="en-US" sz="3200" b="1" dirty="0">
              <a:solidFill>
                <a:srgbClr val="333333"/>
              </a:solidFill>
              <a:latin typeface="Meiryo" panose="020B0604030504040204" charset="-128"/>
              <a:ea typeface="Meiryo" panose="020B0604030504040204" charset="-128"/>
              <a:cs typeface="Meiryo" panose="020B0604030504040204" charset="-128"/>
            </a:endParaRPr>
          </a:p>
        </p:txBody>
      </p:sp>
      <p:sp>
        <p:nvSpPr>
          <p:cNvPr id="11" name="TextBox 2">
            <a:extLst>
              <a:ext uri="{FF2B5EF4-FFF2-40B4-BE49-F238E27FC236}">
                <a16:creationId xmlns:a16="http://schemas.microsoft.com/office/drawing/2014/main" id="{1F8BF264-1EEA-DA09-B184-4899E477F925}"/>
              </a:ext>
            </a:extLst>
          </p:cNvPr>
          <p:cNvSpPr txBox="1"/>
          <p:nvPr/>
        </p:nvSpPr>
        <p:spPr>
          <a:xfrm>
            <a:off x="626745" y="2120810"/>
            <a:ext cx="10698480" cy="34778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zh-CN" sz="2000" b="1" dirty="0">
                <a:latin typeface="Meiryo" panose="020B0604030504040204" pitchFamily="34" charset="-128"/>
                <a:ea typeface="Meiryo" panose="020B0604030504040204" pitchFamily="34" charset="-128"/>
              </a:rPr>
              <a:t>①：モデルは目標話者の中央単語を認識できるか？</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 できる。妨害のないclean条件で正答率88.6%（偶然は0.1%）。混合音声の中でも、−9 dBで26%、妨害なしで88%と、一貫して機能する。</a:t>
            </a:r>
          </a:p>
          <a:p>
            <a:endParaRPr lang="en-US" altLang="zh-CN" sz="2000" b="1"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②：正答率の傾向は論文と一致するか？</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 一致する。SN比が高いほど正答率が上がり、妨害は同性より異性のほうが正答率が高く、妨害がなければ性別によらず同じ水準に収束する。</a:t>
            </a:r>
          </a:p>
          <a:p>
            <a:endParaRPr lang="en-US" altLang="zh-CN" sz="2000" b="1" dirty="0">
              <a:latin typeface="Meiryo" panose="020B0604030504040204" pitchFamily="34" charset="-128"/>
              <a:ea typeface="Meiryo" panose="020B0604030504040204" pitchFamily="34" charset="-128"/>
            </a:endParaRPr>
          </a:p>
          <a:p>
            <a:r>
              <a:rPr lang="zh-CN" altLang="zh-CN" sz="2000" b="1" dirty="0">
                <a:solidFill>
                  <a:schemeClr val="accent1"/>
                </a:solidFill>
                <a:latin typeface="Meiryo" panose="020B0604030504040204" pitchFamily="34" charset="-128"/>
                <a:ea typeface="Meiryo" panose="020B0604030504040204" pitchFamily="34" charset="-128"/>
              </a:rPr>
              <a:t>いずれの傾向も論文と方向が一致し、再現に成功した</a:t>
            </a:r>
            <a:endParaRPr lang="zh-CN" altLang="zh-CN" sz="2000" dirty="0">
              <a:solidFill>
                <a:schemeClr val="accent1"/>
              </a:solidFill>
              <a:latin typeface="Meiryo" panose="020B0604030504040204" pitchFamily="34" charset="-128"/>
              <a:ea typeface="Meiryo" panose="020B0604030504040204" pitchFamily="34" charset="-128"/>
            </a:endParaRPr>
          </a:p>
          <a:p>
            <a:pPr>
              <a:spcAft>
                <a:spcPts val="500"/>
              </a:spcAft>
            </a:pPr>
            <a:endParaRPr sz="2000" b="1" dirty="0">
              <a:solidFill>
                <a:srgbClr val="0070C0"/>
              </a:solidFill>
              <a:latin typeface="Meiryo"/>
              <a:ea typeface="Meiryo"/>
              <a:cs typeface="Meiryo"/>
            </a:endParaRPr>
          </a:p>
        </p:txBody>
      </p:sp>
    </p:spTree>
    <p:custDataLst>
      <p:tags r:id="rId1"/>
    </p:custDataLst>
    <p:extLst>
      <p:ext uri="{BB962C8B-B14F-4D97-AF65-F5344CB8AC3E}">
        <p14:creationId xmlns:p14="http://schemas.microsoft.com/office/powerpoint/2010/main" val="4077347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7" y="121285"/>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charset="-128"/>
                <a:cs typeface="Meiryo" panose="020B0604030504040204" pitchFamily="34" charset="-120"/>
              </a:rPr>
              <a:t>9</a:t>
            </a:r>
          </a:p>
        </p:txBody>
      </p:sp>
      <p:sp>
        <p:nvSpPr>
          <p:cNvPr id="8" name="Text 3"/>
          <p:cNvSpPr/>
          <p:nvPr/>
        </p:nvSpPr>
        <p:spPr>
          <a:xfrm>
            <a:off x="427990" y="264160"/>
            <a:ext cx="11095990" cy="597535"/>
          </a:xfrm>
          <a:prstGeom prst="rect">
            <a:avLst/>
          </a:prstGeom>
          <a:noFill/>
        </p:spPr>
        <p:txBody>
          <a:bodyPr wrap="square" lIns="0" tIns="0" rIns="0" bIns="0" rtlCol="0" anchor="ctr"/>
          <a:lstStyle/>
          <a:p>
            <a:r>
              <a:rPr lang="zh-CN" altLang="zh-CN" sz="3200" b="1" dirty="0">
                <a:latin typeface="Meiryo" panose="020B0604030504040204" pitchFamily="34" charset="-128"/>
                <a:ea typeface="Meiryo" panose="020B0604030504040204" pitchFamily="34" charset="-128"/>
              </a:rPr>
              <a:t>今回の設定</a:t>
            </a:r>
            <a:endParaRPr lang="zh-CN" altLang="en-US" sz="3200" b="1" dirty="0">
              <a:solidFill>
                <a:srgbClr val="000000"/>
              </a:solidFill>
              <a:latin typeface="Meiryo" panose="020B0604030504040204" pitchFamily="34" charset="-128"/>
              <a:ea typeface="Meiryo" panose="020B0604030504040204" pitchFamily="34" charset="-128"/>
            </a:endParaRPr>
          </a:p>
        </p:txBody>
      </p:sp>
      <p:sp>
        <p:nvSpPr>
          <p:cNvPr id="5" name="TextBox 2">
            <a:extLst>
              <a:ext uri="{FF2B5EF4-FFF2-40B4-BE49-F238E27FC236}">
                <a16:creationId xmlns:a16="http://schemas.microsoft.com/office/drawing/2014/main" id="{CE8A362A-7707-0F3A-04CD-0EB0319FA135}"/>
              </a:ext>
            </a:extLst>
          </p:cNvPr>
          <p:cNvSpPr txBox="1"/>
          <p:nvPr/>
        </p:nvSpPr>
        <p:spPr>
          <a:xfrm>
            <a:off x="516890" y="1130525"/>
            <a:ext cx="10698480" cy="563231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zh-CN" sz="2000" dirty="0">
                <a:latin typeface="Meiryo" panose="020B0604030504040204" pitchFamily="34" charset="-128"/>
                <a:ea typeface="Meiryo" panose="020B0604030504040204" pitchFamily="34" charset="-128"/>
              </a:rPr>
              <a:t>論文の設定に準拠：800語彙・6段階SN</a:t>
            </a:r>
            <a:r>
              <a:rPr lang="en-US" altLang="zh-CN" sz="2000" dirty="0">
                <a:latin typeface="Meiryo" panose="020B0604030504040204" pitchFamily="34" charset="-128"/>
                <a:ea typeface="Meiryo" panose="020B0604030504040204" pitchFamily="34" charset="-128"/>
              </a:rPr>
              <a:t>R</a:t>
            </a:r>
            <a:r>
              <a:rPr lang="zh-CN" altLang="zh-CN" sz="2000" dirty="0">
                <a:latin typeface="Meiryo" panose="020B0604030504040204" pitchFamily="34" charset="-128"/>
                <a:ea typeface="Meiryo" panose="020B0604030504040204" pitchFamily="34" charset="-128"/>
              </a:rPr>
              <a:t>・within-item・採点基準・著者の公開パラメータ。</a:t>
            </a:r>
            <a:endParaRPr lang="en-US" altLang="zh-CN" sz="2000"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実装上の調整：</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・短縮形（don'tなど16語）を語彙と照合するため、正規化でアポストロフィを残した</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・処理を効率化するため、話者ごとに録音を整列し、目標語が取れた録音を目標（target）、同じ話者の別録音を手がかり（cue）に割り当てた（妨害は時間長のみで選定）</a:t>
            </a:r>
            <a:endParaRPr lang="en-US" altLang="zh-CN" sz="2000"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現時点での限界</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・妨害は単一話者の音声のみ。diotic（非空間）で、他の妨害種・空間実験は未実施。</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・サンプル数600件、CPUで1回の推論に約6.5時間（今後HAKUSAN GPUで拡張予定）。</a:t>
            </a:r>
            <a:br>
              <a:rPr lang="zh-CN" altLang="zh-CN" sz="2000" dirty="0">
                <a:latin typeface="Meiryo" panose="020B0604030504040204" pitchFamily="34" charset="-128"/>
                <a:ea typeface="Meiryo" panose="020B0604030504040204" pitchFamily="34" charset="-128"/>
              </a:rPr>
            </a:br>
            <a:r>
              <a:rPr lang="zh-CN" altLang="zh-CN" sz="2000" dirty="0">
                <a:latin typeface="Meiryo" panose="020B0604030504040204" pitchFamily="34" charset="-128"/>
                <a:ea typeface="Meiryo" panose="020B0604030504040204" pitchFamily="34" charset="-128"/>
              </a:rPr>
              <a:t>・数値は論文と異なる（コーパス・話者・単語が違うため）。判定は傾向の方向で行う。</a:t>
            </a:r>
          </a:p>
          <a:p>
            <a:endParaRPr lang="en-US" altLang="zh-CN" sz="2000" b="1" dirty="0">
              <a:latin typeface="Meiryo" panose="020B0604030504040204" pitchFamily="34" charset="-128"/>
              <a:ea typeface="Meiryo" panose="020B0604030504040204" pitchFamily="34" charset="-128"/>
            </a:endParaRP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既知の課題</a:t>
            </a:r>
            <a:endParaRPr lang="en-US" altLang="zh-CN" sz="2000" b="1" dirty="0">
              <a:latin typeface="Meiryo" panose="020B0604030504040204" pitchFamily="34" charset="-128"/>
              <a:ea typeface="Meiryo" panose="020B0604030504040204" pitchFamily="34" charset="-128"/>
            </a:endParaRPr>
          </a:p>
          <a:p>
            <a:r>
              <a:rPr lang="zh-CN" altLang="zh-CN" sz="2000" dirty="0">
                <a:latin typeface="Meiryo" panose="020B0604030504040204" pitchFamily="34" charset="-128"/>
                <a:ea typeface="Meiryo" panose="020B0604030504040204" pitchFamily="34" charset="-128"/>
              </a:rPr>
              <a:t>・妨害話者の中央単語を800語彙に制約していないため、妨害由来の混同がほとんど生じず、混同率（Fig 2d/2e）は評価できない。</a:t>
            </a:r>
            <a:endParaRPr lang="en-US" altLang="zh-CN" sz="2000" dirty="0">
              <a:latin typeface="Meiryo" panose="020B0604030504040204" pitchFamily="34" charset="-128"/>
              <a:ea typeface="Meiryo" panose="020B0604030504040204" pitchFamily="34" charset="-128"/>
            </a:endParaRPr>
          </a:p>
          <a:p>
            <a:r>
              <a:rPr lang="en-US" altLang="zh-CN" sz="2000" dirty="0">
                <a:latin typeface="Meiryo" panose="020B0604030504040204" pitchFamily="34" charset="-128"/>
                <a:ea typeface="Meiryo" panose="020B0604030504040204" pitchFamily="34" charset="-128"/>
              </a:rPr>
              <a:t>	</a:t>
            </a:r>
            <a:r>
              <a:rPr lang="zh-CN" altLang="zh-CN" sz="2000" dirty="0">
                <a:latin typeface="Meiryo" panose="020B0604030504040204" pitchFamily="34" charset="-128"/>
                <a:ea typeface="Meiryo" panose="020B0604030504040204" pitchFamily="34" charset="-128"/>
              </a:rPr>
              <a:t>→ 妨害選定を語彙制約付きにすれば対応可能。</a:t>
            </a:r>
          </a:p>
          <a:p>
            <a:pPr>
              <a:spcAft>
                <a:spcPts val="500"/>
              </a:spcAft>
            </a:pPr>
            <a:endParaRPr sz="2000" b="1" dirty="0">
              <a:solidFill>
                <a:srgbClr val="000000"/>
              </a:solidFill>
              <a:latin typeface="Meiryo" panose="020B0604030504040204" pitchFamily="34" charset="-128"/>
              <a:ea typeface="Meiryo" panose="020B0604030504040204" pitchFamily="34" charset="-128"/>
              <a:cs typeface="Meiryo"/>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矩形 3"/>
          <p:cNvSpPr/>
          <p:nvPr/>
        </p:nvSpPr>
        <p:spPr>
          <a:xfrm>
            <a:off x="110808" y="134620"/>
            <a:ext cx="11970385" cy="658876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 1"/>
          <p:cNvSpPr/>
          <p:nvPr/>
        </p:nvSpPr>
        <p:spPr>
          <a:xfrm>
            <a:off x="11215370" y="147955"/>
            <a:ext cx="796925" cy="527050"/>
          </a:xfrm>
          <a:prstGeom prst="rect">
            <a:avLst/>
          </a:prstGeom>
          <a:noFill/>
        </p:spPr>
        <p:txBody>
          <a:bodyPr wrap="square" lIns="0" tIns="0" rIns="0" bIns="0" rtlCol="0" anchor="ctr"/>
          <a:lstStyle/>
          <a:p>
            <a:pPr marL="0" indent="0" algn="r">
              <a:buNone/>
            </a:pPr>
            <a:r>
              <a:rPr lang="en-US" sz="2400" b="1" dirty="0">
                <a:solidFill>
                  <a:srgbClr val="999999"/>
                </a:solidFill>
                <a:latin typeface="Meiryo" panose="020B0604030504040204" charset="-128"/>
                <a:ea typeface="Meiryo" panose="020B0604030504040204" pitchFamily="34" charset="-122"/>
                <a:cs typeface="Meiryo" panose="020B0604030504040204" pitchFamily="34" charset="-120"/>
              </a:rPr>
              <a:t>10</a:t>
            </a:r>
          </a:p>
        </p:txBody>
      </p:sp>
      <p:sp>
        <p:nvSpPr>
          <p:cNvPr id="8" name="Text 3"/>
          <p:cNvSpPr/>
          <p:nvPr/>
        </p:nvSpPr>
        <p:spPr>
          <a:xfrm>
            <a:off x="427990" y="264160"/>
            <a:ext cx="11095990" cy="597535"/>
          </a:xfrm>
          <a:prstGeom prst="rect">
            <a:avLst/>
          </a:prstGeom>
          <a:noFill/>
        </p:spPr>
        <p:txBody>
          <a:bodyPr wrap="square" lIns="0" tIns="0" rIns="0" bIns="0" rtlCol="0" anchor="ctr"/>
          <a:lstStyle/>
          <a:p>
            <a:pPr marL="0" indent="0">
              <a:buNone/>
            </a:pPr>
            <a:r>
              <a:rPr lang="ja-JP" altLang="en-US" sz="3200" b="1" dirty="0">
                <a:solidFill>
                  <a:srgbClr val="333333"/>
                </a:solidFill>
                <a:latin typeface="Meiryo" panose="020B0604030504040204" charset="-128"/>
                <a:ea typeface="Meiryo" panose="020B0604030504040204" pitchFamily="34" charset="-122"/>
                <a:cs typeface="Meiryo" panose="020B0604030504040204" pitchFamily="34" charset="-120"/>
              </a:rPr>
              <a:t>まとめ</a:t>
            </a:r>
          </a:p>
        </p:txBody>
      </p:sp>
      <p:sp>
        <p:nvSpPr>
          <p:cNvPr id="2" name="TextBox 2">
            <a:extLst>
              <a:ext uri="{FF2B5EF4-FFF2-40B4-BE49-F238E27FC236}">
                <a16:creationId xmlns:a16="http://schemas.microsoft.com/office/drawing/2014/main" id="{D4D0B289-DCE8-04C0-1479-73DDDC81CFC1}"/>
              </a:ext>
            </a:extLst>
          </p:cNvPr>
          <p:cNvSpPr txBox="1"/>
          <p:nvPr/>
        </p:nvSpPr>
        <p:spPr>
          <a:xfrm>
            <a:off x="516890" y="1385510"/>
            <a:ext cx="10698480" cy="532453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zh-CN" sz="2000" b="1" dirty="0">
                <a:latin typeface="Meiryo" panose="020B0604030504040204" pitchFamily="34" charset="-128"/>
                <a:ea typeface="Meiryo" panose="020B0604030504040204" pitchFamily="34" charset="-128"/>
              </a:rPr>
              <a:t>目的：</a:t>
            </a:r>
            <a:r>
              <a:rPr lang="zh-CN" altLang="zh-CN" sz="2000" dirty="0">
                <a:latin typeface="Meiryo" panose="020B0604030504040204" pitchFamily="34" charset="-128"/>
                <a:ea typeface="Meiryo" panose="020B0604030504040204" pitchFamily="34" charset="-128"/>
              </a:rPr>
              <a:t> 著者の学習済みモデルと自作のCommon Voice評価セットを用い、混合音声中の目標単語の正答率がSN比・妨害の性別でどう変わるか（論文Fig 2bに対応）を再現できるか検証した。</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方法：</a:t>
            </a:r>
            <a:r>
              <a:rPr lang="zh-CN" altLang="zh-CN" sz="2000" dirty="0">
                <a:latin typeface="Meiryo" panose="020B0604030504040204" pitchFamily="34" charset="-128"/>
                <a:ea typeface="Meiryo" panose="020B0604030504040204" pitchFamily="34" charset="-128"/>
              </a:rPr>
              <a:t> 強制アライメント → 目標単語を中心に切り出し → 6段階のSN比で混合 → 著者のモデルでそのまま推論（600サンプル、性別均衡）</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結果：</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1.</a:t>
            </a:r>
            <a:r>
              <a:rPr lang="zh-CN" altLang="zh-CN" sz="2000" dirty="0">
                <a:latin typeface="Meiryo" panose="020B0604030504040204" pitchFamily="34" charset="-128"/>
                <a:ea typeface="Meiryo" panose="020B0604030504040204" pitchFamily="34" charset="-128"/>
              </a:rPr>
              <a:t> モデルは目標を認識できる：clean条件で正答率88.6%（偶然は0.1%）</a:t>
            </a:r>
            <a:br>
              <a:rPr lang="zh-CN" altLang="zh-CN" sz="2000" dirty="0">
                <a:latin typeface="Meiryo" panose="020B0604030504040204" pitchFamily="34" charset="-128"/>
                <a:ea typeface="Meiryo" panose="020B0604030504040204" pitchFamily="34" charset="-128"/>
              </a:rPr>
            </a:br>
            <a:r>
              <a:rPr lang="en-US" altLang="zh-CN" sz="2000" dirty="0">
                <a:latin typeface="Meiryo" panose="020B0604030504040204" pitchFamily="34" charset="-128"/>
                <a:ea typeface="Meiryo" panose="020B0604030504040204" pitchFamily="34" charset="-128"/>
              </a:rPr>
              <a:t>	2.</a:t>
            </a:r>
            <a:r>
              <a:rPr lang="zh-CN" altLang="zh-CN" sz="2000" dirty="0">
                <a:latin typeface="Meiryo" panose="020B0604030504040204" pitchFamily="34" charset="-128"/>
                <a:ea typeface="Meiryo" panose="020B0604030504040204" pitchFamily="34" charset="-128"/>
              </a:rPr>
              <a:t>傾向も論文と一致：SN比が高いほど正答率が上がり、妨害は同性より異性のほうが正答率が高く、妨害がなければ収束する</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結論：</a:t>
            </a:r>
            <a:r>
              <a:rPr lang="zh-CN" altLang="zh-CN" sz="2000" dirty="0">
                <a:latin typeface="Meiryo" panose="020B0604030504040204" pitchFamily="34" charset="-128"/>
                <a:ea typeface="Meiryo" panose="020B0604030504040204" pitchFamily="34" charset="-128"/>
              </a:rPr>
              <a:t> 傾向の方向が論文と一致し、再現に成功した。</a:t>
            </a:r>
          </a:p>
          <a:p>
            <a:endParaRPr lang="en-US" altLang="zh-CN" sz="2000" b="1" dirty="0">
              <a:latin typeface="Meiryo" panose="020B0604030504040204" pitchFamily="34" charset="-128"/>
              <a:ea typeface="Meiryo" panose="020B0604030504040204" pitchFamily="34" charset="-128"/>
            </a:endParaRPr>
          </a:p>
          <a:p>
            <a:r>
              <a:rPr lang="zh-CN" altLang="zh-CN" sz="2000" b="1" dirty="0">
                <a:latin typeface="Meiryo" panose="020B0604030504040204" pitchFamily="34" charset="-128"/>
                <a:ea typeface="Meiryo" panose="020B0604030504040204" pitchFamily="34" charset="-128"/>
              </a:rPr>
              <a:t>次にやること：</a:t>
            </a:r>
            <a:r>
              <a:rPr lang="zh-CN" altLang="zh-CN" sz="2000" dirty="0">
                <a:latin typeface="Meiryo" panose="020B0604030504040204" pitchFamily="34" charset="-128"/>
                <a:ea typeface="Meiryo" panose="020B0604030504040204" pitchFamily="34" charset="-128"/>
              </a:rPr>
              <a:t> 学習済みモデルを使わず、モデルを一から学習して、同じ傾向が再現されるかを検証する。</a:t>
            </a:r>
          </a:p>
          <a:p>
            <a:pPr>
              <a:spcAft>
                <a:spcPts val="500"/>
              </a:spcAft>
            </a:pPr>
            <a:endParaRPr sz="2000" b="1" dirty="0">
              <a:solidFill>
                <a:srgbClr val="0070C0"/>
              </a:solidFill>
              <a:latin typeface="Meiryo"/>
              <a:ea typeface="Meiryo"/>
              <a:cs typeface="Meiryo"/>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87.8,&quot;left&quot;:12.9,&quot;top&quot;:84.3,&quot;width&quot;:936.5}"/>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812</TotalTime>
  <Words>1825</Words>
  <Application>Microsoft Macintosh PowerPoint</Application>
  <PresentationFormat>宽屏</PresentationFormat>
  <Paragraphs>108</Paragraphs>
  <Slides>12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Meiryo</vt:lpstr>
      <vt:lpstr>Arial</vt:lpstr>
      <vt:lpstr>Calibri</vt:lpstr>
      <vt:lpstr>Times New Roman</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gdk</dc:creator>
  <cp:lastModifiedBy>a49066</cp:lastModifiedBy>
  <cp:revision>163</cp:revision>
  <dcterms:created xsi:type="dcterms:W3CDTF">2019-06-19T02:08:00Z</dcterms:created>
  <dcterms:modified xsi:type="dcterms:W3CDTF">2026-07-03T03:15:52Z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CBE21757FDDA4AA4865A2DF96BE8683F_11</vt:lpwstr>
  </property>
</Properties>
</file>