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9" r:id="rId5"/>
    <p:sldId id="260" r:id="rId6"/>
    <p:sldId id="261" r:id="rId7"/>
    <p:sldId id="262" r:id="rId8"/>
    <p:sldId id="265" r:id="rId9"/>
    <p:sldId id="264" r:id="rId10"/>
    <p:sldId id="263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64"/>
    <p:restoredTop sz="94698"/>
  </p:normalViewPr>
  <p:slideViewPr>
    <p:cSldViewPr snapToGrid="0" snapToObjects="1">
      <p:cViewPr>
        <p:scale>
          <a:sx n="92" d="100"/>
          <a:sy n="92" d="100"/>
        </p:scale>
        <p:origin x="24" y="3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audio" Target="NULL"/><Relationship Id="rId2" Type="http://schemas.microsoft.com/office/2007/relationships/media" Target="NULL"/><Relationship Id="rId1" Type="http://schemas.openxmlformats.org/officeDocument/2006/relationships/audio" Target="NULL" TargetMode="External"/><Relationship Id="rId4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377440"/>
            <a:ext cx="1069848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0000"/>
                </a:solidFill>
                <a:latin typeface="Meiryo"/>
                <a:ea typeface="Meiryo"/>
                <a:cs typeface="Meiryo"/>
              </a:rPr>
              <a:t>選択的聴覚注意モデルの行動的傾向の再現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749039"/>
            <a:ext cx="1069848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555555"/>
                </a:solidFill>
                <a:latin typeface="Meiryo"/>
                <a:ea typeface="Meiryo"/>
                <a:cs typeface="Meiryo"/>
              </a:rPr>
              <a:t>再現対象論文: Griffith, Hess &amp; McDermott (2026), Nature Human Behaviour</a:t>
            </a:r>
          </a:p>
          <a:p>
            <a:r>
              <a:rPr sz="1500" b="0">
                <a:solidFill>
                  <a:srgbClr val="555555"/>
                </a:solidFill>
                <a:latin typeface="Meiryo"/>
                <a:ea typeface="Meiryo"/>
                <a:cs typeface="Meiryo"/>
              </a:rPr>
              <a:t>"Optimized feature gains explain and predict human selective listening"</a:t>
            </a:r>
          </a:p>
          <a:p>
            <a:r>
              <a:rPr sz="1500" b="0">
                <a:solidFill>
                  <a:srgbClr val="555555"/>
                </a:solidFill>
                <a:latin typeface="Meiryo"/>
                <a:ea typeface="Meiryo"/>
                <a:cs typeface="Meiryo"/>
              </a:rPr>
              <a:t>発表者: [氏名]      日付: 2026-07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000000"/>
                </a:solidFill>
                <a:latin typeface="Meiryo"/>
                <a:ea typeface="Meiryo"/>
                <a:cs typeface="Meiryo"/>
              </a:rPr>
              <a:t>本発表の目的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698480" cy="32547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800" b="0" dirty="0">
                <a:latin typeface="Meiryo"/>
                <a:ea typeface="Meiryo"/>
                <a:cs typeface="Meiryo"/>
              </a:rPr>
              <a:t>• </a:t>
            </a:r>
            <a:r>
              <a:rPr sz="1800" b="0" dirty="0" err="1">
                <a:latin typeface="Meiryo"/>
                <a:ea typeface="Meiryo"/>
                <a:cs typeface="Meiryo"/>
              </a:rPr>
              <a:t>本発表では、著者</a:t>
            </a:r>
            <a:r>
              <a:rPr sz="1800" b="0" dirty="0">
                <a:latin typeface="Meiryo"/>
                <a:ea typeface="Meiryo"/>
                <a:cs typeface="Meiryo"/>
              </a:rPr>
              <a:t>(Griffith et al., 2026)</a:t>
            </a:r>
            <a:r>
              <a:rPr sz="1800" b="0" dirty="0" err="1">
                <a:latin typeface="Meiryo"/>
                <a:ea typeface="Meiryo"/>
                <a:cs typeface="Meiryo"/>
              </a:rPr>
              <a:t>が公開した事前学習モデルを用い</a:t>
            </a:r>
            <a:r>
              <a:rPr sz="1800" b="0" dirty="0">
                <a:latin typeface="Meiryo"/>
                <a:ea typeface="Meiryo"/>
                <a:cs typeface="Meiryo"/>
              </a:rPr>
              <a:t>、</a:t>
            </a:r>
          </a:p>
          <a:p>
            <a:pPr lvl="1">
              <a:spcAft>
                <a:spcPts val="500"/>
              </a:spcAft>
            </a:pPr>
            <a:r>
              <a:rPr sz="1600" b="0" dirty="0">
                <a:latin typeface="Meiryo"/>
                <a:ea typeface="Meiryo"/>
                <a:cs typeface="Meiryo"/>
              </a:rPr>
              <a:t> </a:t>
            </a:r>
            <a:r>
              <a:rPr sz="1600" b="0" dirty="0" err="1">
                <a:latin typeface="Meiryo"/>
                <a:ea typeface="Meiryo"/>
                <a:cs typeface="Meiryo"/>
              </a:rPr>
              <a:t>自作したCommon</a:t>
            </a:r>
            <a:r>
              <a:rPr sz="1600" b="0" dirty="0">
                <a:latin typeface="Meiryo"/>
                <a:ea typeface="Meiryo"/>
                <a:cs typeface="Meiryo"/>
              </a:rPr>
              <a:t> </a:t>
            </a:r>
            <a:r>
              <a:rPr sz="1600" b="0" dirty="0" err="1">
                <a:latin typeface="Meiryo"/>
                <a:ea typeface="Meiryo"/>
                <a:cs typeface="Meiryo"/>
              </a:rPr>
              <a:t>Voice評価セット上で、Fig</a:t>
            </a:r>
            <a:r>
              <a:rPr sz="1600" b="0" dirty="0">
                <a:latin typeface="Meiryo"/>
                <a:ea typeface="Meiryo"/>
                <a:cs typeface="Meiryo"/>
              </a:rPr>
              <a:t> 2bの行動的傾向を再現できるかを報告する</a:t>
            </a:r>
          </a:p>
          <a:p>
            <a:pPr>
              <a:spcAft>
                <a:spcPts val="500"/>
              </a:spcAft>
            </a:pPr>
            <a:r>
              <a:rPr sz="1800" b="1" dirty="0">
                <a:solidFill>
                  <a:srgbClr val="000000"/>
                </a:solidFill>
                <a:latin typeface="Meiryo"/>
                <a:ea typeface="Meiryo"/>
                <a:cs typeface="Meiryo"/>
              </a:rPr>
              <a:t>• 本発表で答える2つの問い:</a:t>
            </a:r>
          </a:p>
          <a:p>
            <a:pPr lvl="1">
              <a:spcAft>
                <a:spcPts val="500"/>
              </a:spcAft>
            </a:pPr>
            <a:r>
              <a:rPr sz="1600" b="0" dirty="0">
                <a:latin typeface="Meiryo"/>
                <a:ea typeface="Meiryo"/>
                <a:cs typeface="Meiryo"/>
              </a:rPr>
              <a:t>– ① </a:t>
            </a:r>
            <a:r>
              <a:rPr sz="1600" b="0" dirty="0" err="1">
                <a:latin typeface="Meiryo"/>
                <a:ea typeface="Meiryo"/>
                <a:cs typeface="Meiryo"/>
              </a:rPr>
              <a:t>モデルは混合音声中の目標話者の中央単語を実際に認識できるか</a:t>
            </a:r>
            <a:endParaRPr sz="1600" b="0" dirty="0">
              <a:latin typeface="Meiryo"/>
              <a:ea typeface="Meiryo"/>
              <a:cs typeface="Meiryo"/>
            </a:endParaRPr>
          </a:p>
          <a:p>
            <a:pPr lvl="1">
              <a:spcAft>
                <a:spcPts val="500"/>
              </a:spcAft>
            </a:pPr>
            <a:r>
              <a:rPr sz="1600" b="0" dirty="0">
                <a:latin typeface="Meiryo"/>
                <a:ea typeface="Meiryo"/>
                <a:cs typeface="Meiryo"/>
              </a:rPr>
              <a:t>– ② </a:t>
            </a:r>
            <a:r>
              <a:rPr sz="1600" b="0" dirty="0" err="1">
                <a:latin typeface="Meiryo"/>
                <a:ea typeface="Meiryo"/>
                <a:cs typeface="Meiryo"/>
              </a:rPr>
              <a:t>正答率の傾向</a:t>
            </a:r>
            <a:r>
              <a:rPr sz="1600" b="0" dirty="0">
                <a:latin typeface="Meiryo"/>
                <a:ea typeface="Meiryo"/>
                <a:cs typeface="Meiryo"/>
              </a:rPr>
              <a:t>(</a:t>
            </a:r>
            <a:r>
              <a:rPr sz="1600" b="0" dirty="0" err="1">
                <a:latin typeface="Meiryo"/>
                <a:ea typeface="Meiryo"/>
                <a:cs typeface="Meiryo"/>
              </a:rPr>
              <a:t>SN比、および同性</a:t>
            </a:r>
            <a:r>
              <a:rPr sz="1600" b="0" dirty="0">
                <a:latin typeface="Meiryo"/>
                <a:ea typeface="Meiryo"/>
                <a:cs typeface="Meiryo"/>
              </a:rPr>
              <a:t>/</a:t>
            </a:r>
            <a:r>
              <a:rPr sz="1600" b="0" dirty="0" err="1">
                <a:latin typeface="Meiryo"/>
                <a:ea typeface="Meiryo"/>
                <a:cs typeface="Meiryo"/>
              </a:rPr>
              <a:t>異性妨害</a:t>
            </a:r>
            <a:r>
              <a:rPr sz="1600" b="0" dirty="0">
                <a:latin typeface="Meiryo"/>
                <a:ea typeface="Meiryo"/>
                <a:cs typeface="Meiryo"/>
              </a:rPr>
              <a:t>)</a:t>
            </a:r>
            <a:r>
              <a:rPr sz="1600" b="0" dirty="0" err="1">
                <a:latin typeface="Meiryo"/>
                <a:ea typeface="Meiryo"/>
                <a:cs typeface="Meiryo"/>
              </a:rPr>
              <a:t>は、論文と方向が一致するか</a:t>
            </a:r>
            <a:endParaRPr sz="1600" b="0" dirty="0">
              <a:latin typeface="Meiryo"/>
              <a:ea typeface="Meiryo"/>
              <a:cs typeface="Meiryo"/>
            </a:endParaRPr>
          </a:p>
          <a:p>
            <a:pPr>
              <a:spcAft>
                <a:spcPts val="500"/>
              </a:spcAft>
            </a:pPr>
            <a:r>
              <a:rPr sz="1800" b="1" dirty="0">
                <a:solidFill>
                  <a:srgbClr val="C0392B"/>
                </a:solidFill>
                <a:latin typeface="Meiryo"/>
                <a:ea typeface="Meiryo"/>
                <a:cs typeface="Meiryo"/>
              </a:rPr>
              <a:t>• </a:t>
            </a:r>
            <a:r>
              <a:rPr sz="1800" b="1" dirty="0" err="1">
                <a:solidFill>
                  <a:srgbClr val="C0392B"/>
                </a:solidFill>
                <a:latin typeface="Meiryo"/>
                <a:ea typeface="Meiryo"/>
                <a:cs typeface="Meiryo"/>
              </a:rPr>
              <a:t>位置づけ</a:t>
            </a:r>
            <a:r>
              <a:rPr sz="1800" b="1" dirty="0">
                <a:solidFill>
                  <a:srgbClr val="C0392B"/>
                </a:solidFill>
                <a:latin typeface="Meiryo"/>
                <a:ea typeface="Meiryo"/>
                <a:cs typeface="Meiryo"/>
              </a:rPr>
              <a:t>: </a:t>
            </a:r>
            <a:r>
              <a:rPr sz="1800" b="1" dirty="0" err="1">
                <a:solidFill>
                  <a:srgbClr val="C0392B"/>
                </a:solidFill>
                <a:latin typeface="Meiryo"/>
                <a:ea typeface="Meiryo"/>
                <a:cs typeface="Meiryo"/>
              </a:rPr>
              <a:t>再学習は行わず、著者のパラメータをそのまま使用。数値ではなく傾向の方向を評価する</a:t>
            </a:r>
            <a:endParaRPr sz="1800" b="1" dirty="0">
              <a:solidFill>
                <a:srgbClr val="C0392B"/>
              </a:solidFill>
              <a:latin typeface="Meiryo"/>
              <a:ea typeface="Meiryo"/>
              <a:cs typeface="Meiryo"/>
            </a:endParaRPr>
          </a:p>
          <a:p>
            <a:pPr>
              <a:spcAft>
                <a:spcPts val="500"/>
              </a:spcAft>
            </a:pPr>
            <a:r>
              <a:rPr sz="1800" b="1" dirty="0">
                <a:solidFill>
                  <a:srgbClr val="000000"/>
                </a:solidFill>
                <a:latin typeface="Meiryo"/>
                <a:ea typeface="Meiryo"/>
                <a:cs typeface="Meiryo"/>
              </a:rPr>
              <a:t>• </a:t>
            </a:r>
            <a:r>
              <a:rPr sz="1800" b="1" dirty="0" err="1">
                <a:solidFill>
                  <a:srgbClr val="000000"/>
                </a:solidFill>
                <a:latin typeface="Meiryo"/>
                <a:ea typeface="Meiryo"/>
                <a:cs typeface="Meiryo"/>
              </a:rPr>
              <a:t>再現が成功する意義</a:t>
            </a:r>
            <a:r>
              <a:rPr sz="1800" b="1" dirty="0">
                <a:solidFill>
                  <a:srgbClr val="000000"/>
                </a:solidFill>
                <a:latin typeface="Meiryo"/>
                <a:ea typeface="Meiryo"/>
                <a:cs typeface="Meiryo"/>
              </a:rPr>
              <a:t>:</a:t>
            </a:r>
          </a:p>
          <a:p>
            <a:pPr lvl="1">
              <a:spcAft>
                <a:spcPts val="500"/>
              </a:spcAft>
            </a:pPr>
            <a:r>
              <a:rPr sz="1600" b="0" dirty="0">
                <a:latin typeface="Meiryo"/>
                <a:ea typeface="Meiryo"/>
                <a:cs typeface="Meiryo"/>
              </a:rPr>
              <a:t>– </a:t>
            </a:r>
            <a:r>
              <a:rPr sz="1600" b="0" dirty="0" err="1">
                <a:latin typeface="Meiryo"/>
                <a:ea typeface="Meiryo"/>
                <a:cs typeface="Meiryo"/>
              </a:rPr>
              <a:t>著者のモデルが未知のコーパス</a:t>
            </a:r>
            <a:r>
              <a:rPr sz="1600" b="0" dirty="0">
                <a:latin typeface="Meiryo"/>
                <a:ea typeface="Meiryo"/>
                <a:cs typeface="Meiryo"/>
              </a:rPr>
              <a:t>(Common Voice)</a:t>
            </a:r>
            <a:r>
              <a:rPr sz="1600" b="0" dirty="0" err="1">
                <a:latin typeface="Meiryo"/>
                <a:ea typeface="Meiryo"/>
                <a:cs typeface="Meiryo"/>
              </a:rPr>
              <a:t>にも汎化することを示せる</a:t>
            </a:r>
            <a:r>
              <a:rPr sz="1600" b="0" dirty="0">
                <a:latin typeface="Meiryo"/>
                <a:ea typeface="Meiryo"/>
                <a:cs typeface="Meiryo"/>
              </a:rPr>
              <a:t> —— </a:t>
            </a:r>
            <a:r>
              <a:rPr sz="1600" b="0" dirty="0" err="1">
                <a:latin typeface="Meiryo"/>
                <a:ea typeface="Meiryo"/>
                <a:cs typeface="Meiryo"/>
              </a:rPr>
              <a:t>頑健性の証拠</a:t>
            </a:r>
            <a:endParaRPr sz="1600" b="0" dirty="0">
              <a:latin typeface="Meiryo"/>
              <a:ea typeface="Meiryo"/>
              <a:cs typeface="Meiryo"/>
            </a:endParaRPr>
          </a:p>
          <a:p>
            <a:pPr lvl="1">
              <a:spcAft>
                <a:spcPts val="500"/>
              </a:spcAft>
            </a:pPr>
            <a:r>
              <a:rPr sz="1600" b="0" dirty="0">
                <a:latin typeface="Meiryo"/>
                <a:ea typeface="Meiryo"/>
                <a:cs typeface="Meiryo"/>
              </a:rPr>
              <a:t>– </a:t>
            </a:r>
            <a:r>
              <a:rPr sz="1600" b="0" dirty="0" err="1">
                <a:latin typeface="Meiryo"/>
                <a:ea typeface="Meiryo"/>
                <a:cs typeface="Meiryo"/>
              </a:rPr>
              <a:t>自作の評価パイプラインが正しく機能することを確認</a:t>
            </a:r>
            <a:r>
              <a:rPr sz="1600" b="0" dirty="0">
                <a:latin typeface="Meiryo"/>
                <a:ea typeface="Meiryo"/>
                <a:cs typeface="Meiryo"/>
              </a:rPr>
              <a:t> —— </a:t>
            </a:r>
            <a:r>
              <a:rPr sz="1600" b="0" dirty="0" err="1">
                <a:latin typeface="Meiryo"/>
                <a:ea typeface="Meiryo"/>
                <a:cs typeface="Meiryo"/>
              </a:rPr>
              <a:t>今後の拡張の基盤となる</a:t>
            </a:r>
            <a:endParaRPr sz="1600" b="0" dirty="0">
              <a:latin typeface="Meiryo"/>
              <a:ea typeface="Meiryo"/>
              <a:cs typeface="Meiryo"/>
            </a:endParaRPr>
          </a:p>
          <a:p>
            <a:pPr lvl="1">
              <a:spcAft>
                <a:spcPts val="500"/>
              </a:spcAft>
            </a:pPr>
            <a:r>
              <a:rPr sz="1600" b="0" dirty="0">
                <a:latin typeface="Meiryo"/>
                <a:ea typeface="Meiryo"/>
                <a:cs typeface="Meiryo"/>
              </a:rPr>
              <a:t>– </a:t>
            </a:r>
            <a:r>
              <a:rPr sz="1600" b="0" dirty="0" err="1">
                <a:latin typeface="Meiryo"/>
                <a:ea typeface="Meiryo"/>
                <a:cs typeface="Meiryo"/>
              </a:rPr>
              <a:t>論文の主要な行動的知見を独立に再現し、追試としての価値を加える</a:t>
            </a:r>
            <a:endParaRPr sz="1600" b="0" dirty="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 dirty="0" err="1">
                <a:solidFill>
                  <a:srgbClr val="000000"/>
                </a:solidFill>
                <a:latin typeface="Meiryo"/>
                <a:ea typeface="Meiryo"/>
                <a:cs typeface="Meiryo"/>
              </a:rPr>
              <a:t>一、研究背景と再現目標</a:t>
            </a:r>
            <a:endParaRPr sz="2500" b="1" dirty="0">
              <a:solidFill>
                <a:srgbClr val="000000"/>
              </a:solidFill>
              <a:latin typeface="Meiryo"/>
              <a:ea typeface="Meiryo"/>
              <a:cs typeface="Meiryo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18306" y="4536440"/>
            <a:ext cx="9857511" cy="21980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800" b="0" dirty="0">
                <a:latin typeface="Meiryo"/>
                <a:ea typeface="Meiryo"/>
                <a:cs typeface="Meiryo"/>
              </a:rPr>
              <a:t>• </a:t>
            </a:r>
            <a:r>
              <a:rPr sz="1800" b="0" dirty="0" err="1">
                <a:latin typeface="Meiryo"/>
                <a:ea typeface="Meiryo"/>
                <a:cs typeface="Meiryo"/>
              </a:rPr>
              <a:t>論文</a:t>
            </a:r>
            <a:r>
              <a:rPr sz="1800" b="0" dirty="0">
                <a:latin typeface="Meiryo"/>
                <a:ea typeface="Meiryo"/>
                <a:cs typeface="Meiryo"/>
              </a:rPr>
              <a:t>: 「</a:t>
            </a:r>
            <a:r>
              <a:rPr sz="1800" b="0" dirty="0" err="1">
                <a:latin typeface="Meiryo"/>
                <a:ea typeface="Meiryo"/>
                <a:cs typeface="Meiryo"/>
              </a:rPr>
              <a:t>特徴ゲイン」型の注意機構をもつニューラルネットワークで、人間の</a:t>
            </a:r>
            <a:endParaRPr lang="en-US" sz="1800" b="0" dirty="0">
              <a:latin typeface="Meiryo"/>
              <a:ea typeface="Meiryo"/>
              <a:cs typeface="Meiryo"/>
            </a:endParaRPr>
          </a:p>
          <a:p>
            <a:pPr>
              <a:spcAft>
                <a:spcPts val="500"/>
              </a:spcAft>
            </a:pPr>
            <a:r>
              <a:rPr sz="1800" b="0" dirty="0">
                <a:latin typeface="Meiryo"/>
                <a:ea typeface="Meiryo"/>
                <a:cs typeface="Meiryo"/>
              </a:rPr>
              <a:t>「</a:t>
            </a:r>
            <a:r>
              <a:rPr sz="1800" b="0" dirty="0" err="1">
                <a:latin typeface="Meiryo"/>
                <a:ea typeface="Meiryo"/>
                <a:cs typeface="Meiryo"/>
              </a:rPr>
              <a:t>カクテルパーティ</a:t>
            </a:r>
            <a:r>
              <a:rPr sz="1800" b="0" dirty="0">
                <a:latin typeface="Meiryo"/>
                <a:ea typeface="Meiryo"/>
                <a:cs typeface="Meiryo"/>
              </a:rPr>
              <a:t>ー」</a:t>
            </a:r>
            <a:r>
              <a:rPr sz="1800" b="0" dirty="0" err="1">
                <a:latin typeface="Meiryo"/>
                <a:ea typeface="Meiryo"/>
                <a:cs typeface="Meiryo"/>
              </a:rPr>
              <a:t>聴取を模擬する</a:t>
            </a:r>
            <a:endParaRPr sz="1800" b="0" dirty="0">
              <a:latin typeface="Meiryo"/>
              <a:ea typeface="Meiryo"/>
              <a:cs typeface="Meiryo"/>
            </a:endParaRPr>
          </a:p>
          <a:p>
            <a:pPr lvl="1">
              <a:spcAft>
                <a:spcPts val="500"/>
              </a:spcAft>
            </a:pPr>
            <a:r>
              <a:rPr sz="1600" b="0" dirty="0">
                <a:latin typeface="Meiryo"/>
                <a:ea typeface="Meiryo"/>
                <a:cs typeface="Meiryo"/>
              </a:rPr>
              <a:t>– </a:t>
            </a:r>
            <a:r>
              <a:rPr sz="1600" b="0" dirty="0" err="1">
                <a:latin typeface="Meiryo"/>
                <a:ea typeface="Meiryo"/>
                <a:cs typeface="Meiryo"/>
              </a:rPr>
              <a:t>手がかり音</a:t>
            </a:r>
            <a:r>
              <a:rPr sz="1600" b="0" dirty="0">
                <a:latin typeface="Meiryo"/>
                <a:ea typeface="Meiryo"/>
                <a:cs typeface="Meiryo"/>
              </a:rPr>
              <a:t>(cue)</a:t>
            </a:r>
            <a:r>
              <a:rPr sz="1600" b="0" dirty="0" err="1">
                <a:latin typeface="Meiryo"/>
                <a:ea typeface="Meiryo"/>
                <a:cs typeface="Meiryo"/>
              </a:rPr>
              <a:t>と「目標+妨害」の混合音声を入力し、混合音声中の目標話者の中央単語を答える</a:t>
            </a:r>
            <a:endParaRPr sz="1600" b="0" dirty="0">
              <a:latin typeface="Meiryo"/>
              <a:ea typeface="Meiryo"/>
              <a:cs typeface="Meiryo"/>
            </a:endParaRPr>
          </a:p>
          <a:p>
            <a:pPr lvl="1">
              <a:spcAft>
                <a:spcPts val="500"/>
              </a:spcAft>
            </a:pPr>
            <a:r>
              <a:rPr sz="1600" b="0" dirty="0">
                <a:latin typeface="Meiryo"/>
                <a:ea typeface="Meiryo"/>
                <a:cs typeface="Meiryo"/>
              </a:rPr>
              <a:t>– </a:t>
            </a:r>
            <a:r>
              <a:rPr sz="1600" b="0" dirty="0" err="1">
                <a:latin typeface="Meiryo"/>
                <a:ea typeface="Meiryo"/>
                <a:cs typeface="Meiryo"/>
              </a:rPr>
              <a:t>cueに導かれて目標の音色に合う特徴を増強し、それ以外を抑制することで目標を分離する</a:t>
            </a:r>
            <a:endParaRPr sz="1600" b="0" dirty="0">
              <a:latin typeface="Meiryo"/>
              <a:ea typeface="Meiryo"/>
              <a:cs typeface="Meiryo"/>
            </a:endParaRPr>
          </a:p>
          <a:p>
            <a:pPr lvl="1">
              <a:spcAft>
                <a:spcPts val="500"/>
              </a:spcAft>
            </a:pPr>
            <a:r>
              <a:rPr sz="1600" b="0" dirty="0">
                <a:latin typeface="Meiryo"/>
                <a:ea typeface="Meiryo"/>
                <a:cs typeface="Meiryo"/>
              </a:rPr>
              <a:t>– Fig 2は認識の成否を規定する要因を行動曲線で示す(</a:t>
            </a:r>
            <a:r>
              <a:rPr sz="1600" b="0" dirty="0" err="1">
                <a:latin typeface="Meiryo"/>
                <a:ea typeface="Meiryo"/>
                <a:cs typeface="Meiryo"/>
              </a:rPr>
              <a:t>SN比が高いほど正答率</a:t>
            </a:r>
            <a:r>
              <a:rPr sz="1600" b="0" dirty="0">
                <a:latin typeface="Meiryo"/>
                <a:ea typeface="Meiryo"/>
                <a:cs typeface="Meiryo"/>
              </a:rPr>
              <a:t>↑、</a:t>
            </a:r>
            <a:r>
              <a:rPr sz="1600" b="0" dirty="0" err="1">
                <a:latin typeface="Meiryo"/>
                <a:ea typeface="Meiryo"/>
                <a:cs typeface="Meiryo"/>
              </a:rPr>
              <a:t>異性妨害ほど分離しやすい</a:t>
            </a:r>
            <a:r>
              <a:rPr sz="1600" b="0" dirty="0">
                <a:latin typeface="Meiryo"/>
                <a:ea typeface="Meiryo"/>
                <a:cs typeface="Meiryo"/>
              </a:rPr>
              <a:t>)</a:t>
            </a:r>
          </a:p>
          <a:p>
            <a:pPr>
              <a:spcAft>
                <a:spcPts val="500"/>
              </a:spcAft>
            </a:pPr>
            <a:endParaRPr sz="1600" b="0" dirty="0">
              <a:solidFill>
                <a:srgbClr val="C0392B"/>
              </a:solidFill>
              <a:latin typeface="Meiryo"/>
              <a:ea typeface="Meiryo"/>
              <a:cs typeface="Meiryo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2A6CDF92-14FA-D865-DEE8-EA7A13FDF8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199" y="1162337"/>
            <a:ext cx="7772400" cy="253827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360C32E4-9610-61D4-56E0-4E8B685F650A}"/>
              </a:ext>
            </a:extLst>
          </p:cNvPr>
          <p:cNvSpPr txBox="1"/>
          <p:nvPr/>
        </p:nvSpPr>
        <p:spPr>
          <a:xfrm>
            <a:off x="494937" y="383491"/>
            <a:ext cx="609600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500" b="1" dirty="0">
                <a:solidFill>
                  <a:srgbClr val="000000"/>
                </a:solidFill>
                <a:latin typeface="Meiryo"/>
                <a:ea typeface="Meiryo"/>
                <a:cs typeface="Meiryo"/>
              </a:rPr>
              <a:t>私</a:t>
            </a:r>
            <a:r>
              <a:rPr lang="ja-JP" altLang="en-US" sz="2500" b="1">
                <a:solidFill>
                  <a:srgbClr val="000000"/>
                </a:solidFill>
                <a:latin typeface="Meiryo"/>
                <a:ea typeface="Meiryo"/>
                <a:cs typeface="Meiryo"/>
              </a:rPr>
              <a:t>が</a:t>
            </a:r>
            <a:r>
              <a:rPr lang="zh-CN" altLang="en-US" sz="2500" b="1" dirty="0">
                <a:solidFill>
                  <a:srgbClr val="000000"/>
                </a:solidFill>
                <a:latin typeface="Meiryo"/>
                <a:ea typeface="Meiryo"/>
                <a:cs typeface="Meiryo"/>
              </a:rPr>
              <a:t>何</a:t>
            </a:r>
            <a:r>
              <a:rPr lang="ja-JP" altLang="en-US" sz="2500" b="1">
                <a:solidFill>
                  <a:srgbClr val="000000"/>
                </a:solidFill>
                <a:latin typeface="Meiryo"/>
                <a:ea typeface="Meiryo"/>
                <a:cs typeface="Meiryo"/>
              </a:rPr>
              <a:t>を、どう</a:t>
            </a:r>
            <a:r>
              <a:rPr lang="zh-CN" altLang="en-US" sz="2500" b="1" dirty="0">
                <a:solidFill>
                  <a:srgbClr val="000000"/>
                </a:solidFill>
                <a:latin typeface="Meiryo"/>
                <a:ea typeface="Meiryo"/>
                <a:cs typeface="Meiryo"/>
              </a:rPr>
              <a:t>行</a:t>
            </a:r>
            <a:r>
              <a:rPr lang="ja-JP" altLang="en-US" sz="2500" b="1">
                <a:solidFill>
                  <a:srgbClr val="000000"/>
                </a:solidFill>
                <a:latin typeface="Meiryo"/>
                <a:ea typeface="Meiryo"/>
                <a:cs typeface="Meiryo"/>
              </a:rPr>
              <a:t>ったか</a:t>
            </a:r>
            <a:endParaRPr lang="zh-CN" altLang="en-US" sz="25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E2D9EE9-D443-5553-50D3-E3D9ADE03AC2}"/>
              </a:ext>
            </a:extLst>
          </p:cNvPr>
          <p:cNvSpPr txBox="1"/>
          <p:nvPr/>
        </p:nvSpPr>
        <p:spPr>
          <a:xfrm>
            <a:off x="494937" y="1547833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800" b="1" dirty="0">
                <a:solidFill>
                  <a:srgbClr val="000000"/>
                </a:solidFill>
                <a:latin typeface="Meiryo"/>
                <a:ea typeface="Meiryo"/>
                <a:cs typeface="Meiryo"/>
              </a:rPr>
              <a:t>• </a:t>
            </a:r>
            <a:r>
              <a:rPr sz="1800" b="1" dirty="0" err="1">
                <a:solidFill>
                  <a:srgbClr val="000000"/>
                </a:solidFill>
                <a:latin typeface="Meiryo"/>
                <a:ea typeface="Meiryo"/>
                <a:cs typeface="Meiryo"/>
              </a:rPr>
              <a:t>著者と同じ点</a:t>
            </a:r>
            <a:r>
              <a:rPr sz="1800" b="1" dirty="0">
                <a:solidFill>
                  <a:srgbClr val="000000"/>
                </a:solidFill>
                <a:latin typeface="Meiryo"/>
                <a:ea typeface="Meiryo"/>
                <a:cs typeface="Meiryo"/>
              </a:rPr>
              <a:t>(</a:t>
            </a:r>
            <a:r>
              <a:rPr sz="1800" b="1" dirty="0" err="1">
                <a:solidFill>
                  <a:srgbClr val="000000"/>
                </a:solidFill>
                <a:latin typeface="Meiryo"/>
                <a:ea typeface="Meiryo"/>
                <a:cs typeface="Meiryo"/>
              </a:rPr>
              <a:t>そのまま使用</a:t>
            </a:r>
            <a:r>
              <a:rPr sz="1800" b="1" dirty="0">
                <a:solidFill>
                  <a:srgbClr val="000000"/>
                </a:solidFill>
                <a:latin typeface="Meiryo"/>
                <a:ea typeface="Meiryo"/>
                <a:cs typeface="Meiryo"/>
              </a:rPr>
              <a:t>):</a:t>
            </a:r>
          </a:p>
          <a:p>
            <a:pPr lvl="1">
              <a:spcAft>
                <a:spcPts val="500"/>
              </a:spcAft>
            </a:pPr>
            <a:r>
              <a:rPr sz="1600" b="0" dirty="0">
                <a:latin typeface="Meiryo"/>
                <a:ea typeface="Meiryo"/>
                <a:cs typeface="Meiryo"/>
              </a:rPr>
              <a:t>– </a:t>
            </a:r>
            <a:r>
              <a:rPr sz="1600" b="0" dirty="0" err="1">
                <a:latin typeface="Meiryo"/>
                <a:ea typeface="Meiryo"/>
                <a:cs typeface="Meiryo"/>
              </a:rPr>
              <a:t>モデルと事前学習パラメータ</a:t>
            </a:r>
            <a:r>
              <a:rPr sz="1600" b="0" dirty="0">
                <a:latin typeface="Meiryo"/>
                <a:ea typeface="Meiryo"/>
                <a:cs typeface="Meiryo"/>
              </a:rPr>
              <a:t> / </a:t>
            </a:r>
            <a:r>
              <a:rPr sz="1600" b="0" dirty="0" err="1">
                <a:latin typeface="Meiryo"/>
                <a:ea typeface="Meiryo"/>
                <a:cs typeface="Meiryo"/>
              </a:rPr>
              <a:t>タスク定義</a:t>
            </a:r>
            <a:r>
              <a:rPr sz="1600" b="0" dirty="0">
                <a:latin typeface="Meiryo"/>
                <a:ea typeface="Meiryo"/>
                <a:cs typeface="Meiryo"/>
              </a:rPr>
              <a:t>(</a:t>
            </a:r>
            <a:r>
              <a:rPr sz="1600" b="0" dirty="0" err="1">
                <a:latin typeface="Meiryo"/>
                <a:ea typeface="Meiryo"/>
                <a:cs typeface="Meiryo"/>
              </a:rPr>
              <a:t>cue+混合→中央単語</a:t>
            </a:r>
            <a:r>
              <a:rPr sz="1600" b="0" dirty="0">
                <a:latin typeface="Meiryo"/>
                <a:ea typeface="Meiryo"/>
                <a:cs typeface="Meiryo"/>
              </a:rPr>
              <a:t>) / </a:t>
            </a:r>
            <a:r>
              <a:rPr sz="1600" b="0" dirty="0" err="1">
                <a:latin typeface="Meiryo"/>
                <a:ea typeface="Meiryo"/>
                <a:cs typeface="Meiryo"/>
              </a:rPr>
              <a:t>評価の枠組み</a:t>
            </a:r>
            <a:r>
              <a:rPr sz="1600" b="0" dirty="0">
                <a:latin typeface="Meiryo"/>
                <a:ea typeface="Meiryo"/>
                <a:cs typeface="Meiryo"/>
              </a:rPr>
              <a:t>(</a:t>
            </a:r>
            <a:r>
              <a:rPr sz="1600" b="0" dirty="0" err="1">
                <a:latin typeface="Meiryo"/>
                <a:ea typeface="Meiryo"/>
                <a:cs typeface="Meiryo"/>
              </a:rPr>
              <a:t>SN比、同性</a:t>
            </a:r>
            <a:r>
              <a:rPr sz="1600" b="0" dirty="0">
                <a:latin typeface="Meiryo"/>
                <a:ea typeface="Meiryo"/>
                <a:cs typeface="Meiryo"/>
              </a:rPr>
              <a:t>/</a:t>
            </a:r>
            <a:r>
              <a:rPr sz="1600" b="0" dirty="0" err="1">
                <a:latin typeface="Meiryo"/>
                <a:ea typeface="Meiryo"/>
                <a:cs typeface="Meiryo"/>
              </a:rPr>
              <a:t>異性</a:t>
            </a:r>
            <a:r>
              <a:rPr sz="1600" b="0" dirty="0">
                <a:latin typeface="Meiryo"/>
                <a:ea typeface="Meiryo"/>
                <a:cs typeface="Meiryo"/>
              </a:rPr>
              <a:t>) / </a:t>
            </a:r>
            <a:r>
              <a:rPr sz="1600" b="0" dirty="0" err="1">
                <a:latin typeface="Meiryo"/>
                <a:ea typeface="Meiryo"/>
                <a:cs typeface="Meiryo"/>
              </a:rPr>
              <a:t>採点規則</a:t>
            </a:r>
            <a:endParaRPr sz="1600" b="0" dirty="0">
              <a:latin typeface="Meiryo"/>
              <a:ea typeface="Meiryo"/>
              <a:cs typeface="Meiryo"/>
            </a:endParaRPr>
          </a:p>
          <a:p>
            <a:pPr>
              <a:spcAft>
                <a:spcPts val="500"/>
              </a:spcAft>
            </a:pPr>
            <a:r>
              <a:rPr sz="1800" b="1" dirty="0">
                <a:solidFill>
                  <a:srgbClr val="000000"/>
                </a:solidFill>
                <a:latin typeface="Meiryo"/>
                <a:ea typeface="Meiryo"/>
                <a:cs typeface="Meiryo"/>
              </a:rPr>
              <a:t>• </a:t>
            </a:r>
            <a:r>
              <a:rPr sz="1800" b="1" dirty="0" err="1">
                <a:solidFill>
                  <a:srgbClr val="000000"/>
                </a:solidFill>
                <a:latin typeface="Meiryo"/>
                <a:ea typeface="Meiryo"/>
                <a:cs typeface="Meiryo"/>
              </a:rPr>
              <a:t>著者と異なる点</a:t>
            </a:r>
            <a:r>
              <a:rPr sz="1800" b="1" dirty="0">
                <a:solidFill>
                  <a:srgbClr val="000000"/>
                </a:solidFill>
                <a:latin typeface="Meiryo"/>
                <a:ea typeface="Meiryo"/>
                <a:cs typeface="Meiryo"/>
              </a:rPr>
              <a:t> = </a:t>
            </a:r>
            <a:r>
              <a:rPr sz="1800" b="1" dirty="0" err="1">
                <a:solidFill>
                  <a:srgbClr val="000000"/>
                </a:solidFill>
                <a:latin typeface="Meiryo"/>
                <a:ea typeface="Meiryo"/>
                <a:cs typeface="Meiryo"/>
              </a:rPr>
              <a:t>私自身が行った作業</a:t>
            </a:r>
            <a:r>
              <a:rPr sz="1800" b="1" dirty="0">
                <a:solidFill>
                  <a:srgbClr val="000000"/>
                </a:solidFill>
                <a:latin typeface="Meiryo"/>
                <a:ea typeface="Meiryo"/>
                <a:cs typeface="Meiryo"/>
              </a:rPr>
              <a:t>:</a:t>
            </a:r>
          </a:p>
          <a:p>
            <a:pPr lvl="1">
              <a:spcAft>
                <a:spcPts val="500"/>
              </a:spcAft>
            </a:pPr>
            <a:r>
              <a:rPr sz="1600" b="0" dirty="0">
                <a:solidFill>
                  <a:srgbClr val="C0392B"/>
                </a:solidFill>
                <a:latin typeface="Meiryo"/>
                <a:ea typeface="Meiryo"/>
                <a:cs typeface="Meiryo"/>
              </a:rPr>
              <a:t>– </a:t>
            </a:r>
            <a:r>
              <a:rPr sz="1600" b="0" dirty="0" err="1">
                <a:solidFill>
                  <a:srgbClr val="C0392B"/>
                </a:solidFill>
                <a:latin typeface="Meiryo"/>
                <a:ea typeface="Meiryo"/>
                <a:cs typeface="Meiryo"/>
              </a:rPr>
              <a:t>著者の入力データ</a:t>
            </a:r>
            <a:r>
              <a:rPr sz="1600" b="0" dirty="0">
                <a:solidFill>
                  <a:srgbClr val="C0392B"/>
                </a:solidFill>
                <a:latin typeface="Meiryo"/>
                <a:ea typeface="Meiryo"/>
                <a:cs typeface="Meiryo"/>
              </a:rPr>
              <a:t>(</a:t>
            </a:r>
            <a:r>
              <a:rPr sz="1600" b="0" dirty="0" err="1">
                <a:solidFill>
                  <a:srgbClr val="C0392B"/>
                </a:solidFill>
                <a:latin typeface="Meiryo"/>
                <a:ea typeface="Meiryo"/>
                <a:cs typeface="Meiryo"/>
              </a:rPr>
              <a:t>学習・評価用の刺激</a:t>
            </a:r>
            <a:r>
              <a:rPr sz="1600" b="0" dirty="0">
                <a:solidFill>
                  <a:srgbClr val="C0392B"/>
                </a:solidFill>
                <a:latin typeface="Meiryo"/>
                <a:ea typeface="Meiryo"/>
                <a:cs typeface="Meiryo"/>
              </a:rPr>
              <a:t>)</a:t>
            </a:r>
            <a:r>
              <a:rPr sz="1600" b="0" dirty="0" err="1">
                <a:solidFill>
                  <a:srgbClr val="C0392B"/>
                </a:solidFill>
                <a:latin typeface="Meiryo"/>
                <a:ea typeface="Meiryo"/>
                <a:cs typeface="Meiryo"/>
              </a:rPr>
              <a:t>は非公開</a:t>
            </a:r>
            <a:r>
              <a:rPr sz="1600" b="0" dirty="0">
                <a:solidFill>
                  <a:srgbClr val="C0392B"/>
                </a:solidFill>
                <a:latin typeface="Meiryo"/>
                <a:ea typeface="Meiryo"/>
                <a:cs typeface="Meiryo"/>
              </a:rPr>
              <a:t> → </a:t>
            </a:r>
            <a:r>
              <a:rPr sz="1600" b="0" dirty="0" err="1">
                <a:solidFill>
                  <a:srgbClr val="C0392B"/>
                </a:solidFill>
                <a:latin typeface="Meiryo"/>
                <a:ea typeface="Meiryo"/>
                <a:cs typeface="Meiryo"/>
              </a:rPr>
              <a:t>評価セットを一から構築する必要があった</a:t>
            </a:r>
            <a:endParaRPr sz="1600" b="0" dirty="0">
              <a:solidFill>
                <a:srgbClr val="C0392B"/>
              </a:solidFill>
              <a:latin typeface="Meiryo"/>
              <a:ea typeface="Meiryo"/>
              <a:cs typeface="Meiryo"/>
            </a:endParaRPr>
          </a:p>
          <a:p>
            <a:pPr lvl="1">
              <a:spcAft>
                <a:spcPts val="500"/>
              </a:spcAft>
            </a:pPr>
            <a:r>
              <a:rPr sz="1600" b="0" dirty="0">
                <a:latin typeface="Meiryo"/>
                <a:ea typeface="Meiryo"/>
                <a:cs typeface="Meiryo"/>
              </a:rPr>
              <a:t>– ① Common Voice v9 </a:t>
            </a:r>
            <a:r>
              <a:rPr sz="1600" b="0" dirty="0" err="1">
                <a:latin typeface="Meiryo"/>
                <a:ea typeface="Meiryo"/>
                <a:cs typeface="Meiryo"/>
              </a:rPr>
              <a:t>から話者と録音を選定</a:t>
            </a:r>
            <a:r>
              <a:rPr sz="1600" b="0" dirty="0">
                <a:latin typeface="Meiryo"/>
                <a:ea typeface="Meiryo"/>
                <a:cs typeface="Meiryo"/>
              </a:rPr>
              <a:t>(</a:t>
            </a:r>
            <a:r>
              <a:rPr sz="1600" b="0" dirty="0" err="1">
                <a:latin typeface="Meiryo"/>
                <a:ea typeface="Meiryo"/>
                <a:cs typeface="Meiryo"/>
              </a:rPr>
              <a:t>性別均衡・話者分離</a:t>
            </a:r>
            <a:r>
              <a:rPr sz="1600" b="0" dirty="0">
                <a:latin typeface="Meiryo"/>
                <a:ea typeface="Meiryo"/>
                <a:cs typeface="Meiryo"/>
              </a:rPr>
              <a:t>)</a:t>
            </a:r>
          </a:p>
          <a:p>
            <a:pPr lvl="1">
              <a:spcAft>
                <a:spcPts val="500"/>
              </a:spcAft>
            </a:pPr>
            <a:r>
              <a:rPr sz="1600" b="0" dirty="0">
                <a:latin typeface="Meiryo"/>
                <a:ea typeface="Meiryo"/>
                <a:cs typeface="Meiryo"/>
              </a:rPr>
              <a:t>– ② </a:t>
            </a:r>
            <a:r>
              <a:rPr sz="1600" b="0" dirty="0" err="1">
                <a:latin typeface="Meiryo"/>
                <a:ea typeface="Meiryo"/>
                <a:cs typeface="Meiryo"/>
              </a:rPr>
              <a:t>強制アライメントで各単語の時間境界を推定</a:t>
            </a:r>
            <a:r>
              <a:rPr sz="1600" b="0" dirty="0">
                <a:latin typeface="Meiryo"/>
                <a:ea typeface="Meiryo"/>
                <a:cs typeface="Meiryo"/>
              </a:rPr>
              <a:t>(Common </a:t>
            </a:r>
            <a:r>
              <a:rPr sz="1600" b="0" dirty="0" err="1">
                <a:latin typeface="Meiryo"/>
                <a:ea typeface="Meiryo"/>
                <a:cs typeface="Meiryo"/>
              </a:rPr>
              <a:t>Voiceには無い情報</a:t>
            </a:r>
            <a:r>
              <a:rPr sz="1600" b="0" dirty="0">
                <a:latin typeface="Meiryo"/>
                <a:ea typeface="Meiryo"/>
                <a:cs typeface="Meiryo"/>
              </a:rPr>
              <a:t>)</a:t>
            </a:r>
          </a:p>
          <a:p>
            <a:pPr lvl="1">
              <a:spcAft>
                <a:spcPts val="500"/>
              </a:spcAft>
            </a:pPr>
            <a:r>
              <a:rPr sz="1600" b="0" dirty="0">
                <a:latin typeface="Meiryo"/>
                <a:ea typeface="Meiryo"/>
                <a:cs typeface="Meiryo"/>
              </a:rPr>
              <a:t>– ③ 800語彙と時間余白の条件で目標単語(</a:t>
            </a:r>
            <a:r>
              <a:rPr sz="1600" b="0" dirty="0" err="1">
                <a:latin typeface="Meiryo"/>
                <a:ea typeface="Meiryo"/>
                <a:cs typeface="Meiryo"/>
              </a:rPr>
              <a:t>アンカ</a:t>
            </a:r>
            <a:r>
              <a:rPr sz="1600" b="0" dirty="0">
                <a:latin typeface="Meiryo"/>
                <a:ea typeface="Meiryo"/>
                <a:cs typeface="Meiryo"/>
              </a:rPr>
              <a:t>ー)</a:t>
            </a:r>
            <a:r>
              <a:rPr sz="1600" b="0" dirty="0" err="1">
                <a:latin typeface="Meiryo"/>
                <a:ea typeface="Meiryo"/>
                <a:cs typeface="Meiryo"/>
              </a:rPr>
              <a:t>を選定</a:t>
            </a:r>
            <a:endParaRPr sz="1600" b="0" dirty="0">
              <a:latin typeface="Meiryo"/>
              <a:ea typeface="Meiryo"/>
              <a:cs typeface="Meiryo"/>
            </a:endParaRPr>
          </a:p>
          <a:p>
            <a:pPr lvl="1">
              <a:spcAft>
                <a:spcPts val="500"/>
              </a:spcAft>
            </a:pPr>
            <a:r>
              <a:rPr sz="1600" b="0" dirty="0">
                <a:latin typeface="Meiryo"/>
                <a:ea typeface="Meiryo"/>
                <a:cs typeface="Meiryo"/>
              </a:rPr>
              <a:t>– ④ cue/</a:t>
            </a:r>
            <a:r>
              <a:rPr sz="1600" b="0" dirty="0" err="1">
                <a:latin typeface="Meiryo"/>
                <a:ea typeface="Meiryo"/>
                <a:cs typeface="Meiryo"/>
              </a:rPr>
              <a:t>目標</a:t>
            </a:r>
            <a:r>
              <a:rPr sz="1600" b="0" dirty="0">
                <a:latin typeface="Meiryo"/>
                <a:ea typeface="Meiryo"/>
                <a:cs typeface="Meiryo"/>
              </a:rPr>
              <a:t>/妨害の三つ組を構成し、6段階SN比で混合(within-item)、</a:t>
            </a:r>
            <a:r>
              <a:rPr sz="1600" b="0" dirty="0" err="1">
                <a:latin typeface="Meiryo"/>
                <a:ea typeface="Meiryo"/>
                <a:cs typeface="Meiryo"/>
              </a:rPr>
              <a:t>RMS正規化、diotic化</a:t>
            </a:r>
            <a:endParaRPr sz="1600" b="0" dirty="0">
              <a:latin typeface="Meiryo"/>
              <a:ea typeface="Meiryo"/>
              <a:cs typeface="Meiryo"/>
            </a:endParaRPr>
          </a:p>
          <a:p>
            <a:pPr>
              <a:spcAft>
                <a:spcPts val="500"/>
              </a:spcAft>
            </a:pPr>
            <a:r>
              <a:rPr sz="1800" b="1" dirty="0">
                <a:solidFill>
                  <a:srgbClr val="C0392B"/>
                </a:solidFill>
                <a:latin typeface="Meiryo"/>
                <a:ea typeface="Meiryo"/>
                <a:cs typeface="Meiryo"/>
              </a:rPr>
              <a:t>• </a:t>
            </a:r>
            <a:r>
              <a:rPr sz="1800" b="1" dirty="0" err="1">
                <a:solidFill>
                  <a:srgbClr val="C0392B"/>
                </a:solidFill>
                <a:latin typeface="Meiryo"/>
                <a:ea typeface="Meiryo"/>
                <a:cs typeface="Meiryo"/>
              </a:rPr>
              <a:t>要点</a:t>
            </a:r>
            <a:r>
              <a:rPr sz="1800" b="1" dirty="0">
                <a:solidFill>
                  <a:srgbClr val="C0392B"/>
                </a:solidFill>
                <a:latin typeface="Meiryo"/>
                <a:ea typeface="Meiryo"/>
                <a:cs typeface="Meiryo"/>
              </a:rPr>
              <a:t>: </a:t>
            </a:r>
            <a:r>
              <a:rPr sz="1800" b="1" dirty="0" err="1">
                <a:solidFill>
                  <a:srgbClr val="C0392B"/>
                </a:solidFill>
                <a:latin typeface="Meiryo"/>
                <a:ea typeface="Meiryo"/>
                <a:cs typeface="Meiryo"/>
              </a:rPr>
              <a:t>著者のデータを流用したのではなく、著者のモデルを自作の評価セットで検証した</a:t>
            </a:r>
            <a:endParaRPr sz="1800" b="1" dirty="0">
              <a:solidFill>
                <a:srgbClr val="C0392B"/>
              </a:solidFill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p14:creationId xmlns:p14="http://schemas.microsoft.com/office/powerpoint/2010/main" val="34325545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000000"/>
                </a:solidFill>
                <a:latin typeface="Meiryo"/>
                <a:ea typeface="Meiryo"/>
                <a:cs typeface="Meiryo"/>
              </a:rPr>
              <a:t>二、データ準備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800" b="0">
                <a:latin typeface="Meiryo"/>
                <a:ea typeface="Meiryo"/>
                <a:cs typeface="Meiryo"/>
              </a:rPr>
              <a:t>• コーパス: Common Voice 9.0 英語版(論文と同一バージョン)</a:t>
            </a:r>
          </a:p>
          <a:p>
            <a:pPr lvl="1">
              <a:spcAft>
                <a:spcPts val="500"/>
              </a:spcAft>
            </a:pPr>
            <a:r>
              <a:rPr sz="1600" b="0">
                <a:latin typeface="Meiryo"/>
                <a:ea typeface="Meiryo"/>
                <a:cs typeface="Meiryo"/>
              </a:rPr>
              <a:t>– 選定: 性別ラベルが一貫し、かつ2録音以上をもつ話者 → 利用可能な 18,067名 / 971,848録音</a:t>
            </a:r>
          </a:p>
          <a:p>
            <a:pPr>
              <a:spcAft>
                <a:spcPts val="500"/>
              </a:spcAft>
            </a:pPr>
            <a:r>
              <a:rPr sz="1800" b="0">
                <a:latin typeface="Meiryo"/>
                <a:ea typeface="Meiryo"/>
                <a:cs typeface="Meiryo"/>
              </a:rPr>
              <a:t>• 目標語彙: 著者公開の800語(公式ファイルとバイト単位で一致)。モデルは800クラスの分類器</a:t>
            </a:r>
          </a:p>
          <a:p>
            <a:pPr>
              <a:spcAft>
                <a:spcPts val="500"/>
              </a:spcAft>
            </a:pPr>
            <a:r>
              <a:rPr sz="1800" b="1">
                <a:solidFill>
                  <a:srgbClr val="000000"/>
                </a:solidFill>
                <a:latin typeface="Meiryo"/>
                <a:ea typeface="Meiryo"/>
                <a:cs typeface="Meiryo"/>
              </a:rPr>
              <a:t>• 最終評価セット: 有効な目標サンプル 600件</a:t>
            </a:r>
          </a:p>
          <a:p>
            <a:pPr lvl="1">
              <a:spcAft>
                <a:spcPts val="500"/>
              </a:spcAft>
            </a:pPr>
            <a:r>
              <a:rPr sz="1600" b="0">
                <a:latin typeface="Meiryo"/>
                <a:ea typeface="Meiryo"/>
                <a:cs typeface="Meiryo"/>
              </a:rPr>
              <a:t>– 厳密に性別均衡: 男性300 / 女性300</a:t>
            </a:r>
          </a:p>
          <a:p>
            <a:pPr lvl="1">
              <a:spcAft>
                <a:spcPts val="500"/>
              </a:spcAft>
            </a:pPr>
            <a:r>
              <a:rPr sz="1600" b="0">
                <a:latin typeface="Meiryo"/>
                <a:ea typeface="Meiryo"/>
                <a:cs typeface="Meiryo"/>
              </a:rPr>
              <a:t>– 149名の話者・347録音に由来し、369種の異なる目標単語を含む</a:t>
            </a:r>
          </a:p>
          <a:p>
            <a:pPr lvl="1">
              <a:spcAft>
                <a:spcPts val="500"/>
              </a:spcAft>
            </a:pPr>
            <a:r>
              <a:rPr sz="1600" b="0">
                <a:latin typeface="Meiryo"/>
                <a:ea typeface="Meiryo"/>
                <a:cs typeface="Meiryo"/>
              </a:rPr>
              <a:t>– 600サンプルにより、6段階のSN比それぞれで推定が安定(二項標準誤差 約±2%)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2428870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 dirty="0" err="1">
                <a:solidFill>
                  <a:srgbClr val="000000"/>
                </a:solidFill>
                <a:latin typeface="Meiryo"/>
                <a:ea typeface="Meiryo"/>
                <a:cs typeface="Meiryo"/>
              </a:rPr>
              <a:t>三、手法</a:t>
            </a:r>
            <a:r>
              <a:rPr lang="zh-CN" altLang="en-US" sz="2500" b="1" dirty="0">
                <a:solidFill>
                  <a:srgbClr val="000000"/>
                </a:solidFill>
                <a:latin typeface="Meiryo"/>
                <a:ea typeface="Meiryo"/>
                <a:cs typeface="Meiryo"/>
              </a:rPr>
              <a:t>フロー</a:t>
            </a:r>
            <a:endParaRPr sz="2500" b="1" dirty="0">
              <a:solidFill>
                <a:srgbClr val="000000"/>
              </a:solidFill>
              <a:latin typeface="Meiryo"/>
              <a:ea typeface="Meiryo"/>
              <a:cs typeface="Meiryo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92232" y="173736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800" b="1" dirty="0">
                <a:solidFill>
                  <a:srgbClr val="000000"/>
                </a:solidFill>
                <a:latin typeface="Meiryo"/>
                <a:ea typeface="Meiryo"/>
                <a:cs typeface="Meiryo"/>
              </a:rPr>
              <a:t>• </a:t>
            </a:r>
            <a:r>
              <a:rPr sz="1800" b="1" dirty="0" err="1">
                <a:solidFill>
                  <a:srgbClr val="000000"/>
                </a:solidFill>
                <a:latin typeface="Meiryo"/>
                <a:ea typeface="Meiryo"/>
                <a:cs typeface="Meiryo"/>
              </a:rPr>
              <a:t>原音声</a:t>
            </a:r>
            <a:r>
              <a:rPr sz="1800" b="1" dirty="0">
                <a:solidFill>
                  <a:srgbClr val="000000"/>
                </a:solidFill>
                <a:latin typeface="Meiryo"/>
                <a:ea typeface="Meiryo"/>
                <a:cs typeface="Meiryo"/>
              </a:rPr>
              <a:t> → </a:t>
            </a:r>
            <a:r>
              <a:rPr sz="1800" b="1" dirty="0" err="1">
                <a:solidFill>
                  <a:srgbClr val="000000"/>
                </a:solidFill>
                <a:latin typeface="Meiryo"/>
                <a:ea typeface="Meiryo"/>
                <a:cs typeface="Meiryo"/>
              </a:rPr>
              <a:t>強制アライメント</a:t>
            </a:r>
            <a:r>
              <a:rPr sz="1800" b="1" dirty="0">
                <a:solidFill>
                  <a:srgbClr val="000000"/>
                </a:solidFill>
                <a:latin typeface="Meiryo"/>
                <a:ea typeface="Meiryo"/>
                <a:cs typeface="Meiryo"/>
              </a:rPr>
              <a:t> → </a:t>
            </a:r>
            <a:r>
              <a:rPr sz="1800" b="1" dirty="0" err="1">
                <a:solidFill>
                  <a:srgbClr val="000000"/>
                </a:solidFill>
                <a:latin typeface="Meiryo"/>
                <a:ea typeface="Meiryo"/>
                <a:cs typeface="Meiryo"/>
              </a:rPr>
              <a:t>テキスト正規化</a:t>
            </a:r>
            <a:r>
              <a:rPr sz="1800" b="1" dirty="0">
                <a:solidFill>
                  <a:srgbClr val="000000"/>
                </a:solidFill>
                <a:latin typeface="Meiryo"/>
                <a:ea typeface="Meiryo"/>
                <a:cs typeface="Meiryo"/>
              </a:rPr>
              <a:t> → </a:t>
            </a:r>
            <a:r>
              <a:rPr sz="1800" b="1" dirty="0" err="1">
                <a:solidFill>
                  <a:srgbClr val="000000"/>
                </a:solidFill>
                <a:latin typeface="Meiryo"/>
                <a:ea typeface="Meiryo"/>
                <a:cs typeface="Meiryo"/>
              </a:rPr>
              <a:t>アンカー選定</a:t>
            </a:r>
            <a:r>
              <a:rPr sz="1800" b="1" dirty="0">
                <a:solidFill>
                  <a:srgbClr val="000000"/>
                </a:solidFill>
                <a:latin typeface="Meiryo"/>
                <a:ea typeface="Meiryo"/>
                <a:cs typeface="Meiryo"/>
              </a:rPr>
              <a:t> → </a:t>
            </a:r>
            <a:r>
              <a:rPr sz="1800" b="1" dirty="0" err="1">
                <a:solidFill>
                  <a:srgbClr val="000000"/>
                </a:solidFill>
                <a:latin typeface="Meiryo"/>
                <a:ea typeface="Meiryo"/>
                <a:cs typeface="Meiryo"/>
              </a:rPr>
              <a:t>切り出し・混合</a:t>
            </a:r>
            <a:r>
              <a:rPr sz="1800" b="1" dirty="0">
                <a:solidFill>
                  <a:srgbClr val="000000"/>
                </a:solidFill>
                <a:latin typeface="Meiryo"/>
                <a:ea typeface="Meiryo"/>
                <a:cs typeface="Meiryo"/>
              </a:rPr>
              <a:t> → </a:t>
            </a:r>
            <a:r>
              <a:rPr sz="1800" b="1" dirty="0" err="1">
                <a:solidFill>
                  <a:srgbClr val="000000"/>
                </a:solidFill>
                <a:latin typeface="Meiryo"/>
                <a:ea typeface="Meiryo"/>
                <a:cs typeface="Meiryo"/>
              </a:rPr>
              <a:t>モデル入力</a:t>
            </a:r>
            <a:r>
              <a:rPr sz="1800" b="1" dirty="0">
                <a:solidFill>
                  <a:srgbClr val="000000"/>
                </a:solidFill>
                <a:latin typeface="Meiryo"/>
                <a:ea typeface="Meiryo"/>
                <a:cs typeface="Meiryo"/>
              </a:rPr>
              <a:t> → </a:t>
            </a:r>
            <a:r>
              <a:rPr sz="1800" b="1" dirty="0" err="1">
                <a:solidFill>
                  <a:srgbClr val="000000"/>
                </a:solidFill>
                <a:latin typeface="Meiryo"/>
                <a:ea typeface="Meiryo"/>
                <a:cs typeface="Meiryo"/>
              </a:rPr>
              <a:t>採点</a:t>
            </a:r>
            <a:endParaRPr sz="1800" b="1" dirty="0">
              <a:solidFill>
                <a:srgbClr val="000000"/>
              </a:solidFill>
              <a:latin typeface="Meiryo"/>
              <a:ea typeface="Meiryo"/>
              <a:cs typeface="Meiryo"/>
            </a:endParaRPr>
          </a:p>
          <a:p>
            <a:pPr>
              <a:spcAft>
                <a:spcPts val="500"/>
              </a:spcAft>
            </a:pPr>
            <a:r>
              <a:rPr sz="1800" b="0" dirty="0">
                <a:latin typeface="Meiryo"/>
                <a:ea typeface="Meiryo"/>
                <a:cs typeface="Meiryo"/>
              </a:rPr>
              <a:t>• 1. </a:t>
            </a:r>
            <a:r>
              <a:rPr sz="1800" b="0" dirty="0" err="1">
                <a:latin typeface="Meiryo"/>
                <a:ea typeface="Meiryo"/>
                <a:cs typeface="Meiryo"/>
              </a:rPr>
              <a:t>強制アライメント</a:t>
            </a:r>
            <a:r>
              <a:rPr sz="1800" b="0" dirty="0">
                <a:latin typeface="Meiryo"/>
                <a:ea typeface="Meiryo"/>
                <a:cs typeface="Meiryo"/>
              </a:rPr>
              <a:t>(MMS_FA, 16 kHz): </a:t>
            </a:r>
            <a:r>
              <a:rPr sz="1800" b="0" dirty="0" err="1">
                <a:latin typeface="Meiryo"/>
                <a:ea typeface="Meiryo"/>
                <a:cs typeface="Meiryo"/>
              </a:rPr>
              <a:t>各単語の時間境界を取得</a:t>
            </a:r>
            <a:r>
              <a:rPr sz="1800" b="0" dirty="0">
                <a:latin typeface="Meiryo"/>
                <a:ea typeface="Meiryo"/>
                <a:cs typeface="Meiryo"/>
              </a:rPr>
              <a:t>(</a:t>
            </a:r>
            <a:r>
              <a:rPr sz="1800" b="0" dirty="0" err="1">
                <a:latin typeface="Meiryo"/>
                <a:ea typeface="Meiryo"/>
                <a:cs typeface="Meiryo"/>
              </a:rPr>
              <a:t>CVは文単位の書き起こしのみで、単語の時刻をもたない</a:t>
            </a:r>
            <a:r>
              <a:rPr sz="1800" b="0" dirty="0">
                <a:latin typeface="Meiryo"/>
                <a:ea typeface="Meiryo"/>
                <a:cs typeface="Meiryo"/>
              </a:rPr>
              <a:t>)</a:t>
            </a:r>
          </a:p>
          <a:p>
            <a:pPr>
              <a:spcAft>
                <a:spcPts val="500"/>
              </a:spcAft>
            </a:pPr>
            <a:r>
              <a:rPr sz="1800" b="0" dirty="0">
                <a:latin typeface="Meiryo"/>
                <a:ea typeface="Meiryo"/>
                <a:cs typeface="Meiryo"/>
              </a:rPr>
              <a:t>• 2. </a:t>
            </a:r>
            <a:r>
              <a:rPr sz="1800" b="0" dirty="0" err="1">
                <a:latin typeface="Meiryo"/>
                <a:ea typeface="Meiryo"/>
                <a:cs typeface="Meiryo"/>
              </a:rPr>
              <a:t>テキスト正規化</a:t>
            </a:r>
            <a:r>
              <a:rPr sz="1800" b="0" dirty="0">
                <a:latin typeface="Meiryo"/>
                <a:ea typeface="Meiryo"/>
                <a:cs typeface="Meiryo"/>
              </a:rPr>
              <a:t>: </a:t>
            </a:r>
            <a:r>
              <a:rPr sz="1800" b="0" dirty="0" err="1">
                <a:latin typeface="Meiryo"/>
                <a:ea typeface="Meiryo"/>
                <a:cs typeface="Meiryo"/>
              </a:rPr>
              <a:t>論文のconvert_transcriptに準拠</a:t>
            </a:r>
            <a:r>
              <a:rPr sz="1800" b="0" dirty="0">
                <a:latin typeface="Meiryo"/>
                <a:ea typeface="Meiryo"/>
                <a:cs typeface="Meiryo"/>
              </a:rPr>
              <a:t>(</a:t>
            </a:r>
            <a:r>
              <a:rPr sz="1800" b="0" dirty="0" err="1">
                <a:latin typeface="Meiryo"/>
                <a:ea typeface="Meiryo"/>
                <a:cs typeface="Meiryo"/>
              </a:rPr>
              <a:t>小文字化・記号除去・数字の単語化</a:t>
            </a:r>
            <a:r>
              <a:rPr sz="1800" b="0" dirty="0">
                <a:latin typeface="Meiryo"/>
                <a:ea typeface="Meiryo"/>
                <a:cs typeface="Meiryo"/>
              </a:rPr>
              <a:t>)</a:t>
            </a:r>
          </a:p>
          <a:p>
            <a:pPr>
              <a:spcAft>
                <a:spcPts val="500"/>
              </a:spcAft>
            </a:pPr>
            <a:r>
              <a:rPr sz="1800" b="0" dirty="0">
                <a:latin typeface="Meiryo"/>
                <a:ea typeface="Meiryo"/>
                <a:cs typeface="Meiryo"/>
              </a:rPr>
              <a:t>• 3. </a:t>
            </a:r>
            <a:r>
              <a:rPr sz="1800" b="0" dirty="0" err="1">
                <a:latin typeface="Meiryo"/>
                <a:ea typeface="Meiryo"/>
                <a:cs typeface="Meiryo"/>
              </a:rPr>
              <a:t>アンカ</a:t>
            </a:r>
            <a:r>
              <a:rPr sz="1800" b="0" dirty="0">
                <a:latin typeface="Meiryo"/>
                <a:ea typeface="Meiryo"/>
                <a:cs typeface="Meiryo"/>
              </a:rPr>
              <a:t>ー(</a:t>
            </a:r>
            <a:r>
              <a:rPr sz="1800" b="0" dirty="0" err="1">
                <a:latin typeface="Meiryo"/>
                <a:ea typeface="Meiryo"/>
                <a:cs typeface="Meiryo"/>
              </a:rPr>
              <a:t>中央単語</a:t>
            </a:r>
            <a:r>
              <a:rPr sz="1800" b="0" dirty="0">
                <a:latin typeface="Meiryo"/>
                <a:ea typeface="Meiryo"/>
                <a:cs typeface="Meiryo"/>
              </a:rPr>
              <a:t>)</a:t>
            </a:r>
            <a:r>
              <a:rPr sz="1800" b="0" dirty="0" err="1">
                <a:latin typeface="Meiryo"/>
                <a:ea typeface="Meiryo"/>
                <a:cs typeface="Meiryo"/>
              </a:rPr>
              <a:t>選定</a:t>
            </a:r>
            <a:r>
              <a:rPr sz="1800" b="0" dirty="0">
                <a:latin typeface="Meiryo"/>
                <a:ea typeface="Meiryo"/>
                <a:cs typeface="Meiryo"/>
              </a:rPr>
              <a:t>: </a:t>
            </a:r>
            <a:r>
              <a:rPr sz="1800" b="0" dirty="0" err="1">
                <a:latin typeface="Meiryo"/>
                <a:ea typeface="Meiryo"/>
                <a:cs typeface="Meiryo"/>
              </a:rPr>
              <a:t>目標単語を中心とする。条件</a:t>
            </a:r>
            <a:r>
              <a:rPr sz="1800" b="0" dirty="0">
                <a:latin typeface="Meiryo"/>
                <a:ea typeface="Meiryo"/>
                <a:cs typeface="Meiryo"/>
              </a:rPr>
              <a:t>=</a:t>
            </a:r>
            <a:r>
              <a:rPr sz="1800" b="0" dirty="0" err="1">
                <a:latin typeface="Meiryo"/>
                <a:ea typeface="Meiryo"/>
                <a:cs typeface="Meiryo"/>
              </a:rPr>
              <a:t>語彙内、単語長</a:t>
            </a:r>
            <a:r>
              <a:rPr sz="1800" b="0" dirty="0">
                <a:latin typeface="Meiryo"/>
                <a:ea typeface="Meiryo"/>
                <a:cs typeface="Meiryo"/>
              </a:rPr>
              <a:t>&lt;2s、前後に各1.25s以上の余白</a:t>
            </a:r>
          </a:p>
          <a:p>
            <a:pPr>
              <a:spcAft>
                <a:spcPts val="500"/>
              </a:spcAft>
            </a:pPr>
            <a:r>
              <a:rPr sz="1800" b="0" dirty="0">
                <a:latin typeface="Meiryo"/>
                <a:ea typeface="Meiryo"/>
                <a:cs typeface="Meiryo"/>
              </a:rPr>
              <a:t>• 4. </a:t>
            </a:r>
            <a:r>
              <a:rPr sz="1800" b="0" dirty="0" err="1">
                <a:latin typeface="Meiryo"/>
                <a:ea typeface="Meiryo"/>
                <a:cs typeface="Meiryo"/>
              </a:rPr>
              <a:t>切り出し・混合</a:t>
            </a:r>
            <a:r>
              <a:rPr sz="1800" b="0" dirty="0">
                <a:latin typeface="Meiryo"/>
                <a:ea typeface="Meiryo"/>
                <a:cs typeface="Meiryo"/>
              </a:rPr>
              <a:t>: 各2.5s@44.1kHz(モデルは内部で中央2sを使用)。within-itemで6段階のSN比に再混合</a:t>
            </a:r>
          </a:p>
          <a:p>
            <a:pPr lvl="1">
              <a:spcAft>
                <a:spcPts val="500"/>
              </a:spcAft>
            </a:pPr>
            <a:r>
              <a:rPr sz="1600" b="0" dirty="0">
                <a:latin typeface="Meiryo"/>
                <a:ea typeface="Meiryo"/>
                <a:cs typeface="Meiryo"/>
              </a:rPr>
              <a:t>– </a:t>
            </a:r>
            <a:r>
              <a:rPr sz="1600" b="0" dirty="0" err="1">
                <a:latin typeface="Meiryo"/>
                <a:ea typeface="Meiryo"/>
                <a:cs typeface="Meiryo"/>
              </a:rPr>
              <a:t>SN比</a:t>
            </a:r>
            <a:r>
              <a:rPr sz="1600" b="0" dirty="0">
                <a:latin typeface="Meiryo"/>
                <a:ea typeface="Meiryo"/>
                <a:cs typeface="Meiryo"/>
              </a:rPr>
              <a:t>: -9/-6/-3/0/+3/+inf </a:t>
            </a:r>
            <a:r>
              <a:rPr sz="1600" b="0" dirty="0" err="1">
                <a:latin typeface="Meiryo"/>
                <a:ea typeface="Meiryo"/>
                <a:cs typeface="Meiryo"/>
              </a:rPr>
              <a:t>dB。目標のエネルギーに合わせ妨害を調整</a:t>
            </a:r>
            <a:r>
              <a:rPr sz="1600" b="0" dirty="0">
                <a:latin typeface="Meiryo"/>
                <a:ea typeface="Meiryo"/>
                <a:cs typeface="Meiryo"/>
              </a:rPr>
              <a:t>。+inf=</a:t>
            </a:r>
            <a:r>
              <a:rPr sz="1600" b="0" dirty="0" err="1">
                <a:latin typeface="Meiryo"/>
                <a:ea typeface="Meiryo"/>
                <a:cs typeface="Meiryo"/>
              </a:rPr>
              <a:t>妨害なし。RMS</a:t>
            </a:r>
            <a:r>
              <a:rPr sz="1600" b="0" dirty="0">
                <a:latin typeface="Meiryo"/>
                <a:ea typeface="Meiryo"/>
                <a:cs typeface="Meiryo"/>
              </a:rPr>
              <a:t> 0.02に正規化。diotic(</a:t>
            </a:r>
            <a:r>
              <a:rPr sz="1600" b="0" dirty="0" err="1">
                <a:latin typeface="Meiryo"/>
                <a:ea typeface="Meiryo"/>
                <a:cs typeface="Meiryo"/>
              </a:rPr>
              <a:t>両耳同一</a:t>
            </a:r>
            <a:r>
              <a:rPr sz="1600" b="0" dirty="0">
                <a:latin typeface="Meiryo"/>
                <a:ea typeface="Meiryo"/>
                <a:cs typeface="Meiryo"/>
              </a:rPr>
              <a:t>)</a:t>
            </a:r>
          </a:p>
          <a:p>
            <a:pPr>
              <a:spcAft>
                <a:spcPts val="500"/>
              </a:spcAft>
            </a:pPr>
            <a:r>
              <a:rPr sz="1800" b="0" dirty="0">
                <a:latin typeface="Meiryo"/>
                <a:ea typeface="Meiryo"/>
                <a:cs typeface="Meiryo"/>
              </a:rPr>
              <a:t>• 5. </a:t>
            </a:r>
            <a:r>
              <a:rPr sz="1800" b="0" dirty="0" err="1">
                <a:latin typeface="Meiryo"/>
                <a:ea typeface="Meiryo"/>
                <a:cs typeface="Meiryo"/>
              </a:rPr>
              <a:t>著者の事前学習チェックポイント</a:t>
            </a:r>
            <a:r>
              <a:rPr sz="1800" b="0" dirty="0">
                <a:latin typeface="Meiryo"/>
                <a:ea typeface="Meiryo"/>
                <a:cs typeface="Meiryo"/>
              </a:rPr>
              <a:t>(word_task_v10)</a:t>
            </a:r>
            <a:r>
              <a:rPr sz="1800" b="0" dirty="0" err="1">
                <a:latin typeface="Meiryo"/>
                <a:ea typeface="Meiryo"/>
                <a:cs typeface="Meiryo"/>
              </a:rPr>
              <a:t>でそのまま推論。再学習・微調整は行わない</a:t>
            </a:r>
            <a:endParaRPr sz="1800" b="0" dirty="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3070071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 dirty="0" err="1">
                <a:solidFill>
                  <a:srgbClr val="000000"/>
                </a:solidFill>
                <a:latin typeface="Meiryo"/>
                <a:ea typeface="Meiryo"/>
                <a:cs typeface="Meiryo"/>
              </a:rPr>
              <a:t>三、なぜそうしたか</a:t>
            </a:r>
            <a:endParaRPr sz="2500" b="1" dirty="0">
              <a:solidFill>
                <a:srgbClr val="000000"/>
              </a:solidFill>
              <a:latin typeface="Meiryo"/>
              <a:ea typeface="Meiryo"/>
              <a:cs typeface="Meiryo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800" b="1" dirty="0">
                <a:solidFill>
                  <a:srgbClr val="000000"/>
                </a:solidFill>
                <a:latin typeface="Meiryo"/>
                <a:ea typeface="Meiryo"/>
                <a:cs typeface="Meiryo"/>
              </a:rPr>
              <a:t>• ① </a:t>
            </a:r>
            <a:r>
              <a:rPr sz="1800" b="1" dirty="0" err="1">
                <a:solidFill>
                  <a:srgbClr val="000000"/>
                </a:solidFill>
                <a:latin typeface="Meiryo"/>
                <a:ea typeface="Meiryo"/>
                <a:cs typeface="Meiryo"/>
              </a:rPr>
              <a:t>テキスト正規化でアポストロフィを保持する</a:t>
            </a:r>
            <a:endParaRPr sz="1800" b="1" dirty="0">
              <a:solidFill>
                <a:srgbClr val="000000"/>
              </a:solidFill>
              <a:latin typeface="Meiryo"/>
              <a:ea typeface="Meiryo"/>
              <a:cs typeface="Meiryo"/>
            </a:endParaRPr>
          </a:p>
          <a:p>
            <a:pPr lvl="1">
              <a:spcAft>
                <a:spcPts val="500"/>
              </a:spcAft>
            </a:pPr>
            <a:r>
              <a:rPr sz="1600" b="0" dirty="0">
                <a:latin typeface="Meiryo"/>
                <a:ea typeface="Meiryo"/>
                <a:cs typeface="Meiryo"/>
              </a:rPr>
              <a:t>– 論文の公開コードはアポストロフィを削除するが、800語彙には16個の短縮形(can't/don't </a:t>
            </a:r>
            <a:r>
              <a:rPr sz="1600" b="0" dirty="0" err="1">
                <a:latin typeface="Meiryo"/>
                <a:ea typeface="Meiryo"/>
                <a:cs typeface="Meiryo"/>
              </a:rPr>
              <a:t>等</a:t>
            </a:r>
            <a:r>
              <a:rPr sz="1600" b="0" dirty="0">
                <a:latin typeface="Meiryo"/>
                <a:ea typeface="Meiryo"/>
                <a:cs typeface="Meiryo"/>
              </a:rPr>
              <a:t>)</a:t>
            </a:r>
            <a:r>
              <a:rPr sz="1600" b="0" dirty="0" err="1">
                <a:latin typeface="Meiryo"/>
                <a:ea typeface="Meiryo"/>
                <a:cs typeface="Meiryo"/>
              </a:rPr>
              <a:t>が含まれ、削除すると照合に失敗する</a:t>
            </a:r>
            <a:endParaRPr sz="1600" b="0" dirty="0">
              <a:latin typeface="Meiryo"/>
              <a:ea typeface="Meiryo"/>
              <a:cs typeface="Meiryo"/>
            </a:endParaRPr>
          </a:p>
          <a:p>
            <a:pPr>
              <a:spcAft>
                <a:spcPts val="500"/>
              </a:spcAft>
            </a:pPr>
            <a:r>
              <a:rPr sz="1800" b="1" dirty="0">
                <a:solidFill>
                  <a:srgbClr val="000000"/>
                </a:solidFill>
                <a:latin typeface="Meiryo"/>
                <a:ea typeface="Meiryo"/>
                <a:cs typeface="Meiryo"/>
              </a:rPr>
              <a:t>• ② </a:t>
            </a:r>
            <a:r>
              <a:rPr sz="1800" b="1" dirty="0" err="1">
                <a:solidFill>
                  <a:srgbClr val="000000"/>
                </a:solidFill>
                <a:latin typeface="Meiryo"/>
                <a:ea typeface="Meiryo"/>
                <a:cs typeface="Meiryo"/>
              </a:rPr>
              <a:t>録音の中点の単語ではなく、目標単語を中心に切り出す</a:t>
            </a:r>
            <a:endParaRPr sz="1800" b="1" dirty="0">
              <a:solidFill>
                <a:srgbClr val="000000"/>
              </a:solidFill>
              <a:latin typeface="Meiryo"/>
              <a:ea typeface="Meiryo"/>
              <a:cs typeface="Meiryo"/>
            </a:endParaRPr>
          </a:p>
          <a:p>
            <a:pPr lvl="1">
              <a:spcAft>
                <a:spcPts val="500"/>
              </a:spcAft>
            </a:pPr>
            <a:r>
              <a:rPr sz="1600" b="0" dirty="0">
                <a:latin typeface="Meiryo"/>
                <a:ea typeface="Meiryo"/>
                <a:cs typeface="Meiryo"/>
              </a:rPr>
              <a:t>– </a:t>
            </a:r>
            <a:r>
              <a:rPr sz="1600" b="0" dirty="0" err="1">
                <a:latin typeface="Meiryo"/>
                <a:ea typeface="Meiryo"/>
                <a:cs typeface="Meiryo"/>
              </a:rPr>
              <a:t>論文のソースコードで確認</a:t>
            </a:r>
            <a:r>
              <a:rPr sz="1600" b="0" dirty="0">
                <a:latin typeface="Meiryo"/>
                <a:ea typeface="Meiryo"/>
                <a:cs typeface="Meiryo"/>
              </a:rPr>
              <a:t>: </a:t>
            </a:r>
            <a:r>
              <a:rPr sz="1600" b="0" dirty="0" err="1">
                <a:latin typeface="Meiryo"/>
                <a:ea typeface="Meiryo"/>
                <a:cs typeface="Meiryo"/>
              </a:rPr>
              <a:t>まず目標単語を選び、それを中心に切り出す</a:t>
            </a:r>
            <a:r>
              <a:rPr sz="1600" b="0" dirty="0">
                <a:latin typeface="Meiryo"/>
                <a:ea typeface="Meiryo"/>
                <a:cs typeface="Meiryo"/>
              </a:rPr>
              <a:t>(</a:t>
            </a:r>
            <a:r>
              <a:rPr sz="1600" b="0" dirty="0" err="1">
                <a:latin typeface="Meiryo"/>
                <a:ea typeface="Meiryo"/>
                <a:cs typeface="Meiryo"/>
              </a:rPr>
              <a:t>先に切り出して中点の単語を見るのではない</a:t>
            </a:r>
            <a:r>
              <a:rPr sz="1600" b="0" dirty="0">
                <a:latin typeface="Meiryo"/>
                <a:ea typeface="Meiryo"/>
                <a:cs typeface="Meiryo"/>
              </a:rPr>
              <a:t>)</a:t>
            </a:r>
          </a:p>
          <a:p>
            <a:pPr>
              <a:spcAft>
                <a:spcPts val="500"/>
              </a:spcAft>
            </a:pPr>
            <a:r>
              <a:rPr sz="1800" b="1" dirty="0">
                <a:solidFill>
                  <a:srgbClr val="000000"/>
                </a:solidFill>
                <a:latin typeface="Meiryo"/>
                <a:ea typeface="Meiryo"/>
                <a:cs typeface="Meiryo"/>
              </a:rPr>
              <a:t>• ③ </a:t>
            </a:r>
            <a:r>
              <a:rPr sz="1800" b="1" dirty="0" err="1">
                <a:solidFill>
                  <a:srgbClr val="000000"/>
                </a:solidFill>
                <a:latin typeface="Meiryo"/>
                <a:ea typeface="Meiryo"/>
                <a:cs typeface="Meiryo"/>
              </a:rPr>
              <a:t>アンカー優先のペアリング</a:t>
            </a:r>
            <a:r>
              <a:rPr sz="1800" b="1" dirty="0">
                <a:solidFill>
                  <a:srgbClr val="000000"/>
                </a:solidFill>
                <a:latin typeface="Meiryo"/>
                <a:ea typeface="Meiryo"/>
                <a:cs typeface="Meiryo"/>
              </a:rPr>
              <a:t>(</a:t>
            </a:r>
            <a:r>
              <a:rPr sz="1800" b="1" dirty="0" err="1">
                <a:solidFill>
                  <a:srgbClr val="000000"/>
                </a:solidFill>
                <a:latin typeface="Meiryo"/>
                <a:ea typeface="Meiryo"/>
                <a:cs typeface="Meiryo"/>
              </a:rPr>
              <a:t>先にアライメント、後にペアリング</a:t>
            </a:r>
            <a:r>
              <a:rPr sz="1800" b="1" dirty="0">
                <a:solidFill>
                  <a:srgbClr val="000000"/>
                </a:solidFill>
                <a:latin typeface="Meiryo"/>
                <a:ea typeface="Meiryo"/>
                <a:cs typeface="Meiryo"/>
              </a:rPr>
              <a:t>)</a:t>
            </a:r>
          </a:p>
          <a:p>
            <a:pPr lvl="1">
              <a:spcAft>
                <a:spcPts val="500"/>
              </a:spcAft>
            </a:pPr>
            <a:r>
              <a:rPr sz="1600" b="0" dirty="0">
                <a:latin typeface="Meiryo"/>
                <a:ea typeface="Meiryo"/>
                <a:cs typeface="Meiryo"/>
              </a:rPr>
              <a:t>– </a:t>
            </a:r>
            <a:r>
              <a:rPr sz="1600" b="0" dirty="0" err="1">
                <a:latin typeface="Meiryo"/>
                <a:ea typeface="Meiryo"/>
                <a:cs typeface="Meiryo"/>
              </a:rPr>
              <a:t>目標候補のみを整列し、アンカーをもつ録音を採用</a:t>
            </a:r>
            <a:r>
              <a:rPr sz="1600" b="0" dirty="0">
                <a:latin typeface="Meiryo"/>
                <a:ea typeface="Meiryo"/>
                <a:cs typeface="Meiryo"/>
              </a:rPr>
              <a:t>: 627録音から600サンプル(96%)。旧手法の22%を大きく上回る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7303602" cy="4462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 b="1" dirty="0" err="1">
                <a:solidFill>
                  <a:srgbClr val="000000"/>
                </a:solidFill>
                <a:latin typeface="Meiryo"/>
                <a:ea typeface="Meiryo"/>
                <a:cs typeface="Meiryo"/>
              </a:rPr>
              <a:t>四、音声サンプル</a:t>
            </a:r>
            <a:r>
              <a:rPr sz="2300" b="1" dirty="0">
                <a:solidFill>
                  <a:srgbClr val="000000"/>
                </a:solidFill>
                <a:latin typeface="Meiryo"/>
                <a:ea typeface="Meiryo"/>
                <a:cs typeface="Meiryo"/>
              </a:rPr>
              <a:t> —— </a:t>
            </a:r>
            <a:r>
              <a:rPr sz="2300" b="1" dirty="0" err="1">
                <a:solidFill>
                  <a:srgbClr val="000000"/>
                </a:solidFill>
                <a:latin typeface="Meiryo"/>
                <a:ea typeface="Meiryo"/>
                <a:cs typeface="Meiryo"/>
              </a:rPr>
              <a:t>SN比ラダ</a:t>
            </a:r>
            <a:r>
              <a:rPr sz="2300" b="1" dirty="0">
                <a:solidFill>
                  <a:srgbClr val="000000"/>
                </a:solidFill>
                <a:latin typeface="Meiryo"/>
                <a:ea typeface="Meiryo"/>
                <a:cs typeface="Meiryo"/>
              </a:rPr>
              <a:t>ー(</a:t>
            </a:r>
            <a:r>
              <a:rPr sz="2300" b="1" dirty="0" err="1">
                <a:solidFill>
                  <a:srgbClr val="000000"/>
                </a:solidFill>
                <a:latin typeface="Meiryo"/>
                <a:ea typeface="Meiryo"/>
                <a:cs typeface="Meiryo"/>
              </a:rPr>
              <a:t>クリックで再生</a:t>
            </a:r>
            <a:r>
              <a:rPr sz="2300" b="1" dirty="0">
                <a:solidFill>
                  <a:srgbClr val="000000"/>
                </a:solidFill>
                <a:latin typeface="Meiryo"/>
                <a:ea typeface="Meiryo"/>
                <a:cs typeface="Meiryo"/>
              </a:rPr>
              <a:t>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515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55555"/>
                </a:solidFill>
                <a:latin typeface="Meiryo"/>
                <a:ea typeface="Meiryo"/>
                <a:cs typeface="Meiryo"/>
              </a:rPr>
              <a:t>同一刺激(目標単語「around」)を6段階のSN比で混合。-9dBから妨害なしへ進むと、妨害話者が徐々に消え目標が明瞭になる。</a:t>
            </a:r>
          </a:p>
        </p:txBody>
      </p:sp>
      <p:pic>
        <p:nvPicPr>
          <p:cNvPr id="4" name="mix_-9dB.wav">
            <a:hlinkClick r:id="" action="ppaction://media"/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/>
          <a:stretch>
            <a:fillRect/>
          </a:stretch>
        </p:blipFill>
        <p:spPr>
          <a:xfrm>
            <a:off x="914400" y="2286000"/>
            <a:ext cx="914400" cy="914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321868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00000"/>
                </a:solidFill>
                <a:latin typeface="Meiryo"/>
                <a:ea typeface="Meiryo"/>
                <a:cs typeface="Meiryo"/>
              </a:rPr>
              <a:t>-9 dB</a:t>
            </a:r>
          </a:p>
        </p:txBody>
      </p:sp>
      <p:pic>
        <p:nvPicPr>
          <p:cNvPr id="6" name="mix_-6dB.wav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/>
              </p:ext>
            </p:extLst>
          </p:nvPr>
        </p:nvPicPr>
        <p:blipFill>
          <a:blip/>
          <a:stretch>
            <a:fillRect/>
          </a:stretch>
        </p:blipFill>
        <p:spPr>
          <a:xfrm>
            <a:off x="2743200" y="2286000"/>
            <a:ext cx="914400" cy="914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286000" y="321868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00000"/>
                </a:solidFill>
                <a:latin typeface="Meiryo"/>
                <a:ea typeface="Meiryo"/>
                <a:cs typeface="Meiryo"/>
              </a:rPr>
              <a:t>-6 dB</a:t>
            </a:r>
          </a:p>
        </p:txBody>
      </p:sp>
      <p:pic>
        <p:nvPicPr>
          <p:cNvPr id="8" name="mix_-3dB.wav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/>
              </p:ext>
            </p:extLst>
          </p:nvPr>
        </p:nvPicPr>
        <p:blipFill>
          <a:blip/>
          <a:stretch>
            <a:fillRect/>
          </a:stretch>
        </p:blipFill>
        <p:spPr>
          <a:xfrm>
            <a:off x="4572000" y="2286000"/>
            <a:ext cx="914400" cy="9144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114800" y="321868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00000"/>
                </a:solidFill>
                <a:latin typeface="Meiryo"/>
                <a:ea typeface="Meiryo"/>
                <a:cs typeface="Meiryo"/>
              </a:rPr>
              <a:t>-3 dB</a:t>
            </a:r>
          </a:p>
        </p:txBody>
      </p:sp>
      <p:pic>
        <p:nvPicPr>
          <p:cNvPr id="10" name="mix_+0dB.wav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/>
              </p:ext>
            </p:extLst>
          </p:nvPr>
        </p:nvPicPr>
        <p:blipFill>
          <a:blip/>
          <a:stretch>
            <a:fillRect/>
          </a:stretch>
        </p:blipFill>
        <p:spPr>
          <a:xfrm>
            <a:off x="6400800" y="2286000"/>
            <a:ext cx="914400" cy="9144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943600" y="321868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00000"/>
                </a:solidFill>
                <a:latin typeface="Meiryo"/>
                <a:ea typeface="Meiryo"/>
                <a:cs typeface="Meiryo"/>
              </a:rPr>
              <a:t>0 dB</a:t>
            </a:r>
          </a:p>
        </p:txBody>
      </p:sp>
      <p:pic>
        <p:nvPicPr>
          <p:cNvPr id="12" name="mix_+3dB.wav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/>
              </p:ext>
            </p:extLst>
          </p:nvPr>
        </p:nvPicPr>
        <p:blipFill>
          <a:blip/>
          <a:stretch>
            <a:fillRect/>
          </a:stretch>
        </p:blipFill>
        <p:spPr>
          <a:xfrm>
            <a:off x="8229600" y="2286000"/>
            <a:ext cx="914400" cy="9144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772400" y="321868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00000"/>
                </a:solidFill>
                <a:latin typeface="Meiryo"/>
                <a:ea typeface="Meiryo"/>
                <a:cs typeface="Meiryo"/>
              </a:rPr>
              <a:t>+3 dB</a:t>
            </a:r>
          </a:p>
        </p:txBody>
      </p:sp>
      <p:pic>
        <p:nvPicPr>
          <p:cNvPr id="14" name="mix_inf.wav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/>
              </p:ext>
            </p:extLst>
          </p:nvPr>
        </p:nvPicPr>
        <p:blipFill>
          <a:blip/>
          <a:stretch>
            <a:fillRect/>
          </a:stretch>
        </p:blipFill>
        <p:spPr>
          <a:xfrm>
            <a:off x="10058400" y="2286000"/>
            <a:ext cx="914400" cy="9144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9601200" y="321868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00000"/>
                </a:solidFill>
                <a:latin typeface="Meiryo"/>
                <a:ea typeface="Meiryo"/>
                <a:cs typeface="Meiryo"/>
              </a:rPr>
              <a:t>+inf(妨害なし)</a:t>
            </a:r>
          </a:p>
        </p:txBody>
      </p:sp>
      <p:pic>
        <p:nvPicPr>
          <p:cNvPr id="16" name="cue.wav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/>
              </p:ext>
            </p:extLst>
          </p:nvPr>
        </p:nvPicPr>
        <p:blipFill>
          <a:blip/>
          <a:stretch>
            <a:fillRect/>
          </a:stretch>
        </p:blipFill>
        <p:spPr>
          <a:xfrm>
            <a:off x="2743200" y="4572000"/>
            <a:ext cx="914400" cy="9144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2286000" y="550468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00000"/>
                </a:solidFill>
                <a:latin typeface="Meiryo"/>
                <a:ea typeface="Meiryo"/>
                <a:cs typeface="Meiryo"/>
              </a:rPr>
              <a:t>cue</a:t>
            </a:r>
          </a:p>
        </p:txBody>
      </p:sp>
      <p:pic>
        <p:nvPicPr>
          <p:cNvPr id="18" name="target_clean.wav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/>
              </p:ext>
            </p:extLst>
          </p:nvPr>
        </p:nvPicPr>
        <p:blipFill>
          <a:blip/>
          <a:stretch>
            <a:fillRect/>
          </a:stretch>
        </p:blipFill>
        <p:spPr>
          <a:xfrm>
            <a:off x="7315200" y="4572000"/>
            <a:ext cx="914400" cy="9144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858000" y="550468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00000"/>
                </a:solidFill>
                <a:latin typeface="Meiryo"/>
                <a:ea typeface="Meiryo"/>
                <a:cs typeface="Meiryo"/>
              </a:rPr>
              <a:t>目標のみ(参照)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audi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audio>
            <p:audio>
              <p:cMediaNode vol="80000">
                <p:cTn id="3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audio>
            <p:audio>
              <p:cMediaNode vol="80000">
                <p:cTn id="4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audio>
            <p:audio>
              <p:cMediaNode vol="80000">
                <p:cTn id="5" fill="hold" display="0">
                  <p:stCondLst>
                    <p:cond delay="indefinite"/>
                  </p:stCondLst>
                </p:cTn>
                <p:tgtEl>
                  <p:spTgt spid="10"/>
                </p:tgtEl>
              </p:cMediaNode>
            </p:audio>
            <p:audio>
              <p:cMediaNode vol="80000">
                <p:cTn id="6" fill="hold" display="0">
                  <p:stCondLst>
                    <p:cond delay="indefinite"/>
                  </p:stCondLst>
                </p:cTn>
                <p:tgtEl>
                  <p:spTgt spid="12"/>
                </p:tgtEl>
              </p:cMediaNode>
            </p:audio>
            <p:audi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4"/>
                </p:tgtEl>
              </p:cMediaNode>
            </p:audio>
            <p:audio>
              <p:cMediaNode vol="80000">
                <p:cTn id="8" fill="hold" display="0">
                  <p:stCondLst>
                    <p:cond delay="indefinite"/>
                  </p:stCondLst>
                </p:cTn>
                <p:tgtEl>
                  <p:spTgt spid="16"/>
                </p:tgtEl>
              </p:cMediaNode>
            </p:audio>
            <p:audio>
              <p:cMediaNode vol="80000">
                <p:cTn id="9" fill="hold" display="0">
                  <p:stCondLst>
                    <p:cond delay="indefinite"/>
                  </p:stCondLst>
                </p:cTn>
                <p:tgtEl>
                  <p:spTgt spid="18"/>
                </p:tgtEl>
              </p:cMediaNode>
            </p:audi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 b="1" dirty="0" err="1">
                <a:solidFill>
                  <a:srgbClr val="000000"/>
                </a:solidFill>
                <a:latin typeface="Meiryo"/>
                <a:ea typeface="Meiryo"/>
                <a:cs typeface="Meiryo"/>
              </a:rPr>
              <a:t>四、結果</a:t>
            </a:r>
            <a:r>
              <a:rPr sz="2300" b="1" dirty="0">
                <a:solidFill>
                  <a:srgbClr val="000000"/>
                </a:solidFill>
                <a:latin typeface="Meiryo"/>
                <a:ea typeface="Meiryo"/>
                <a:cs typeface="Meiryo"/>
              </a:rPr>
              <a:t>: Fig 2b </a:t>
            </a:r>
            <a:r>
              <a:rPr sz="2300" b="1" dirty="0" err="1">
                <a:solidFill>
                  <a:srgbClr val="000000"/>
                </a:solidFill>
                <a:latin typeface="Meiryo"/>
                <a:ea typeface="Meiryo"/>
                <a:cs typeface="Meiryo"/>
              </a:rPr>
              <a:t>再現</a:t>
            </a:r>
            <a:r>
              <a:rPr sz="2300" b="1" dirty="0">
                <a:solidFill>
                  <a:srgbClr val="000000"/>
                </a:solidFill>
                <a:latin typeface="Meiryo"/>
                <a:ea typeface="Meiryo"/>
                <a:cs typeface="Meiryo"/>
              </a:rPr>
              <a:t> —— </a:t>
            </a:r>
            <a:r>
              <a:rPr sz="2300" b="1" dirty="0" err="1">
                <a:solidFill>
                  <a:srgbClr val="000000"/>
                </a:solidFill>
                <a:latin typeface="Meiryo"/>
                <a:ea typeface="Meiryo"/>
                <a:cs typeface="Meiryo"/>
              </a:rPr>
              <a:t>同性</a:t>
            </a:r>
            <a:r>
              <a:rPr sz="2300" b="1" dirty="0">
                <a:solidFill>
                  <a:srgbClr val="000000"/>
                </a:solidFill>
                <a:latin typeface="Meiryo"/>
                <a:ea typeface="Meiryo"/>
                <a:cs typeface="Meiryo"/>
              </a:rPr>
              <a:t> vs </a:t>
            </a:r>
            <a:r>
              <a:rPr sz="2300" b="1" dirty="0" err="1">
                <a:solidFill>
                  <a:srgbClr val="000000"/>
                </a:solidFill>
                <a:latin typeface="Meiryo"/>
                <a:ea typeface="Meiryo"/>
                <a:cs typeface="Meiryo"/>
              </a:rPr>
              <a:t>異性妨害</a:t>
            </a:r>
            <a:endParaRPr sz="2300" b="1" dirty="0">
              <a:solidFill>
                <a:srgbClr val="000000"/>
              </a:solidFill>
              <a:latin typeface="Meiryo"/>
              <a:ea typeface="Meiryo"/>
              <a:cs typeface="Meiryo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223760" y="1943100"/>
            <a:ext cx="46634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 dirty="0">
                <a:solidFill>
                  <a:srgbClr val="000000"/>
                </a:solidFill>
                <a:latin typeface="Meiryo"/>
                <a:ea typeface="Meiryo"/>
                <a:cs typeface="Meiryo"/>
              </a:rPr>
              <a:t>2本の線(</a:t>
            </a:r>
            <a:r>
              <a:rPr sz="1400" b="0" dirty="0" err="1">
                <a:solidFill>
                  <a:srgbClr val="000000"/>
                </a:solidFill>
                <a:latin typeface="Meiryo"/>
                <a:ea typeface="Meiryo"/>
                <a:cs typeface="Meiryo"/>
              </a:rPr>
              <a:t>同性</a:t>
            </a:r>
            <a:r>
              <a:rPr sz="1400" b="0" dirty="0">
                <a:solidFill>
                  <a:srgbClr val="000000"/>
                </a:solidFill>
                <a:latin typeface="Meiryo"/>
                <a:ea typeface="Meiryo"/>
                <a:cs typeface="Meiryo"/>
              </a:rPr>
              <a:t>/</a:t>
            </a:r>
            <a:r>
              <a:rPr sz="1400" b="0" dirty="0" err="1">
                <a:solidFill>
                  <a:srgbClr val="000000"/>
                </a:solidFill>
                <a:latin typeface="Meiryo"/>
                <a:ea typeface="Meiryo"/>
                <a:cs typeface="Meiryo"/>
              </a:rPr>
              <a:t>異性</a:t>
            </a:r>
            <a:r>
              <a:rPr sz="1400" b="0" dirty="0">
                <a:solidFill>
                  <a:srgbClr val="000000"/>
                </a:solidFill>
                <a:latin typeface="Meiryo"/>
                <a:ea typeface="Meiryo"/>
                <a:cs typeface="Meiryo"/>
              </a:rPr>
              <a:t>): </a:t>
            </a:r>
            <a:r>
              <a:rPr sz="1400" b="0" dirty="0" err="1">
                <a:solidFill>
                  <a:srgbClr val="000000"/>
                </a:solidFill>
                <a:latin typeface="Meiryo"/>
                <a:ea typeface="Meiryo"/>
                <a:cs typeface="Meiryo"/>
              </a:rPr>
              <a:t>中央単語認識の正答率</a:t>
            </a:r>
            <a:r>
              <a:rPr sz="1400" b="0" dirty="0">
                <a:solidFill>
                  <a:srgbClr val="000000"/>
                </a:solidFill>
                <a:latin typeface="Meiryo"/>
                <a:ea typeface="Meiryo"/>
                <a:cs typeface="Meiryo"/>
              </a:rPr>
              <a:t> vs </a:t>
            </a:r>
            <a:r>
              <a:rPr sz="1400" b="0" dirty="0" err="1">
                <a:solidFill>
                  <a:srgbClr val="000000"/>
                </a:solidFill>
                <a:latin typeface="Meiryo"/>
                <a:ea typeface="Meiryo"/>
                <a:cs typeface="Meiryo"/>
              </a:rPr>
              <a:t>SN比</a:t>
            </a:r>
            <a:endParaRPr sz="1400" b="0" dirty="0">
              <a:solidFill>
                <a:srgbClr val="000000"/>
              </a:solidFill>
              <a:latin typeface="Meiryo"/>
              <a:ea typeface="Meiryo"/>
              <a:cs typeface="Meiryo"/>
            </a:endParaRPr>
          </a:p>
          <a:p>
            <a:pPr>
              <a:spcAft>
                <a:spcPts val="800"/>
              </a:spcAft>
            </a:pPr>
            <a:r>
              <a:rPr sz="1400" b="0" dirty="0" err="1">
                <a:solidFill>
                  <a:srgbClr val="C0392B"/>
                </a:solidFill>
                <a:latin typeface="Meiryo"/>
                <a:ea typeface="Meiryo"/>
                <a:cs typeface="Meiryo"/>
              </a:rPr>
              <a:t>再現された傾向</a:t>
            </a:r>
            <a:r>
              <a:rPr sz="1400" b="0" dirty="0">
                <a:solidFill>
                  <a:srgbClr val="C0392B"/>
                </a:solidFill>
                <a:latin typeface="Meiryo"/>
                <a:ea typeface="Meiryo"/>
                <a:cs typeface="Meiryo"/>
              </a:rPr>
              <a:t>(</a:t>
            </a:r>
            <a:r>
              <a:rPr sz="1400" b="0" dirty="0" err="1">
                <a:solidFill>
                  <a:srgbClr val="C0392B"/>
                </a:solidFill>
                <a:latin typeface="Meiryo"/>
                <a:ea typeface="Meiryo"/>
                <a:cs typeface="Meiryo"/>
              </a:rPr>
              <a:t>論文と一致</a:t>
            </a:r>
            <a:r>
              <a:rPr sz="1400" b="0" dirty="0">
                <a:solidFill>
                  <a:srgbClr val="C0392B"/>
                </a:solidFill>
                <a:latin typeface="Meiryo"/>
                <a:ea typeface="Meiryo"/>
                <a:cs typeface="Meiryo"/>
              </a:rPr>
              <a:t>):</a:t>
            </a:r>
          </a:p>
          <a:p>
            <a:pPr>
              <a:spcAft>
                <a:spcPts val="800"/>
              </a:spcAft>
            </a:pPr>
            <a:r>
              <a:rPr sz="1400" b="0" dirty="0">
                <a:solidFill>
                  <a:srgbClr val="555555"/>
                </a:solidFill>
                <a:latin typeface="Meiryo"/>
                <a:ea typeface="Meiryo"/>
                <a:cs typeface="Meiryo"/>
              </a:rPr>
              <a:t>① </a:t>
            </a:r>
            <a:r>
              <a:rPr sz="1400" b="0" dirty="0" err="1">
                <a:solidFill>
                  <a:srgbClr val="555555"/>
                </a:solidFill>
                <a:latin typeface="Meiryo"/>
                <a:ea typeface="Meiryo"/>
                <a:cs typeface="Meiryo"/>
              </a:rPr>
              <a:t>SN比とともに正答率が単調に増加</a:t>
            </a:r>
            <a:r>
              <a:rPr sz="1400" b="0" dirty="0">
                <a:solidFill>
                  <a:srgbClr val="555555"/>
                </a:solidFill>
                <a:latin typeface="Meiryo"/>
                <a:ea typeface="Meiryo"/>
                <a:cs typeface="Meiryo"/>
              </a:rPr>
              <a:t>(</a:t>
            </a:r>
            <a:r>
              <a:rPr sz="1400" b="0" dirty="0" err="1">
                <a:solidFill>
                  <a:srgbClr val="555555"/>
                </a:solidFill>
                <a:latin typeface="Meiryo"/>
                <a:ea typeface="Meiryo"/>
                <a:cs typeface="Meiryo"/>
              </a:rPr>
              <a:t>妨害が弱いほど正答率</a:t>
            </a:r>
            <a:r>
              <a:rPr sz="1400" b="0" dirty="0">
                <a:solidFill>
                  <a:srgbClr val="555555"/>
                </a:solidFill>
                <a:latin typeface="Meiryo"/>
                <a:ea typeface="Meiryo"/>
                <a:cs typeface="Meiryo"/>
              </a:rPr>
              <a:t>↑)</a:t>
            </a:r>
          </a:p>
          <a:p>
            <a:pPr>
              <a:spcAft>
                <a:spcPts val="800"/>
              </a:spcAft>
            </a:pPr>
            <a:r>
              <a:rPr sz="1400" b="0" dirty="0">
                <a:solidFill>
                  <a:srgbClr val="555555"/>
                </a:solidFill>
                <a:latin typeface="Meiryo"/>
                <a:ea typeface="Meiryo"/>
                <a:cs typeface="Meiryo"/>
              </a:rPr>
              <a:t>② </a:t>
            </a:r>
            <a:r>
              <a:rPr sz="1400" b="0" dirty="0" err="1">
                <a:solidFill>
                  <a:srgbClr val="555555"/>
                </a:solidFill>
                <a:latin typeface="Meiryo"/>
                <a:ea typeface="Meiryo"/>
                <a:cs typeface="Meiryo"/>
              </a:rPr>
              <a:t>異性妨害が全体的に同性より高い</a:t>
            </a:r>
            <a:r>
              <a:rPr sz="1400" b="0" dirty="0">
                <a:solidFill>
                  <a:srgbClr val="555555"/>
                </a:solidFill>
                <a:latin typeface="Meiryo"/>
                <a:ea typeface="Meiryo"/>
                <a:cs typeface="Meiryo"/>
              </a:rPr>
              <a:t>(9~18ポイント)</a:t>
            </a:r>
          </a:p>
          <a:p>
            <a:pPr>
              <a:spcAft>
                <a:spcPts val="800"/>
              </a:spcAft>
            </a:pPr>
            <a:r>
              <a:rPr sz="1400" b="0" dirty="0">
                <a:solidFill>
                  <a:srgbClr val="555555"/>
                </a:solidFill>
                <a:latin typeface="Meiryo"/>
                <a:ea typeface="Meiryo"/>
                <a:cs typeface="Meiryo"/>
              </a:rPr>
              <a:t>③ +inf(</a:t>
            </a:r>
            <a:r>
              <a:rPr sz="1400" b="0" dirty="0" err="1">
                <a:solidFill>
                  <a:srgbClr val="555555"/>
                </a:solidFill>
                <a:latin typeface="Meiryo"/>
                <a:ea typeface="Meiryo"/>
                <a:cs typeface="Meiryo"/>
              </a:rPr>
              <a:t>妨害なし</a:t>
            </a:r>
            <a:r>
              <a:rPr sz="1400" b="0" dirty="0">
                <a:solidFill>
                  <a:srgbClr val="555555"/>
                </a:solidFill>
                <a:latin typeface="Meiryo"/>
                <a:ea typeface="Meiryo"/>
                <a:cs typeface="Meiryo"/>
              </a:rPr>
              <a:t>)で2本の線が約88%に収束: </a:t>
            </a:r>
            <a:r>
              <a:rPr sz="1400" b="0" dirty="0" err="1">
                <a:solidFill>
                  <a:srgbClr val="555555"/>
                </a:solidFill>
                <a:latin typeface="Meiryo"/>
                <a:ea typeface="Meiryo"/>
                <a:cs typeface="Meiryo"/>
              </a:rPr>
              <a:t>妨害がなければ性別は無関係</a:t>
            </a:r>
            <a:endParaRPr sz="1400" b="0" dirty="0">
              <a:solidFill>
                <a:srgbClr val="555555"/>
              </a:solidFill>
              <a:latin typeface="Meiryo"/>
              <a:ea typeface="Meiryo"/>
              <a:cs typeface="Meiryo"/>
            </a:endParaRPr>
          </a:p>
          <a:p>
            <a:pPr>
              <a:spcAft>
                <a:spcPts val="800"/>
              </a:spcAft>
            </a:pPr>
            <a:r>
              <a:rPr sz="1400" b="0" dirty="0" err="1">
                <a:solidFill>
                  <a:srgbClr val="000000"/>
                </a:solidFill>
                <a:latin typeface="Meiryo"/>
                <a:ea typeface="Meiryo"/>
                <a:cs typeface="Meiryo"/>
              </a:rPr>
              <a:t>異性</a:t>
            </a:r>
            <a:r>
              <a:rPr sz="1400" b="0" dirty="0">
                <a:solidFill>
                  <a:srgbClr val="000000"/>
                </a:solidFill>
                <a:latin typeface="Meiryo"/>
                <a:ea typeface="Meiryo"/>
                <a:cs typeface="Meiryo"/>
              </a:rPr>
              <a:t>&gt;</a:t>
            </a:r>
            <a:r>
              <a:rPr sz="1400" b="0" dirty="0" err="1">
                <a:solidFill>
                  <a:srgbClr val="000000"/>
                </a:solidFill>
                <a:latin typeface="Meiryo"/>
                <a:ea typeface="Meiryo"/>
                <a:cs typeface="Meiryo"/>
              </a:rPr>
              <a:t>同性は安定</a:t>
            </a:r>
            <a:r>
              <a:rPr sz="1400" b="0" dirty="0">
                <a:solidFill>
                  <a:srgbClr val="000000"/>
                </a:solidFill>
                <a:latin typeface="Meiryo"/>
                <a:ea typeface="Meiryo"/>
                <a:cs typeface="Meiryo"/>
              </a:rPr>
              <a:t>: 妨害ありの5段階すべてでエラーバーが非重複(3.4~6.8σ)</a:t>
            </a:r>
          </a:p>
          <a:p>
            <a:pPr>
              <a:spcAft>
                <a:spcPts val="800"/>
              </a:spcAft>
            </a:pPr>
            <a:r>
              <a:rPr sz="1400" b="0" dirty="0" err="1">
                <a:solidFill>
                  <a:srgbClr val="555555"/>
                </a:solidFill>
                <a:latin typeface="Meiryo"/>
                <a:ea typeface="Meiryo"/>
                <a:cs typeface="Meiryo"/>
              </a:rPr>
              <a:t>エラーバ</a:t>
            </a:r>
            <a:r>
              <a:rPr sz="1400" b="0" dirty="0">
                <a:solidFill>
                  <a:srgbClr val="555555"/>
                </a:solidFill>
                <a:latin typeface="Meiryo"/>
                <a:ea typeface="Meiryo"/>
                <a:cs typeface="Meiryo"/>
              </a:rPr>
              <a:t>ー = ±1 SEM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ACFD2E3-7362-0841-60B5-914A2CCC20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2985" y="1943100"/>
            <a:ext cx="3057735" cy="3067827"/>
          </a:xfrm>
          <a:prstGeom prst="rect">
            <a:avLst/>
          </a:prstGeom>
        </p:spPr>
      </p:pic>
      <p:pic>
        <p:nvPicPr>
          <p:cNvPr id="7" name="图片 6" descr="图表, 折线图&#10;&#10;AI 生成的内容可能不正确。">
            <a:extLst>
              <a:ext uri="{FF2B5EF4-FFF2-40B4-BE49-F238E27FC236}">
                <a16:creationId xmlns:a16="http://schemas.microsoft.com/office/drawing/2014/main" id="{8B4B646B-3313-E6DC-4446-489EAFC060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6394" y="1943100"/>
            <a:ext cx="3443551" cy="280900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3305713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 dirty="0" err="1">
                <a:solidFill>
                  <a:srgbClr val="000000"/>
                </a:solidFill>
                <a:latin typeface="Meiryo"/>
                <a:ea typeface="Meiryo"/>
                <a:cs typeface="Meiryo"/>
              </a:rPr>
              <a:t>結果</a:t>
            </a:r>
            <a:r>
              <a:rPr sz="2500" b="1" dirty="0">
                <a:solidFill>
                  <a:srgbClr val="000000"/>
                </a:solidFill>
                <a:latin typeface="Meiryo"/>
                <a:ea typeface="Meiryo"/>
                <a:cs typeface="Meiryo"/>
              </a:rPr>
              <a:t>: </a:t>
            </a:r>
            <a:r>
              <a:rPr sz="2500" b="1" dirty="0" err="1">
                <a:solidFill>
                  <a:srgbClr val="000000"/>
                </a:solidFill>
                <a:latin typeface="Meiryo"/>
                <a:ea typeface="Meiryo"/>
                <a:cs typeface="Meiryo"/>
              </a:rPr>
              <a:t>モデルの有効性</a:t>
            </a:r>
            <a:endParaRPr sz="2500" b="1" dirty="0">
              <a:solidFill>
                <a:srgbClr val="000000"/>
              </a:solidFill>
              <a:latin typeface="Meiryo"/>
              <a:ea typeface="Meiryo"/>
              <a:cs typeface="Meiryo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800" b="0">
                <a:latin typeface="Meiryo"/>
                <a:ea typeface="Meiryo"/>
                <a:cs typeface="Meiryo"/>
              </a:rPr>
              <a:t>• clean条件(目標のみ・妨害なし)における中央単語認識の正答率:</a:t>
            </a:r>
          </a:p>
          <a:p>
            <a:pPr>
              <a:spcAft>
                <a:spcPts val="500"/>
              </a:spcAft>
            </a:pPr>
            <a:r>
              <a:rPr sz="1800" b="1">
                <a:solidFill>
                  <a:srgbClr val="000000"/>
                </a:solidFill>
                <a:latin typeface="Meiryo"/>
                <a:ea typeface="Meiryo"/>
                <a:cs typeface="Meiryo"/>
              </a:rPr>
              <a:t>• 88.6%   (偶然水準はわずか0.1% = 1/800)</a:t>
            </a:r>
          </a:p>
          <a:p>
            <a:pPr lvl="1">
              <a:spcAft>
                <a:spcPts val="500"/>
              </a:spcAft>
            </a:pPr>
            <a:r>
              <a:rPr sz="1600" b="0">
                <a:latin typeface="Meiryo"/>
                <a:ea typeface="Meiryo"/>
                <a:cs typeface="Meiryo"/>
              </a:rPr>
              <a:t>– 600サンプルの+inf条件でも88.0%となり、これを裏付ける</a:t>
            </a:r>
          </a:p>
          <a:p>
            <a:pPr>
              <a:spcAft>
                <a:spcPts val="500"/>
              </a:spcAft>
            </a:pPr>
            <a:r>
              <a:rPr sz="1800" b="1">
                <a:solidFill>
                  <a:srgbClr val="C0392B"/>
                </a:solidFill>
                <a:latin typeface="Meiryo"/>
                <a:ea typeface="Meiryo"/>
                <a:cs typeface="Meiryo"/>
              </a:rPr>
              <a:t>• → モデルは目標の中央単語を確かに認識でき、偶然水準を大きく上回る</a:t>
            </a:r>
          </a:p>
          <a:p>
            <a:pPr lvl="1">
              <a:spcAft>
                <a:spcPts val="500"/>
              </a:spcAft>
            </a:pPr>
            <a:r>
              <a:rPr sz="1600" b="0">
                <a:solidFill>
                  <a:srgbClr val="555555"/>
                </a:solidFill>
                <a:latin typeface="Meiryo"/>
                <a:ea typeface="Meiryo"/>
                <a:cs typeface="Meiryo"/>
              </a:rPr>
              <a:t>– これが以降の傾向実験すべての前提となる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000000"/>
                </a:solidFill>
                <a:latin typeface="Meiryo"/>
                <a:ea typeface="Meiryo"/>
                <a:cs typeface="Meiryo"/>
              </a:rPr>
              <a:t>四(補)、本発表の2つの問いへの回答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698480" cy="19184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800" b="1" dirty="0">
                <a:solidFill>
                  <a:srgbClr val="000000"/>
                </a:solidFill>
                <a:latin typeface="Meiryo"/>
                <a:ea typeface="Meiryo"/>
                <a:cs typeface="Meiryo"/>
              </a:rPr>
              <a:t>• </a:t>
            </a:r>
            <a:r>
              <a:rPr sz="1800" b="1" dirty="0" err="1">
                <a:solidFill>
                  <a:srgbClr val="000000"/>
                </a:solidFill>
                <a:latin typeface="Meiryo"/>
                <a:ea typeface="Meiryo"/>
                <a:cs typeface="Meiryo"/>
              </a:rPr>
              <a:t>問い</a:t>
            </a:r>
            <a:r>
              <a:rPr sz="1800" b="1" dirty="0">
                <a:solidFill>
                  <a:srgbClr val="000000"/>
                </a:solidFill>
                <a:latin typeface="Meiryo"/>
                <a:ea typeface="Meiryo"/>
                <a:cs typeface="Meiryo"/>
              </a:rPr>
              <a:t>①: </a:t>
            </a:r>
            <a:r>
              <a:rPr sz="1800" b="1" dirty="0" err="1">
                <a:solidFill>
                  <a:srgbClr val="000000"/>
                </a:solidFill>
                <a:latin typeface="Meiryo"/>
                <a:ea typeface="Meiryo"/>
                <a:cs typeface="Meiryo"/>
              </a:rPr>
              <a:t>モデルは目標話者の中央単語を認識できるか</a:t>
            </a:r>
            <a:r>
              <a:rPr sz="1800" b="1" dirty="0">
                <a:solidFill>
                  <a:srgbClr val="000000"/>
                </a:solidFill>
                <a:latin typeface="Meiryo"/>
                <a:ea typeface="Meiryo"/>
                <a:cs typeface="Meiryo"/>
              </a:rPr>
              <a:t>?</a:t>
            </a:r>
          </a:p>
          <a:p>
            <a:pPr lvl="1">
              <a:spcAft>
                <a:spcPts val="500"/>
              </a:spcAft>
            </a:pPr>
            <a:r>
              <a:rPr sz="1600" b="0" dirty="0">
                <a:latin typeface="Meiryo"/>
                <a:ea typeface="Meiryo"/>
                <a:cs typeface="Meiryo"/>
              </a:rPr>
              <a:t>– → できる。clean条件で88.6%(偶然0.1%)。</a:t>
            </a:r>
            <a:r>
              <a:rPr sz="1600" b="0" dirty="0" err="1">
                <a:latin typeface="Meiryo"/>
                <a:ea typeface="Meiryo"/>
                <a:cs typeface="Meiryo"/>
              </a:rPr>
              <a:t>混合音声下でも</a:t>
            </a:r>
            <a:r>
              <a:rPr sz="1600" b="0" dirty="0">
                <a:latin typeface="Meiryo"/>
                <a:ea typeface="Meiryo"/>
                <a:cs typeface="Meiryo"/>
              </a:rPr>
              <a:t> -9dBの26% 〜 +infの88% </a:t>
            </a:r>
            <a:r>
              <a:rPr sz="1600" b="0" dirty="0" err="1">
                <a:latin typeface="Meiryo"/>
                <a:ea typeface="Meiryo"/>
                <a:cs typeface="Meiryo"/>
              </a:rPr>
              <a:t>まで一貫して機能する</a:t>
            </a:r>
            <a:endParaRPr sz="1600" b="0" dirty="0">
              <a:latin typeface="Meiryo"/>
              <a:ea typeface="Meiryo"/>
              <a:cs typeface="Meiryo"/>
            </a:endParaRPr>
          </a:p>
          <a:p>
            <a:pPr>
              <a:spcAft>
                <a:spcPts val="500"/>
              </a:spcAft>
            </a:pPr>
            <a:r>
              <a:rPr sz="1800" b="1" dirty="0">
                <a:solidFill>
                  <a:srgbClr val="000000"/>
                </a:solidFill>
                <a:latin typeface="Meiryo"/>
                <a:ea typeface="Meiryo"/>
                <a:cs typeface="Meiryo"/>
              </a:rPr>
              <a:t>• </a:t>
            </a:r>
            <a:r>
              <a:rPr sz="1800" b="1" dirty="0" err="1">
                <a:solidFill>
                  <a:srgbClr val="000000"/>
                </a:solidFill>
                <a:latin typeface="Meiryo"/>
                <a:ea typeface="Meiryo"/>
                <a:cs typeface="Meiryo"/>
              </a:rPr>
              <a:t>問い</a:t>
            </a:r>
            <a:r>
              <a:rPr sz="1800" b="1" dirty="0">
                <a:solidFill>
                  <a:srgbClr val="000000"/>
                </a:solidFill>
                <a:latin typeface="Meiryo"/>
                <a:ea typeface="Meiryo"/>
                <a:cs typeface="Meiryo"/>
              </a:rPr>
              <a:t>②: </a:t>
            </a:r>
            <a:r>
              <a:rPr sz="1800" b="1" dirty="0" err="1">
                <a:solidFill>
                  <a:srgbClr val="000000"/>
                </a:solidFill>
                <a:latin typeface="Meiryo"/>
                <a:ea typeface="Meiryo"/>
                <a:cs typeface="Meiryo"/>
              </a:rPr>
              <a:t>正答率の傾向</a:t>
            </a:r>
            <a:r>
              <a:rPr sz="1800" b="1" dirty="0">
                <a:solidFill>
                  <a:srgbClr val="000000"/>
                </a:solidFill>
                <a:latin typeface="Meiryo"/>
                <a:ea typeface="Meiryo"/>
                <a:cs typeface="Meiryo"/>
              </a:rPr>
              <a:t>(</a:t>
            </a:r>
            <a:r>
              <a:rPr sz="1800" b="1" dirty="0" err="1">
                <a:solidFill>
                  <a:srgbClr val="000000"/>
                </a:solidFill>
                <a:latin typeface="Meiryo"/>
                <a:ea typeface="Meiryo"/>
                <a:cs typeface="Meiryo"/>
              </a:rPr>
              <a:t>SN比・妨害の性別</a:t>
            </a:r>
            <a:r>
              <a:rPr sz="1800" b="1" dirty="0">
                <a:solidFill>
                  <a:srgbClr val="000000"/>
                </a:solidFill>
                <a:latin typeface="Meiryo"/>
                <a:ea typeface="Meiryo"/>
                <a:cs typeface="Meiryo"/>
              </a:rPr>
              <a:t>)</a:t>
            </a:r>
            <a:r>
              <a:rPr sz="1800" b="1" dirty="0" err="1">
                <a:solidFill>
                  <a:srgbClr val="000000"/>
                </a:solidFill>
                <a:latin typeface="Meiryo"/>
                <a:ea typeface="Meiryo"/>
                <a:cs typeface="Meiryo"/>
              </a:rPr>
              <a:t>は論文と一致するか</a:t>
            </a:r>
            <a:r>
              <a:rPr sz="1800" b="1" dirty="0">
                <a:solidFill>
                  <a:srgbClr val="000000"/>
                </a:solidFill>
                <a:latin typeface="Meiryo"/>
                <a:ea typeface="Meiryo"/>
                <a:cs typeface="Meiryo"/>
              </a:rPr>
              <a:t>?</a:t>
            </a:r>
          </a:p>
          <a:p>
            <a:pPr lvl="1">
              <a:spcAft>
                <a:spcPts val="500"/>
              </a:spcAft>
            </a:pPr>
            <a:r>
              <a:rPr sz="1600" b="0" dirty="0">
                <a:latin typeface="Meiryo"/>
                <a:ea typeface="Meiryo"/>
                <a:cs typeface="Meiryo"/>
              </a:rPr>
              <a:t>– → </a:t>
            </a:r>
            <a:r>
              <a:rPr sz="1600" b="0" dirty="0" err="1">
                <a:latin typeface="Meiryo"/>
                <a:ea typeface="Meiryo"/>
                <a:cs typeface="Meiryo"/>
              </a:rPr>
              <a:t>一致する。SN比↑で正答率</a:t>
            </a:r>
            <a:r>
              <a:rPr sz="1600" b="0" dirty="0">
                <a:latin typeface="Meiryo"/>
                <a:ea typeface="Meiryo"/>
                <a:cs typeface="Meiryo"/>
              </a:rPr>
              <a:t>↑(</a:t>
            </a:r>
            <a:r>
              <a:rPr sz="1600" b="0" dirty="0" err="1">
                <a:latin typeface="Meiryo"/>
                <a:ea typeface="Meiryo"/>
                <a:cs typeface="Meiryo"/>
              </a:rPr>
              <a:t>単調</a:t>
            </a:r>
            <a:r>
              <a:rPr sz="1600" b="0" dirty="0">
                <a:latin typeface="Meiryo"/>
                <a:ea typeface="Meiryo"/>
                <a:cs typeface="Meiryo"/>
              </a:rPr>
              <a:t>)、</a:t>
            </a:r>
            <a:r>
              <a:rPr sz="1600" b="0" dirty="0" err="1">
                <a:latin typeface="Meiryo"/>
                <a:ea typeface="Meiryo"/>
                <a:cs typeface="Meiryo"/>
              </a:rPr>
              <a:t>異性</a:t>
            </a:r>
            <a:r>
              <a:rPr sz="1600" b="0" dirty="0">
                <a:latin typeface="Meiryo"/>
                <a:ea typeface="Meiryo"/>
                <a:cs typeface="Meiryo"/>
              </a:rPr>
              <a:t>&gt;</a:t>
            </a:r>
            <a:r>
              <a:rPr sz="1600" b="0" dirty="0" err="1">
                <a:latin typeface="Meiryo"/>
                <a:ea typeface="Meiryo"/>
                <a:cs typeface="Meiryo"/>
              </a:rPr>
              <a:t>同性</a:t>
            </a:r>
            <a:r>
              <a:rPr sz="1600" b="0" dirty="0">
                <a:latin typeface="Meiryo"/>
                <a:ea typeface="Meiryo"/>
                <a:cs typeface="Meiryo"/>
              </a:rPr>
              <a:t>(</a:t>
            </a:r>
            <a:r>
              <a:rPr sz="1600" b="0" dirty="0" err="1">
                <a:latin typeface="Meiryo"/>
                <a:ea typeface="Meiryo"/>
                <a:cs typeface="Meiryo"/>
              </a:rPr>
              <a:t>全SN比でエラーバー非重複</a:t>
            </a:r>
            <a:r>
              <a:rPr sz="1600" b="0" dirty="0">
                <a:latin typeface="Meiryo"/>
                <a:ea typeface="Meiryo"/>
                <a:cs typeface="Meiryo"/>
              </a:rPr>
              <a:t>)、</a:t>
            </a:r>
            <a:r>
              <a:rPr sz="1600" b="0" dirty="0" err="1">
                <a:latin typeface="Meiryo"/>
                <a:ea typeface="Meiryo"/>
                <a:cs typeface="Meiryo"/>
              </a:rPr>
              <a:t>妨害なしで収束</a:t>
            </a:r>
            <a:endParaRPr sz="1600" b="0" dirty="0">
              <a:latin typeface="Meiryo"/>
              <a:ea typeface="Meiryo"/>
              <a:cs typeface="Meiryo"/>
            </a:endParaRPr>
          </a:p>
          <a:p>
            <a:pPr>
              <a:spcAft>
                <a:spcPts val="500"/>
              </a:spcAft>
            </a:pPr>
            <a:r>
              <a:rPr sz="1800" b="1" dirty="0">
                <a:solidFill>
                  <a:srgbClr val="C0392B"/>
                </a:solidFill>
                <a:latin typeface="Meiryo"/>
                <a:ea typeface="Meiryo"/>
                <a:cs typeface="Meiryo"/>
              </a:rPr>
              <a:t>• </a:t>
            </a:r>
            <a:r>
              <a:rPr sz="1800" b="1" dirty="0" err="1">
                <a:solidFill>
                  <a:srgbClr val="C0392B"/>
                </a:solidFill>
                <a:latin typeface="Meiryo"/>
                <a:ea typeface="Meiryo"/>
                <a:cs typeface="Meiryo"/>
              </a:rPr>
              <a:t>いずれも</a:t>
            </a:r>
            <a:r>
              <a:rPr sz="1800" b="1" dirty="0">
                <a:solidFill>
                  <a:srgbClr val="C0392B"/>
                </a:solidFill>
                <a:latin typeface="Meiryo"/>
                <a:ea typeface="Meiryo"/>
                <a:cs typeface="Meiryo"/>
              </a:rPr>
              <a:t> → </a:t>
            </a:r>
            <a:r>
              <a:rPr sz="1800" b="1" dirty="0" err="1">
                <a:solidFill>
                  <a:srgbClr val="C0392B"/>
                </a:solidFill>
                <a:latin typeface="Meiryo"/>
                <a:ea typeface="Meiryo"/>
                <a:cs typeface="Meiryo"/>
              </a:rPr>
              <a:t>傾向は論文と方向が一致し、再現に成功した</a:t>
            </a:r>
            <a:endParaRPr sz="1800" b="1" dirty="0">
              <a:solidFill>
                <a:srgbClr val="C0392B"/>
              </a:solidFill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000000"/>
                </a:solidFill>
                <a:latin typeface="Meiryo"/>
                <a:ea typeface="Meiryo"/>
                <a:cs typeface="Meiryo"/>
              </a:rPr>
              <a:t>五、重要な判断と誠実な補足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800" b="0">
                <a:latin typeface="Meiryo"/>
                <a:ea typeface="Meiryo"/>
                <a:cs typeface="Meiryo"/>
              </a:rPr>
              <a:t>• 論文を厳密に踏襲した点: 800語彙、アライメント方針、目標単語中心の切り出し、6段階SN比、within-item、採点規則、著者パラメータ</a:t>
            </a:r>
          </a:p>
          <a:p>
            <a:pPr>
              <a:spcAft>
                <a:spcPts val="500"/>
              </a:spcAft>
            </a:pPr>
            <a:r>
              <a:rPr sz="1800" b="1">
                <a:solidFill>
                  <a:srgbClr val="000000"/>
                </a:solidFill>
                <a:latin typeface="Meiryo"/>
                <a:ea typeface="Meiryo"/>
                <a:cs typeface="Meiryo"/>
              </a:rPr>
              <a:t>• 実情に応じて調整した点(科学的な設定は変更しない):</a:t>
            </a:r>
          </a:p>
          <a:p>
            <a:pPr lvl="1">
              <a:spcAft>
                <a:spcPts val="500"/>
              </a:spcAft>
            </a:pPr>
            <a:r>
              <a:rPr sz="1600" b="0">
                <a:latin typeface="Meiryo"/>
                <a:ea typeface="Meiryo"/>
                <a:cs typeface="Meiryo"/>
              </a:rPr>
              <a:t>– アポストロフィの保持(短縮形照合のため)/ アンカー優先ペアリング(効率化)/ M1 CPU上での実行</a:t>
            </a:r>
          </a:p>
          <a:p>
            <a:pPr>
              <a:spcAft>
                <a:spcPts val="500"/>
              </a:spcAft>
            </a:pPr>
            <a:r>
              <a:rPr sz="1800" b="1">
                <a:solidFill>
                  <a:srgbClr val="000000"/>
                </a:solidFill>
                <a:latin typeface="Meiryo"/>
                <a:ea typeface="Meiryo"/>
                <a:cs typeface="Meiryo"/>
              </a:rPr>
              <a:t>• 現在の範囲と限界:</a:t>
            </a:r>
          </a:p>
          <a:p>
            <a:pPr lvl="1">
              <a:spcAft>
                <a:spcPts val="500"/>
              </a:spcAft>
            </a:pPr>
            <a:r>
              <a:rPr sz="1600" b="0">
                <a:latin typeface="Meiryo"/>
                <a:ea typeface="Meiryo"/>
                <a:cs typeface="Meiryo"/>
              </a:rPr>
              <a:t>– 範囲は単一話者の音声妨害・diotic(非空間)。他の妨害種・harmonicity・空間実験は未実施</a:t>
            </a:r>
          </a:p>
          <a:p>
            <a:pPr lvl="1">
              <a:spcAft>
                <a:spcPts val="500"/>
              </a:spcAft>
            </a:pPr>
            <a:r>
              <a:rPr sz="1600" b="0">
                <a:latin typeface="Meiryo"/>
                <a:ea typeface="Meiryo"/>
                <a:cs typeface="Meiryo"/>
              </a:rPr>
              <a:t>– サンプル600件、CPUでの1回の走査は約6.5時間。今後hakusan GPUで大規模化できる</a:t>
            </a:r>
          </a:p>
          <a:p>
            <a:pPr lvl="1">
              <a:spcAft>
                <a:spcPts val="500"/>
              </a:spcAft>
            </a:pPr>
            <a:r>
              <a:rPr sz="1600" b="0">
                <a:solidFill>
                  <a:srgbClr val="C0392B"/>
                </a:solidFill>
                <a:latin typeface="Meiryo"/>
                <a:ea typeface="Meiryo"/>
                <a:cs typeface="Meiryo"/>
              </a:rPr>
              <a:t>– 数値が論文と異なるのは想定内: コーパス・話者・単語が異なるため。判定はあくまで傾向の方向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000000"/>
                </a:solidFill>
                <a:latin typeface="Meiryo"/>
                <a:ea typeface="Meiryo"/>
                <a:cs typeface="Meiryo"/>
              </a:rPr>
              <a:t>まとめ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800" b="0">
                <a:latin typeface="Meiryo"/>
                <a:ea typeface="Meiryo"/>
                <a:cs typeface="Meiryo"/>
              </a:rPr>
              <a:t>• 目的: 著者の事前学習モデルと自作CV評価セットを用い、Fig 2bの行動的傾向を再現できるかを検証した</a:t>
            </a:r>
          </a:p>
          <a:p>
            <a:pPr>
              <a:spcAft>
                <a:spcPts val="500"/>
              </a:spcAft>
            </a:pPr>
            <a:r>
              <a:rPr sz="1800" b="0">
                <a:latin typeface="Meiryo"/>
                <a:ea typeface="Meiryo"/>
                <a:cs typeface="Meiryo"/>
              </a:rPr>
              <a:t>• 方法: 強制アライメント → 目標単語中心の切り出し → 6段階SN比で混合 → 著者チェックポイントで推論(600サンプル、性別均衡)</a:t>
            </a:r>
          </a:p>
          <a:p>
            <a:pPr>
              <a:spcAft>
                <a:spcPts val="500"/>
              </a:spcAft>
            </a:pPr>
            <a:r>
              <a:rPr sz="1800" b="1">
                <a:solidFill>
                  <a:srgbClr val="000000"/>
                </a:solidFill>
                <a:latin typeface="Meiryo"/>
                <a:ea typeface="Meiryo"/>
                <a:cs typeface="Meiryo"/>
              </a:rPr>
              <a:t>• 結果:</a:t>
            </a:r>
          </a:p>
          <a:p>
            <a:pPr lvl="1">
              <a:spcAft>
                <a:spcPts val="500"/>
              </a:spcAft>
            </a:pPr>
            <a:r>
              <a:rPr sz="1600" b="0">
                <a:latin typeface="Meiryo"/>
                <a:ea typeface="Meiryo"/>
                <a:cs typeface="Meiryo"/>
              </a:rPr>
              <a:t>– ① モデルの有効性を確認: clean正答率 88.6% ≫ 偶然 0.1%</a:t>
            </a:r>
          </a:p>
          <a:p>
            <a:pPr lvl="1">
              <a:spcAft>
                <a:spcPts val="500"/>
              </a:spcAft>
            </a:pPr>
            <a:r>
              <a:rPr sz="1600" b="0">
                <a:latin typeface="Meiryo"/>
                <a:ea typeface="Meiryo"/>
                <a:cs typeface="Meiryo"/>
              </a:rPr>
              <a:t>– ② Fig 2bの傾向を再現: SN比↑で正答↑、異性&gt;同性、妨害なしで収束</a:t>
            </a:r>
          </a:p>
          <a:p>
            <a:pPr>
              <a:spcAft>
                <a:spcPts val="500"/>
              </a:spcAft>
            </a:pPr>
            <a:r>
              <a:rPr sz="1800" b="1">
                <a:solidFill>
                  <a:srgbClr val="C0392B"/>
                </a:solidFill>
                <a:latin typeface="Meiryo"/>
                <a:ea typeface="Meiryo"/>
                <a:cs typeface="Meiryo"/>
              </a:rPr>
              <a:t>• 結論: 傾向の方向が論文と一致 → 再現に成功(傾向の再現であり、論文の真偽検証ではない)</a:t>
            </a:r>
          </a:p>
          <a:p>
            <a:pPr>
              <a:spcAft>
                <a:spcPts val="500"/>
              </a:spcAft>
            </a:pPr>
            <a:r>
              <a:rPr sz="1800" b="1">
                <a:solidFill>
                  <a:srgbClr val="000000"/>
                </a:solidFill>
                <a:latin typeface="Meiryo"/>
                <a:ea typeface="Meiryo"/>
                <a:cs typeface="Meiryo"/>
              </a:rPr>
              <a:t>• 次にやること:</a:t>
            </a:r>
          </a:p>
          <a:p>
            <a:pPr lvl="1">
              <a:spcAft>
                <a:spcPts val="500"/>
              </a:spcAft>
            </a:pPr>
            <a:r>
              <a:rPr sz="1600" b="0">
                <a:latin typeface="Meiryo"/>
                <a:ea typeface="Meiryo"/>
                <a:cs typeface="Meiryo"/>
              </a:rPr>
              <a:t>– ① hakusan GPUで大規模化(サンプル増、Fig 2c/2d/2e など他パネルの追加)</a:t>
            </a:r>
          </a:p>
          <a:p>
            <a:pPr lvl="1">
              <a:spcAft>
                <a:spcPts val="500"/>
              </a:spcAft>
            </a:pPr>
            <a:r>
              <a:rPr sz="1600" b="0">
                <a:latin typeface="Meiryo"/>
                <a:ea typeface="Meiryo"/>
                <a:cs typeface="Meiryo"/>
              </a:rPr>
              <a:t>– ② 妨害を対称構成にし、混同の絶対値を論文水準に近づける</a:t>
            </a:r>
          </a:p>
          <a:p>
            <a:pPr lvl="1">
              <a:spcAft>
                <a:spcPts val="500"/>
              </a:spcAft>
            </a:pPr>
            <a:r>
              <a:rPr sz="1600" b="0">
                <a:latin typeface="Meiryo"/>
                <a:ea typeface="Meiryo"/>
                <a:cs typeface="Meiryo"/>
              </a:rPr>
              <a:t>– ③ (発展) 発達パラメータαなど、独自拡張の検証へ進む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1024</Words>
  <Application>Microsoft Macintosh PowerPoint</Application>
  <PresentationFormat>宽屏</PresentationFormat>
  <Paragraphs>103</Paragraphs>
  <Slides>13</Slides>
  <Notes>0</Notes>
  <HiddenSlides>0</HiddenSlides>
  <MMClips>8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17" baseType="lpstr">
      <vt:lpstr>Meiryo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a49066</cp:lastModifiedBy>
  <cp:revision>3</cp:revision>
  <dcterms:created xsi:type="dcterms:W3CDTF">2013-01-27T09:14:16Z</dcterms:created>
  <dcterms:modified xsi:type="dcterms:W3CDTF">2026-07-02T05:45:18Z</dcterms:modified>
  <cp:category/>
</cp:coreProperties>
</file>