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27"/>
    <p:restoredTop sz="94763"/>
  </p:normalViewPr>
  <p:slideViewPr>
    <p:cSldViewPr snapToGrid="0" snapToObjects="1">
      <p:cViewPr varScale="1">
        <p:scale>
          <a:sx n="85" d="100"/>
          <a:sy n="85" d="100"/>
        </p:scale>
        <p:origin x="176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wav"/><Relationship Id="rId13" Type="http://schemas.microsoft.com/office/2007/relationships/media" Target="../media/media7.wav"/><Relationship Id="rId3" Type="http://schemas.microsoft.com/office/2007/relationships/media" Target="../media/media2.wav"/><Relationship Id="rId7" Type="http://schemas.microsoft.com/office/2007/relationships/media" Target="../media/media4.wav"/><Relationship Id="rId12" Type="http://schemas.openxmlformats.org/officeDocument/2006/relationships/audio" Target="../media/media6.wav"/><Relationship Id="rId2" Type="http://schemas.openxmlformats.org/officeDocument/2006/relationships/audio" Target="../media/media1.wav"/><Relationship Id="rId16" Type="http://schemas.openxmlformats.org/officeDocument/2006/relationships/image" Target="../media/image3.png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11" Type="http://schemas.microsoft.com/office/2007/relationships/media" Target="../media/media6.wav"/><Relationship Id="rId5" Type="http://schemas.microsoft.com/office/2007/relationships/media" Target="../media/media3.wav"/><Relationship Id="rId15" Type="http://schemas.openxmlformats.org/officeDocument/2006/relationships/slideLayout" Target="../slideLayouts/slideLayout7.xml"/><Relationship Id="rId10" Type="http://schemas.openxmlformats.org/officeDocument/2006/relationships/audio" Target="../media/media5.wav"/><Relationship Id="rId4" Type="http://schemas.openxmlformats.org/officeDocument/2006/relationships/audio" Target="../media/media2.wav"/><Relationship Id="rId9" Type="http://schemas.microsoft.com/office/2007/relationships/media" Target="../media/media5.wav"/><Relationship Id="rId14" Type="http://schemas.openxmlformats.org/officeDocument/2006/relationships/audio" Target="../media/media7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 dirty="0" err="1">
                <a:solidFill>
                  <a:srgbClr val="000000"/>
                </a:solidFill>
                <a:latin typeface="Hiragino Sans"/>
              </a:rPr>
              <a:t>選択的聴覚注意モデル</a:t>
            </a:r>
            <a:r>
              <a:rPr sz="3400" b="1" dirty="0">
                <a:solidFill>
                  <a:srgbClr val="000000"/>
                </a:solidFill>
                <a:latin typeface="Hiragino Sans"/>
              </a:rPr>
              <a:t> —— </a:t>
            </a:r>
            <a:r>
              <a:rPr sz="3400" b="1" dirty="0" err="1">
                <a:solidFill>
                  <a:srgbClr val="000000"/>
                </a:solidFill>
                <a:latin typeface="Hiragino Sans"/>
              </a:rPr>
              <a:t>行動傾向の再現</a:t>
            </a:r>
            <a:endParaRPr sz="3400" b="1" dirty="0">
              <a:solidFill>
                <a:srgbClr val="000000"/>
              </a:solidFill>
              <a:latin typeface="Hiragin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Hiragino Sans"/>
              </a:rPr>
              <a:t>本発表の目的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dirty="0">
                <a:latin typeface="Hiragino Sans"/>
              </a:rPr>
              <a:t>• </a:t>
            </a:r>
            <a:r>
              <a:rPr sz="1900" b="0" dirty="0" err="1">
                <a:latin typeface="Hiragino Sans"/>
              </a:rPr>
              <a:t>本発表では、論文</a:t>
            </a:r>
            <a:r>
              <a:rPr sz="1900" b="0" dirty="0">
                <a:latin typeface="Hiragino Sans"/>
              </a:rPr>
              <a:t>(Griffith et al., 2026)</a:t>
            </a:r>
            <a:r>
              <a:rPr sz="1900" b="0" dirty="0" err="1">
                <a:latin typeface="Hiragino Sans"/>
              </a:rPr>
              <a:t>の著者が公開した事前学習モデルを用い</a:t>
            </a:r>
            <a:r>
              <a:rPr sz="1900" b="0" dirty="0">
                <a:latin typeface="Hiragino Sans"/>
              </a:rPr>
              <a:t>、</a:t>
            </a:r>
          </a:p>
          <a:p>
            <a:pPr lvl="1">
              <a:spcAft>
                <a:spcPts val="600"/>
              </a:spcAft>
            </a:pPr>
            <a:r>
              <a:rPr sz="1700" b="0" dirty="0">
                <a:latin typeface="Hiragino Sans"/>
              </a:rPr>
              <a:t>– </a:t>
            </a:r>
            <a:r>
              <a:rPr sz="1700" b="0" dirty="0" err="1">
                <a:latin typeface="Hiragino Sans"/>
              </a:rPr>
              <a:t>自作のCommon</a:t>
            </a:r>
            <a:r>
              <a:rPr sz="1700" b="0" dirty="0">
                <a:latin typeface="Hiragino Sans"/>
              </a:rPr>
              <a:t> </a:t>
            </a:r>
            <a:r>
              <a:rPr sz="1700" b="0" dirty="0" err="1">
                <a:latin typeface="Hiragino Sans"/>
              </a:rPr>
              <a:t>Voice評価セット上で、その行動的傾向</a:t>
            </a:r>
            <a:r>
              <a:rPr sz="1700" b="0" dirty="0">
                <a:latin typeface="Hiragino Sans"/>
              </a:rPr>
              <a:t>(Fig 2b)</a:t>
            </a:r>
            <a:r>
              <a:rPr sz="1700" b="0" dirty="0" err="1">
                <a:latin typeface="Hiragino Sans"/>
              </a:rPr>
              <a:t>を再現できるかを検証・報告する</a:t>
            </a:r>
            <a:endParaRPr sz="1700" b="0" dirty="0">
              <a:latin typeface="Hiragino Sans"/>
            </a:endParaRPr>
          </a:p>
          <a:p>
            <a:pPr>
              <a:spcAft>
                <a:spcPts val="600"/>
              </a:spcAft>
            </a:pPr>
            <a:r>
              <a:rPr sz="1900" b="1" dirty="0">
                <a:solidFill>
                  <a:srgbClr val="000000"/>
                </a:solidFill>
                <a:latin typeface="Hiragino Sans"/>
              </a:rPr>
              <a:t>• 本発表で答える2つの問い:</a:t>
            </a:r>
          </a:p>
          <a:p>
            <a:pPr lvl="1">
              <a:spcAft>
                <a:spcPts val="600"/>
              </a:spcAft>
            </a:pPr>
            <a:r>
              <a:rPr sz="1700" b="0" dirty="0">
                <a:latin typeface="Hiragino Sans"/>
              </a:rPr>
              <a:t>– ① </a:t>
            </a:r>
            <a:r>
              <a:rPr sz="1700" b="0" dirty="0" err="1">
                <a:latin typeface="Hiragino Sans"/>
              </a:rPr>
              <a:t>モデルは混合音声中の目標話者の中央単語を実際に認識できるか</a:t>
            </a:r>
            <a:endParaRPr sz="1700" b="0" dirty="0">
              <a:latin typeface="Hiragino Sans"/>
            </a:endParaRPr>
          </a:p>
          <a:p>
            <a:pPr lvl="1">
              <a:spcAft>
                <a:spcPts val="600"/>
              </a:spcAft>
            </a:pPr>
            <a:r>
              <a:rPr sz="1700" b="0" dirty="0">
                <a:latin typeface="Hiragino Sans"/>
              </a:rPr>
              <a:t>– ② </a:t>
            </a:r>
            <a:r>
              <a:rPr sz="1700" b="0" dirty="0" err="1">
                <a:latin typeface="Hiragino Sans"/>
              </a:rPr>
              <a:t>正答率のSN比および妨害話者の性別への依存傾向は、論文と方向が一致するか</a:t>
            </a:r>
            <a:endParaRPr sz="1700" b="0" dirty="0">
              <a:latin typeface="Hiragino Sans"/>
            </a:endParaRPr>
          </a:p>
          <a:p>
            <a:pPr>
              <a:spcAft>
                <a:spcPts val="600"/>
              </a:spcAft>
            </a:pPr>
            <a:r>
              <a:rPr sz="1900" b="1" dirty="0">
                <a:solidFill>
                  <a:srgbClr val="C0392B"/>
                </a:solidFill>
                <a:latin typeface="Hiragino Sans"/>
              </a:rPr>
              <a:t>• </a:t>
            </a:r>
            <a:r>
              <a:rPr sz="1900" b="1" dirty="0" err="1">
                <a:solidFill>
                  <a:srgbClr val="C0392B"/>
                </a:solidFill>
                <a:latin typeface="Hiragino Sans"/>
              </a:rPr>
              <a:t>位置づけ</a:t>
            </a:r>
            <a:r>
              <a:rPr sz="1900" b="1" dirty="0">
                <a:solidFill>
                  <a:srgbClr val="C0392B"/>
                </a:solidFill>
                <a:latin typeface="Hiragino Sans"/>
              </a:rPr>
              <a:t>: </a:t>
            </a:r>
            <a:r>
              <a:rPr sz="1900" b="1" dirty="0" err="1">
                <a:solidFill>
                  <a:srgbClr val="C0392B"/>
                </a:solidFill>
                <a:latin typeface="Hiragino Sans"/>
              </a:rPr>
              <a:t>モデルの再学習は行わず、著者のパラメータをそのまま用いた検証実験。評価対象は傾向の方向であり、数値の一致は求めない</a:t>
            </a:r>
            <a:endParaRPr sz="1900" b="1" dirty="0">
              <a:solidFill>
                <a:srgbClr val="C0392B"/>
              </a:solidFill>
              <a:latin typeface="Hiragin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Hiragino Sans"/>
              </a:rPr>
              <a:t>一、研究背景と再現目標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dirty="0">
                <a:latin typeface="Hiragino Sans"/>
              </a:rPr>
              <a:t>• </a:t>
            </a:r>
            <a:r>
              <a:rPr sz="1900" b="0" dirty="0" err="1">
                <a:latin typeface="Hiragino Sans"/>
              </a:rPr>
              <a:t>論文</a:t>
            </a:r>
            <a:r>
              <a:rPr sz="1900" b="0" dirty="0">
                <a:latin typeface="Hiragino Sans"/>
              </a:rPr>
              <a:t>: 「</a:t>
            </a:r>
            <a:r>
              <a:rPr sz="1900" b="0" dirty="0" err="1">
                <a:latin typeface="Hiragino Sans"/>
              </a:rPr>
              <a:t>特徴ゲイン」型の注意機構をもつニューラルネットワークで、人間の「カクテルパーティ</a:t>
            </a:r>
            <a:r>
              <a:rPr sz="1900" b="0" dirty="0">
                <a:latin typeface="Hiragino Sans"/>
              </a:rPr>
              <a:t>ー」</a:t>
            </a:r>
            <a:r>
              <a:rPr sz="1900" b="0" dirty="0" err="1">
                <a:latin typeface="Hiragino Sans"/>
              </a:rPr>
              <a:t>聴取を模擬したモデル</a:t>
            </a:r>
            <a:endParaRPr sz="1900" b="0" dirty="0">
              <a:latin typeface="Hiragino Sans"/>
            </a:endParaRPr>
          </a:p>
          <a:p>
            <a:pPr lvl="1">
              <a:spcAft>
                <a:spcPts val="600"/>
              </a:spcAft>
            </a:pPr>
            <a:r>
              <a:rPr sz="1700" b="0" dirty="0">
                <a:latin typeface="Hiragino Sans"/>
              </a:rPr>
              <a:t>– </a:t>
            </a:r>
            <a:r>
              <a:rPr sz="1700" b="0" dirty="0" err="1">
                <a:latin typeface="Hiragino Sans"/>
              </a:rPr>
              <a:t>目標話者の手がかり音声</a:t>
            </a:r>
            <a:r>
              <a:rPr sz="1700" b="0" dirty="0">
                <a:latin typeface="Hiragino Sans"/>
              </a:rPr>
              <a:t>(cue)</a:t>
            </a:r>
            <a:r>
              <a:rPr sz="1700" b="0" dirty="0" err="1">
                <a:latin typeface="Hiragino Sans"/>
              </a:rPr>
              <a:t>と「目標+妨害」の混合音声を入力し、混合音声中の目標話者の中央単語を答えさせる</a:t>
            </a:r>
            <a:endParaRPr sz="1700" b="0" dirty="0">
              <a:latin typeface="Hiragino Sans"/>
            </a:endParaRPr>
          </a:p>
          <a:p>
            <a:pPr lvl="1">
              <a:spcAft>
                <a:spcPts val="600"/>
              </a:spcAft>
            </a:pPr>
            <a:r>
              <a:rPr sz="1700" b="0" dirty="0">
                <a:latin typeface="Hiragino Sans"/>
              </a:rPr>
              <a:t>– </a:t>
            </a:r>
            <a:r>
              <a:rPr sz="1700" b="0" dirty="0" err="1">
                <a:latin typeface="Hiragino Sans"/>
              </a:rPr>
              <a:t>cueに基づいて目標の音色に対応する特徴を増強し、それ以外を抑制することで、目標を混合音声から分離する</a:t>
            </a:r>
            <a:endParaRPr sz="1700" b="0" dirty="0">
              <a:latin typeface="Hiragino Sans"/>
            </a:endParaRPr>
          </a:p>
          <a:p>
            <a:pPr lvl="1">
              <a:spcAft>
                <a:spcPts val="600"/>
              </a:spcAft>
            </a:pPr>
            <a:r>
              <a:rPr sz="1700" b="0" dirty="0">
                <a:latin typeface="Hiragino Sans"/>
              </a:rPr>
              <a:t>– </a:t>
            </a:r>
            <a:r>
              <a:rPr sz="1700" b="0" dirty="0" err="1">
                <a:latin typeface="Hiragino Sans"/>
              </a:rPr>
              <a:t>論文Figure</a:t>
            </a:r>
            <a:r>
              <a:rPr sz="1700" b="0" dirty="0">
                <a:latin typeface="Hiragino Sans"/>
              </a:rPr>
              <a:t> 2は、認識の成否を規定する要因を行動曲線で示す(</a:t>
            </a:r>
            <a:r>
              <a:rPr sz="1700" b="0" dirty="0" err="1">
                <a:latin typeface="Hiragino Sans"/>
              </a:rPr>
              <a:t>SN比が高いほど正答率</a:t>
            </a:r>
            <a:r>
              <a:rPr sz="1700" b="0" dirty="0">
                <a:latin typeface="Hiragino Sans"/>
              </a:rPr>
              <a:t>↑、</a:t>
            </a:r>
            <a:r>
              <a:rPr sz="1700" b="0" dirty="0" err="1">
                <a:latin typeface="Hiragino Sans"/>
              </a:rPr>
              <a:t>異性妨害は同性より分離しやすい</a:t>
            </a:r>
            <a:r>
              <a:rPr sz="1700" b="0" dirty="0">
                <a:latin typeface="Hiragino Sans"/>
              </a:rPr>
              <a:t> </a:t>
            </a:r>
            <a:r>
              <a:rPr sz="1700" b="0" dirty="0" err="1">
                <a:latin typeface="Hiragino Sans"/>
              </a:rPr>
              <a:t>等</a:t>
            </a:r>
            <a:r>
              <a:rPr sz="1700" b="0" dirty="0">
                <a:latin typeface="Hiragino Sans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Hiragino Sans"/>
              </a:rPr>
              <a:t>二、データ準備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dirty="0">
                <a:latin typeface="Hiragino Sans"/>
              </a:rPr>
              <a:t>• </a:t>
            </a:r>
            <a:r>
              <a:rPr sz="1900" b="0" dirty="0" err="1">
                <a:latin typeface="Hiragino Sans"/>
              </a:rPr>
              <a:t>コーパス</a:t>
            </a:r>
            <a:r>
              <a:rPr sz="1900" b="0" dirty="0">
                <a:latin typeface="Hiragino Sans"/>
              </a:rPr>
              <a:t>: Common Voice 9.0 </a:t>
            </a:r>
            <a:r>
              <a:rPr sz="1900" b="0" dirty="0" err="1">
                <a:latin typeface="Hiragino Sans"/>
              </a:rPr>
              <a:t>英語版</a:t>
            </a:r>
            <a:r>
              <a:rPr sz="1900" b="0" dirty="0">
                <a:latin typeface="Hiragino Sans"/>
              </a:rPr>
              <a:t>(</a:t>
            </a:r>
            <a:r>
              <a:rPr sz="1900" b="0" dirty="0" err="1">
                <a:latin typeface="Hiragino Sans"/>
              </a:rPr>
              <a:t>論文と同一バージョン</a:t>
            </a:r>
            <a:r>
              <a:rPr sz="1900" b="0" dirty="0">
                <a:latin typeface="Hiragino Sans"/>
              </a:rPr>
              <a:t>)</a:t>
            </a:r>
          </a:p>
          <a:p>
            <a:pPr lvl="1">
              <a:spcAft>
                <a:spcPts val="600"/>
              </a:spcAft>
            </a:pPr>
            <a:r>
              <a:rPr sz="1700" b="0" dirty="0">
                <a:latin typeface="Hiragino Sans"/>
              </a:rPr>
              <a:t>– </a:t>
            </a:r>
            <a:r>
              <a:rPr sz="1700" b="0" dirty="0" err="1">
                <a:latin typeface="Hiragino Sans"/>
              </a:rPr>
              <a:t>選別</a:t>
            </a:r>
            <a:r>
              <a:rPr sz="1700" b="0" dirty="0">
                <a:latin typeface="Hiragino Sans"/>
              </a:rPr>
              <a:t>: 性別ラベルがあり一貫し、かつ2録音以上をもつ話者 → </a:t>
            </a:r>
            <a:r>
              <a:rPr sz="1700" b="0" dirty="0" err="1">
                <a:latin typeface="Hiragino Sans"/>
              </a:rPr>
              <a:t>利用可能</a:t>
            </a:r>
            <a:r>
              <a:rPr sz="1700" b="0" dirty="0">
                <a:latin typeface="Hiragino Sans"/>
              </a:rPr>
              <a:t> 18,067名 / 971,848録音</a:t>
            </a:r>
          </a:p>
          <a:p>
            <a:pPr>
              <a:spcAft>
                <a:spcPts val="600"/>
              </a:spcAft>
            </a:pPr>
            <a:r>
              <a:rPr sz="1900" b="0" dirty="0">
                <a:latin typeface="Hiragino Sans"/>
              </a:rPr>
              <a:t>• </a:t>
            </a:r>
            <a:r>
              <a:rPr sz="1900" b="0" dirty="0" err="1">
                <a:latin typeface="Hiragino Sans"/>
              </a:rPr>
              <a:t>目標語彙</a:t>
            </a:r>
            <a:r>
              <a:rPr sz="1900" b="0" dirty="0">
                <a:latin typeface="Hiragino Sans"/>
              </a:rPr>
              <a:t>: 著者公開の800語(</a:t>
            </a:r>
            <a:r>
              <a:rPr sz="1900" b="0" dirty="0" err="1">
                <a:latin typeface="Hiragino Sans"/>
              </a:rPr>
              <a:t>公式ファイルとバイト単位で一致</a:t>
            </a:r>
            <a:r>
              <a:rPr sz="1900" b="0" dirty="0">
                <a:latin typeface="Hiragino Sans"/>
              </a:rPr>
              <a:t>)。モデルは800クラスの分類器</a:t>
            </a:r>
          </a:p>
          <a:p>
            <a:pPr>
              <a:spcAft>
                <a:spcPts val="600"/>
              </a:spcAft>
            </a:pPr>
            <a:r>
              <a:rPr sz="1900" b="1" dirty="0">
                <a:solidFill>
                  <a:srgbClr val="000000"/>
                </a:solidFill>
                <a:latin typeface="Hiragino Sans"/>
              </a:rPr>
              <a:t>• </a:t>
            </a:r>
            <a:r>
              <a:rPr sz="1900" b="1" dirty="0" err="1">
                <a:solidFill>
                  <a:srgbClr val="000000"/>
                </a:solidFill>
                <a:latin typeface="Hiragino Sans"/>
              </a:rPr>
              <a:t>最終評価セット</a:t>
            </a:r>
            <a:r>
              <a:rPr sz="1900" b="1" dirty="0">
                <a:solidFill>
                  <a:srgbClr val="000000"/>
                </a:solidFill>
                <a:latin typeface="Hiragino Sans"/>
              </a:rPr>
              <a:t>: 有効な目標サンプル600件</a:t>
            </a:r>
          </a:p>
          <a:p>
            <a:pPr lvl="1">
              <a:spcAft>
                <a:spcPts val="600"/>
              </a:spcAft>
            </a:pPr>
            <a:r>
              <a:rPr sz="1700" b="0" dirty="0">
                <a:latin typeface="Hiragino Sans"/>
              </a:rPr>
              <a:t>– </a:t>
            </a:r>
            <a:r>
              <a:rPr sz="1700" b="0" dirty="0" err="1">
                <a:latin typeface="Hiragino Sans"/>
              </a:rPr>
              <a:t>性別を均衡</a:t>
            </a:r>
            <a:r>
              <a:rPr sz="1700" b="0" dirty="0">
                <a:latin typeface="Hiragino Sans"/>
              </a:rPr>
              <a:t>: 男性300 / 女性300</a:t>
            </a:r>
          </a:p>
          <a:p>
            <a:pPr lvl="1">
              <a:spcAft>
                <a:spcPts val="600"/>
              </a:spcAft>
            </a:pPr>
            <a:r>
              <a:rPr sz="1700" b="0" dirty="0">
                <a:latin typeface="Hiragino Sans"/>
              </a:rPr>
              <a:t>– 149名の話者・347録音に由来し、369種の異なる目標単語を含む</a:t>
            </a:r>
          </a:p>
          <a:p>
            <a:pPr lvl="1">
              <a:spcAft>
                <a:spcPts val="600"/>
              </a:spcAft>
            </a:pPr>
            <a:r>
              <a:rPr sz="1700" b="0" dirty="0">
                <a:latin typeface="Hiragino Sans"/>
              </a:rPr>
              <a:t>– 600サンプルにより、6段階のSN比それぞれで推定が安定(</a:t>
            </a:r>
            <a:r>
              <a:rPr sz="1700" b="0" dirty="0" err="1">
                <a:latin typeface="Hiragino Sans"/>
              </a:rPr>
              <a:t>二項標準誤差</a:t>
            </a:r>
            <a:r>
              <a:rPr sz="1700" b="0" dirty="0">
                <a:latin typeface="Hiragino Sans"/>
              </a:rPr>
              <a:t> 約±2%)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Hiragino Sans"/>
              </a:rPr>
              <a:t>三、手法パイプライン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Hiragino Sans"/>
              </a:rPr>
              <a:t>• 原音声 → 強制アライメント → テキスト正規化 → アンカー判定 → 切り出し・混合 → モデル入力 → 採点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Hiragino Sans"/>
              </a:rPr>
              <a:t>• 1. 強制アライメント(MMS_FA, 16kHz): 各単語の時間境界を取得(CVは文単位の書き起こしのみで、単語の時刻をもたない)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Hiragino Sans"/>
              </a:rPr>
              <a:t>• 2. テキスト正規化: 論文のconvert_transcriptに準拠(小文字化・記号除去・数字の単語化)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Hiragino Sans"/>
              </a:rPr>
              <a:t>• 3. アンカー(中央単語)判定: 目標単語を中心とする。条件=語彙内 かつ 単語長&lt;2s かつ 前後に各1.25s以上の余白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Hiragino Sans"/>
              </a:rPr>
              <a:t>• 4. 切り出し・混合: 各2.5s@44.1kHz(モデル内部で中央2sを使用)。within-itemで6段階のSN比に再混合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Hiragino Sans"/>
              </a:rPr>
              <a:t>– SN比: -9/-6/-3/0/+3/+inf dB。目標のエネルギーに合わせて妨害を調整。+inf=妨害なし。RMS 0.02に正規化。diotic(両耳同一)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Hiragino Sans"/>
              </a:rPr>
              <a:t>• 5. 著者の事前学習チェックポイント(word_task_v10)でそのまま推論。再学習・微調整は行わない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Hiragino Sans"/>
              </a:rPr>
              <a:t>三(続)、3つの重要な工学的判断 —— 「なぜそうしたか」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Hiragino Sans"/>
              </a:rPr>
              <a:t>• ① テキスト正規化でアポストロフィを保持する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Hiragino Sans"/>
              </a:rPr>
              <a:t>– 論文の公開コードはアポストロフィを削除するが、800語彙には16個の短縮形(can't/don't 等)が含まれる。削除すると語彙照合に失敗し脱落してしまう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Hiragino Sans"/>
              </a:rPr>
              <a:t>• ② 「録音の中点の単語」ではなく「目標単語を中心」に切り出す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Hiragino Sans"/>
              </a:rPr>
              <a:t>– 論文のソースコードで確認: まず目標単語を選び、それを中心に切り出す(先に切り出してから中点の単語を見るのではない)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Hiragino Sans"/>
              </a:rPr>
              <a:t>• ③ アンカー優先のペアリング(先にアライメント、後にペアリング)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Hiragino Sans"/>
              </a:rPr>
              <a:t>– 目標候補のみを整列し、アンカーをもつ録音を目標に採用。627録音から600サンプル(96%)を得て、旧手法の22%を大きく上回る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85421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 err="1">
                <a:solidFill>
                  <a:srgbClr val="000000"/>
                </a:solidFill>
                <a:latin typeface="Hiragino Sans"/>
              </a:rPr>
              <a:t>四、結果</a:t>
            </a:r>
            <a:r>
              <a:rPr sz="2600" b="1" dirty="0">
                <a:solidFill>
                  <a:srgbClr val="000000"/>
                </a:solidFill>
                <a:latin typeface="Hiragino Sans"/>
              </a:rPr>
              <a:t>: </a:t>
            </a:r>
            <a:r>
              <a:rPr sz="2600" b="1" dirty="0" err="1">
                <a:solidFill>
                  <a:srgbClr val="000000"/>
                </a:solidFill>
                <a:latin typeface="Hiragino Sans"/>
              </a:rPr>
              <a:t>モデル有効性の検証</a:t>
            </a:r>
            <a:endParaRPr sz="2600" b="1" dirty="0">
              <a:solidFill>
                <a:srgbClr val="000000"/>
              </a:solidFill>
              <a:latin typeface="Hiragino Sa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Hiragino Sans"/>
              </a:rPr>
              <a:t>• clean条件(目標のみ・妨害なし)における中央単語認識の正答率: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Hiragino Sans"/>
              </a:rPr>
              <a:t>• 88.6%   (偶然水準は0.1% = 1/800)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Hiragino Sans"/>
              </a:rPr>
              <a:t>– 600サンプルの+inf条件でも88.0%となり、相互に裏付けられる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C0392B"/>
                </a:solidFill>
                <a:latin typeface="Hiragino Sans"/>
              </a:rPr>
              <a:t>• → モデルは音声から目標の中央単語を実際に認識でき、偶然水準を大きく上回る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Hiragino Sans"/>
              </a:rPr>
              <a:t>– これが以降の傾向実験の前提となる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686918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 err="1">
                <a:solidFill>
                  <a:srgbClr val="000000"/>
                </a:solidFill>
                <a:latin typeface="Hiragino Sans"/>
              </a:rPr>
              <a:t>四、結果</a:t>
            </a:r>
            <a:r>
              <a:rPr sz="2500" b="1" dirty="0">
                <a:solidFill>
                  <a:srgbClr val="000000"/>
                </a:solidFill>
                <a:latin typeface="Hiragino Sans"/>
              </a:rPr>
              <a:t>: Fig 2b </a:t>
            </a:r>
            <a:r>
              <a:rPr sz="2500" b="1" dirty="0" err="1">
                <a:solidFill>
                  <a:srgbClr val="000000"/>
                </a:solidFill>
                <a:latin typeface="Hiragino Sans"/>
              </a:rPr>
              <a:t>再現</a:t>
            </a:r>
            <a:r>
              <a:rPr sz="2500" b="1" dirty="0">
                <a:solidFill>
                  <a:srgbClr val="000000"/>
                </a:solidFill>
                <a:latin typeface="Hiragino Sans"/>
              </a:rPr>
              <a:t> —— </a:t>
            </a:r>
            <a:r>
              <a:rPr sz="2500" b="1" dirty="0" err="1">
                <a:solidFill>
                  <a:srgbClr val="000000"/>
                </a:solidFill>
                <a:latin typeface="Hiragino Sans"/>
              </a:rPr>
              <a:t>同性</a:t>
            </a:r>
            <a:r>
              <a:rPr sz="2500" b="1" dirty="0">
                <a:solidFill>
                  <a:srgbClr val="000000"/>
                </a:solidFill>
                <a:latin typeface="Hiragino Sans"/>
              </a:rPr>
              <a:t> vs </a:t>
            </a:r>
            <a:r>
              <a:rPr sz="2500" b="1" dirty="0" err="1">
                <a:solidFill>
                  <a:srgbClr val="000000"/>
                </a:solidFill>
                <a:latin typeface="Hiragino Sans"/>
              </a:rPr>
              <a:t>異性妨害</a:t>
            </a:r>
            <a:endParaRPr sz="2500" b="1" dirty="0">
              <a:solidFill>
                <a:srgbClr val="000000"/>
              </a:solidFill>
              <a:latin typeface="Hiragino Sans"/>
            </a:endParaRPr>
          </a:p>
        </p:txBody>
      </p:sp>
      <p:pic>
        <p:nvPicPr>
          <p:cNvPr id="3" name="Picture 2" descr="fig2b_reproductio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95086"/>
            <a:ext cx="3418125" cy="27882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2376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dirty="0" err="1">
                <a:solidFill>
                  <a:srgbClr val="000000"/>
                </a:solidFill>
                <a:latin typeface="Hiragino Sans"/>
              </a:rPr>
              <a:t>同性</a:t>
            </a:r>
            <a:r>
              <a:rPr sz="1500" b="0" dirty="0">
                <a:solidFill>
                  <a:srgbClr val="000000"/>
                </a:solidFill>
                <a:latin typeface="Hiragino Sans"/>
              </a:rPr>
              <a:t>/異性の2本の線: </a:t>
            </a:r>
            <a:r>
              <a:rPr sz="1500" b="0" dirty="0" err="1">
                <a:solidFill>
                  <a:srgbClr val="000000"/>
                </a:solidFill>
                <a:latin typeface="Hiragino Sans"/>
              </a:rPr>
              <a:t>中央単語認識の正答率</a:t>
            </a:r>
            <a:r>
              <a:rPr sz="1500" b="0" dirty="0">
                <a:solidFill>
                  <a:srgbClr val="000000"/>
                </a:solidFill>
                <a:latin typeface="Hiragino Sans"/>
              </a:rPr>
              <a:t> vs </a:t>
            </a:r>
            <a:r>
              <a:rPr sz="1500" b="0" dirty="0" err="1">
                <a:solidFill>
                  <a:srgbClr val="000000"/>
                </a:solidFill>
                <a:latin typeface="Hiragino Sans"/>
              </a:rPr>
              <a:t>SN比</a:t>
            </a:r>
            <a:endParaRPr sz="1500" b="0" dirty="0">
              <a:solidFill>
                <a:srgbClr val="000000"/>
              </a:solidFill>
              <a:latin typeface="Hiragino Sans"/>
            </a:endParaRPr>
          </a:p>
          <a:p>
            <a:pPr>
              <a:spcAft>
                <a:spcPts val="800"/>
              </a:spcAft>
            </a:pPr>
            <a:r>
              <a:rPr sz="1500" b="0" dirty="0" err="1">
                <a:solidFill>
                  <a:srgbClr val="C0392B"/>
                </a:solidFill>
                <a:latin typeface="Hiragino Sans"/>
              </a:rPr>
              <a:t>再現された傾向</a:t>
            </a:r>
            <a:r>
              <a:rPr sz="1500" b="0" dirty="0">
                <a:solidFill>
                  <a:srgbClr val="C0392B"/>
                </a:solidFill>
                <a:latin typeface="Hiragino Sans"/>
              </a:rPr>
              <a:t>(</a:t>
            </a:r>
            <a:r>
              <a:rPr sz="1500" b="0" dirty="0" err="1">
                <a:solidFill>
                  <a:srgbClr val="C0392B"/>
                </a:solidFill>
                <a:latin typeface="Hiragino Sans"/>
              </a:rPr>
              <a:t>論文と一致</a:t>
            </a:r>
            <a:r>
              <a:rPr sz="1500" b="0" dirty="0">
                <a:solidFill>
                  <a:srgbClr val="C0392B"/>
                </a:solidFill>
                <a:latin typeface="Hiragino Sans"/>
              </a:rPr>
              <a:t>):</a:t>
            </a: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555555"/>
                </a:solidFill>
                <a:latin typeface="Hiragino Sans"/>
              </a:rPr>
              <a:t>① </a:t>
            </a:r>
            <a:r>
              <a:rPr sz="1500" b="0" dirty="0" err="1">
                <a:solidFill>
                  <a:srgbClr val="555555"/>
                </a:solidFill>
                <a:latin typeface="Hiragino Sans"/>
              </a:rPr>
              <a:t>SN比とともに正答率が単調に増加</a:t>
            </a:r>
            <a:r>
              <a:rPr sz="1500" b="0" dirty="0">
                <a:solidFill>
                  <a:srgbClr val="555555"/>
                </a:solidFill>
                <a:latin typeface="Hiragino Sans"/>
              </a:rPr>
              <a:t>(</a:t>
            </a:r>
            <a:r>
              <a:rPr sz="1500" b="0" dirty="0" err="1">
                <a:solidFill>
                  <a:srgbClr val="555555"/>
                </a:solidFill>
                <a:latin typeface="Hiragino Sans"/>
              </a:rPr>
              <a:t>妨害が弱いほど正答</a:t>
            </a:r>
            <a:r>
              <a:rPr sz="1500" b="0" dirty="0">
                <a:solidFill>
                  <a:srgbClr val="555555"/>
                </a:solidFill>
                <a:latin typeface="Hiragino Sans"/>
              </a:rPr>
              <a:t>↑)</a:t>
            </a: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555555"/>
                </a:solidFill>
                <a:latin typeface="Hiragino Sans"/>
              </a:rPr>
              <a:t>② </a:t>
            </a:r>
            <a:r>
              <a:rPr sz="1500" b="0" dirty="0" err="1">
                <a:solidFill>
                  <a:srgbClr val="555555"/>
                </a:solidFill>
                <a:latin typeface="Hiragino Sans"/>
              </a:rPr>
              <a:t>異性妨害が全体的に同性より高い</a:t>
            </a:r>
            <a:r>
              <a:rPr sz="1500" b="0" dirty="0">
                <a:solidFill>
                  <a:srgbClr val="555555"/>
                </a:solidFill>
                <a:latin typeface="Hiragino Sans"/>
              </a:rPr>
              <a:t>(9~18ポイント)</a:t>
            </a: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555555"/>
                </a:solidFill>
                <a:latin typeface="Hiragino Sans"/>
              </a:rPr>
              <a:t>③ +inf(</a:t>
            </a:r>
            <a:r>
              <a:rPr sz="1500" b="0" dirty="0" err="1">
                <a:solidFill>
                  <a:srgbClr val="555555"/>
                </a:solidFill>
                <a:latin typeface="Hiragino Sans"/>
              </a:rPr>
              <a:t>妨害なし</a:t>
            </a:r>
            <a:r>
              <a:rPr sz="1500" b="0" dirty="0">
                <a:solidFill>
                  <a:srgbClr val="555555"/>
                </a:solidFill>
                <a:latin typeface="Hiragino Sans"/>
              </a:rPr>
              <a:t>)で2本の線が約88%に収束: </a:t>
            </a:r>
            <a:r>
              <a:rPr sz="1500" b="0" dirty="0" err="1">
                <a:solidFill>
                  <a:srgbClr val="555555"/>
                </a:solidFill>
                <a:latin typeface="Hiragino Sans"/>
              </a:rPr>
              <a:t>妨害がなければ性別は無関係</a:t>
            </a:r>
            <a:endParaRPr sz="1500" b="0" dirty="0">
              <a:solidFill>
                <a:srgbClr val="555555"/>
              </a:solidFill>
              <a:latin typeface="Hiragino Sans"/>
            </a:endParaRPr>
          </a:p>
          <a:p>
            <a:pPr>
              <a:spcAft>
                <a:spcPts val="800"/>
              </a:spcAft>
            </a:pPr>
            <a:r>
              <a:rPr sz="1500" b="0" dirty="0" err="1">
                <a:solidFill>
                  <a:srgbClr val="000000"/>
                </a:solidFill>
                <a:latin typeface="Hiragino Sans"/>
              </a:rPr>
              <a:t>異性</a:t>
            </a:r>
            <a:r>
              <a:rPr sz="1500" b="0" dirty="0">
                <a:solidFill>
                  <a:srgbClr val="000000"/>
                </a:solidFill>
                <a:latin typeface="Hiragino Sans"/>
              </a:rPr>
              <a:t>&gt;</a:t>
            </a:r>
            <a:r>
              <a:rPr sz="1500" b="0" dirty="0" err="1">
                <a:solidFill>
                  <a:srgbClr val="000000"/>
                </a:solidFill>
                <a:latin typeface="Hiragino Sans"/>
              </a:rPr>
              <a:t>同性の差は安定</a:t>
            </a:r>
            <a:r>
              <a:rPr sz="1500" b="0" dirty="0">
                <a:solidFill>
                  <a:srgbClr val="000000"/>
                </a:solidFill>
                <a:latin typeface="Hiragino Sans"/>
              </a:rPr>
              <a:t>: 妨害ありの5段階すべてでエラーバーが非重複(3.4~6.8σ)</a:t>
            </a:r>
          </a:p>
          <a:p>
            <a:pPr>
              <a:spcAft>
                <a:spcPts val="800"/>
              </a:spcAft>
            </a:pPr>
            <a:r>
              <a:rPr sz="1500" b="0" dirty="0" err="1">
                <a:solidFill>
                  <a:srgbClr val="555555"/>
                </a:solidFill>
                <a:latin typeface="Hiragino Sans"/>
              </a:rPr>
              <a:t>エラーバ</a:t>
            </a:r>
            <a:r>
              <a:rPr sz="1500" b="0" dirty="0">
                <a:solidFill>
                  <a:srgbClr val="555555"/>
                </a:solidFill>
                <a:latin typeface="Hiragino Sans"/>
              </a:rPr>
              <a:t>ー = ±1 SEM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E503EF-CB03-6F43-3764-0CB8C13C8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674" y="1895086"/>
            <a:ext cx="3057735" cy="30678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Hiragino Sans"/>
              </a:rPr>
              <a:t>四(補): 音声サンプル —— SN比ラダー(クリックで再生)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dirty="0" err="1">
                <a:solidFill>
                  <a:srgbClr val="555555"/>
                </a:solidFill>
                <a:latin typeface="Hiragino Sans"/>
              </a:rPr>
              <a:t>同一刺激</a:t>
            </a:r>
            <a:r>
              <a:rPr sz="1500" b="0" dirty="0">
                <a:solidFill>
                  <a:srgbClr val="555555"/>
                </a:solidFill>
                <a:latin typeface="Hiragino Sans"/>
              </a:rPr>
              <a:t>(</a:t>
            </a:r>
            <a:r>
              <a:rPr sz="1500" b="0" dirty="0" err="1">
                <a:solidFill>
                  <a:srgbClr val="555555"/>
                </a:solidFill>
                <a:latin typeface="Hiragino Sans"/>
              </a:rPr>
              <a:t>目標単語「around</a:t>
            </a:r>
            <a:r>
              <a:rPr sz="1500" b="0" dirty="0">
                <a:solidFill>
                  <a:srgbClr val="555555"/>
                </a:solidFill>
                <a:latin typeface="Hiragino Sans"/>
              </a:rPr>
              <a:t>」)の6段階SN比混合。-9dBから妨害なしへ進むと、妨害話者が徐々に消え目標が明瞭になる</a:t>
            </a:r>
          </a:p>
        </p:txBody>
      </p:sp>
      <p:pic>
        <p:nvPicPr>
          <p:cNvPr id="4" name="mix_-9dB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914400" y="228600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Hiragino Sans"/>
              </a:rPr>
              <a:t>-9 dB</a:t>
            </a:r>
          </a:p>
        </p:txBody>
      </p:sp>
      <p:pic>
        <p:nvPicPr>
          <p:cNvPr id="6" name="mix_-6dB.wav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2743200" y="228600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Hiragino Sans"/>
              </a:rPr>
              <a:t>-6 dB</a:t>
            </a:r>
          </a:p>
        </p:txBody>
      </p:sp>
      <p:pic>
        <p:nvPicPr>
          <p:cNvPr id="8" name="mix_-3dB.wav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4572000" y="228600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Hiragino Sans"/>
              </a:rPr>
              <a:t>-3 dB</a:t>
            </a:r>
          </a:p>
        </p:txBody>
      </p:sp>
      <p:pic>
        <p:nvPicPr>
          <p:cNvPr id="10" name="mix_+0dB.wav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6400800" y="228600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Hiragino Sans"/>
              </a:rPr>
              <a:t>0 dB</a:t>
            </a:r>
          </a:p>
        </p:txBody>
      </p:sp>
      <p:pic>
        <p:nvPicPr>
          <p:cNvPr id="12" name="mix_+3dB.wav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8229600" y="228600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Hiragino Sans"/>
              </a:rPr>
              <a:t>+3 dB</a:t>
            </a:r>
          </a:p>
        </p:txBody>
      </p:sp>
      <p:pic>
        <p:nvPicPr>
          <p:cNvPr id="14" name="mix_inf.wav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0058400" y="2286000"/>
            <a:ext cx="9144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012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Hiragino Sans"/>
              </a:rPr>
              <a:t>+inf(妨害なし)</a:t>
            </a:r>
          </a:p>
        </p:txBody>
      </p:sp>
      <p:pic>
        <p:nvPicPr>
          <p:cNvPr id="16" name="cue.wav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2743200" y="4572000"/>
            <a:ext cx="914400" cy="914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0" y="5504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Hiragino Sans"/>
              </a:rPr>
              <a:t>cue(手がかり音)</a:t>
            </a:r>
          </a:p>
        </p:txBody>
      </p:sp>
      <p:pic>
        <p:nvPicPr>
          <p:cNvPr id="18" name="target_clean.wav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315200" y="4572000"/>
            <a:ext cx="914400" cy="914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0" y="5504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Hiragino Sans"/>
              </a:rPr>
              <a:t>目標のみ(参照)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audio>
            <p:audi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audio>
            <p:audi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audio>
            <p:audi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audio>
            <p:audi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audio>
            <p:audi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Hiragino Sans"/>
              </a:rPr>
              <a:t>五、重要な判断と誠実な補足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Hiragino Sans"/>
              </a:rPr>
              <a:t>• 論文を厳密に踏襲した点: 800語彙・アライメント方針・目標単語中心の切り出し・6段階SN比・within-item・採点基準・著者パラメータの使用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Hiragino Sans"/>
              </a:rPr>
              <a:t>• 実情に応じて調整した点(科学的な設定は変更しない):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Hiragino Sans"/>
              </a:rPr>
              <a:t>– アポストロフィの保持(短縮形照合のため)/ アンカー優先ペアリング(効率化)/ M1 CPU上での実行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Hiragino Sans"/>
              </a:rPr>
              <a:t>• 現在の範囲と限界: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Hiragino Sans"/>
              </a:rPr>
              <a:t>– 範囲は単一話者の音声妨害・diotic(非空間)。他の妨害種・harmonicity・空間実験は未実施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Hiragino Sans"/>
              </a:rPr>
              <a:t>– サンプル数600、CPUでの1回の走査は約6.5時間。今後hakusan GPUで拡張可能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C0392B"/>
                </a:solidFill>
                <a:latin typeface="Hiragino Sans"/>
              </a:rPr>
              <a:t>– 数値が論文と異なるのは想定内: コーパス・話者・単語が異なるため。判定はあくまで傾向の方向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Hiragino Sans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dirty="0">
                <a:latin typeface="Hiragino Sans"/>
              </a:rPr>
              <a:t>• </a:t>
            </a:r>
            <a:r>
              <a:rPr sz="1900" b="0" dirty="0" err="1">
                <a:latin typeface="Hiragino Sans"/>
              </a:rPr>
              <a:t>目的</a:t>
            </a:r>
            <a:r>
              <a:rPr sz="1900" b="0" dirty="0">
                <a:latin typeface="Hiragino Sans"/>
              </a:rPr>
              <a:t>: </a:t>
            </a:r>
            <a:r>
              <a:rPr sz="1900" b="0" dirty="0" err="1">
                <a:latin typeface="Hiragino Sans"/>
              </a:rPr>
              <a:t>著者の事前学習モデルと自作CV評価セットを用い、Fig</a:t>
            </a:r>
            <a:r>
              <a:rPr sz="1900" b="0" dirty="0">
                <a:latin typeface="Hiragino Sans"/>
              </a:rPr>
              <a:t> 2bの行動傾向を再現できるかを検証した</a:t>
            </a:r>
          </a:p>
          <a:p>
            <a:pPr>
              <a:spcAft>
                <a:spcPts val="600"/>
              </a:spcAft>
            </a:pPr>
            <a:r>
              <a:rPr sz="1900" b="0" dirty="0">
                <a:latin typeface="Hiragino Sans"/>
              </a:rPr>
              <a:t>• </a:t>
            </a:r>
            <a:r>
              <a:rPr sz="1900" b="0" dirty="0" err="1">
                <a:latin typeface="Hiragino Sans"/>
              </a:rPr>
              <a:t>方法</a:t>
            </a:r>
            <a:r>
              <a:rPr sz="1900" b="0" dirty="0">
                <a:latin typeface="Hiragino Sans"/>
              </a:rPr>
              <a:t>: </a:t>
            </a:r>
            <a:r>
              <a:rPr sz="1900" b="0" dirty="0" err="1">
                <a:latin typeface="Hiragino Sans"/>
              </a:rPr>
              <a:t>強制アライメント</a:t>
            </a:r>
            <a:r>
              <a:rPr sz="1900" b="0" dirty="0">
                <a:latin typeface="Hiragino Sans"/>
              </a:rPr>
              <a:t> → </a:t>
            </a:r>
            <a:r>
              <a:rPr sz="1900" b="0" dirty="0" err="1">
                <a:latin typeface="Hiragino Sans"/>
              </a:rPr>
              <a:t>目標単語中心の切り出し</a:t>
            </a:r>
            <a:r>
              <a:rPr sz="1900" b="0" dirty="0">
                <a:latin typeface="Hiragino Sans"/>
              </a:rPr>
              <a:t> → 6段階SN比で混合 → </a:t>
            </a:r>
            <a:r>
              <a:rPr sz="1900" b="0" dirty="0" err="1">
                <a:latin typeface="Hiragino Sans"/>
              </a:rPr>
              <a:t>著者チェックポイントで推論</a:t>
            </a:r>
            <a:r>
              <a:rPr sz="1900" b="0" dirty="0">
                <a:latin typeface="Hiragino Sans"/>
              </a:rPr>
              <a:t>(600サンプル、性別均衡)</a:t>
            </a:r>
          </a:p>
          <a:p>
            <a:pPr>
              <a:spcAft>
                <a:spcPts val="600"/>
              </a:spcAft>
            </a:pPr>
            <a:r>
              <a:rPr sz="1900" b="1" dirty="0">
                <a:solidFill>
                  <a:srgbClr val="000000"/>
                </a:solidFill>
                <a:latin typeface="Hiragino Sans"/>
              </a:rPr>
              <a:t>• </a:t>
            </a:r>
            <a:r>
              <a:rPr sz="1900" b="1" dirty="0" err="1">
                <a:solidFill>
                  <a:srgbClr val="000000"/>
                </a:solidFill>
                <a:latin typeface="Hiragino Sans"/>
              </a:rPr>
              <a:t>結果</a:t>
            </a:r>
            <a:r>
              <a:rPr sz="1900" b="1" dirty="0">
                <a:solidFill>
                  <a:srgbClr val="000000"/>
                </a:solidFill>
                <a:latin typeface="Hiragino Sans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700" b="0" dirty="0">
                <a:latin typeface="Hiragino Sans"/>
              </a:rPr>
              <a:t>– ① </a:t>
            </a:r>
            <a:r>
              <a:rPr sz="1700" b="0" dirty="0" err="1">
                <a:latin typeface="Hiragino Sans"/>
              </a:rPr>
              <a:t>モデルの有効性を確認</a:t>
            </a:r>
            <a:r>
              <a:rPr sz="1700" b="0" dirty="0">
                <a:latin typeface="Hiragino Sans"/>
              </a:rPr>
              <a:t>: </a:t>
            </a:r>
            <a:r>
              <a:rPr sz="1700" b="0" dirty="0" err="1">
                <a:latin typeface="Hiragino Sans"/>
              </a:rPr>
              <a:t>clean正答率</a:t>
            </a:r>
            <a:r>
              <a:rPr sz="1700" b="0" dirty="0">
                <a:latin typeface="Hiragino Sans"/>
              </a:rPr>
              <a:t> 88.6% ≫ </a:t>
            </a:r>
            <a:r>
              <a:rPr sz="1700" b="0" dirty="0" err="1">
                <a:latin typeface="Hiragino Sans"/>
              </a:rPr>
              <a:t>偶然水準</a:t>
            </a:r>
            <a:r>
              <a:rPr sz="1700" b="0" dirty="0">
                <a:latin typeface="Hiragino Sans"/>
              </a:rPr>
              <a:t> 0.1%</a:t>
            </a:r>
          </a:p>
          <a:p>
            <a:pPr lvl="1">
              <a:spcAft>
                <a:spcPts val="600"/>
              </a:spcAft>
            </a:pPr>
            <a:r>
              <a:rPr sz="1700" b="0" dirty="0">
                <a:latin typeface="Hiragino Sans"/>
              </a:rPr>
              <a:t>– ② Fig 2bの傾向を再現: </a:t>
            </a:r>
            <a:r>
              <a:rPr sz="1700" b="0" dirty="0" err="1">
                <a:latin typeface="Hiragino Sans"/>
              </a:rPr>
              <a:t>SN比↑で正答</a:t>
            </a:r>
            <a:r>
              <a:rPr sz="1700" b="0" dirty="0">
                <a:latin typeface="Hiragino Sans"/>
              </a:rPr>
              <a:t>↑、</a:t>
            </a:r>
            <a:r>
              <a:rPr sz="1700" b="0" dirty="0" err="1">
                <a:latin typeface="Hiragino Sans"/>
              </a:rPr>
              <a:t>異性妨害</a:t>
            </a:r>
            <a:r>
              <a:rPr sz="1700" b="0" dirty="0">
                <a:latin typeface="Hiragino Sans"/>
              </a:rPr>
              <a:t> &gt; </a:t>
            </a:r>
            <a:r>
              <a:rPr sz="1700" b="0" dirty="0" err="1">
                <a:latin typeface="Hiragino Sans"/>
              </a:rPr>
              <a:t>同性、妨害なしで収束</a:t>
            </a:r>
            <a:endParaRPr sz="1700" b="0" dirty="0">
              <a:latin typeface="Hiragino Sans"/>
            </a:endParaRPr>
          </a:p>
          <a:p>
            <a:pPr>
              <a:spcAft>
                <a:spcPts val="600"/>
              </a:spcAft>
            </a:pPr>
            <a:r>
              <a:rPr sz="1900" b="1" dirty="0">
                <a:solidFill>
                  <a:srgbClr val="C0392B"/>
                </a:solidFill>
                <a:latin typeface="Hiragino Sans"/>
              </a:rPr>
              <a:t>• </a:t>
            </a:r>
            <a:r>
              <a:rPr sz="1900" b="1" dirty="0" err="1">
                <a:solidFill>
                  <a:srgbClr val="C0392B"/>
                </a:solidFill>
                <a:latin typeface="Hiragino Sans"/>
              </a:rPr>
              <a:t>結論</a:t>
            </a:r>
            <a:r>
              <a:rPr sz="1900" b="1" dirty="0">
                <a:solidFill>
                  <a:srgbClr val="C0392B"/>
                </a:solidFill>
                <a:latin typeface="Hiragino Sans"/>
              </a:rPr>
              <a:t>: </a:t>
            </a:r>
            <a:r>
              <a:rPr sz="1900" b="1" dirty="0" err="1">
                <a:solidFill>
                  <a:srgbClr val="C0392B"/>
                </a:solidFill>
                <a:latin typeface="Hiragino Sans"/>
              </a:rPr>
              <a:t>傾向の方向が論文と一致</a:t>
            </a:r>
            <a:r>
              <a:rPr sz="1900" b="1" dirty="0">
                <a:solidFill>
                  <a:srgbClr val="C0392B"/>
                </a:solidFill>
                <a:latin typeface="Hiragino Sans"/>
              </a:rPr>
              <a:t> → </a:t>
            </a:r>
            <a:r>
              <a:rPr sz="1900" b="1" dirty="0" err="1">
                <a:solidFill>
                  <a:srgbClr val="C0392B"/>
                </a:solidFill>
                <a:latin typeface="Hiragino Sans"/>
              </a:rPr>
              <a:t>再現に成功</a:t>
            </a:r>
            <a:r>
              <a:rPr sz="1900" b="1" dirty="0">
                <a:solidFill>
                  <a:srgbClr val="C0392B"/>
                </a:solidFill>
                <a:latin typeface="Hiragino Sans"/>
              </a:rPr>
              <a:t>(</a:t>
            </a:r>
            <a:r>
              <a:rPr sz="1900" b="1" dirty="0" err="1">
                <a:solidFill>
                  <a:srgbClr val="C0392B"/>
                </a:solidFill>
                <a:latin typeface="Hiragino Sans"/>
              </a:rPr>
              <a:t>傾向の再現であり、論文の真偽検証ではない</a:t>
            </a:r>
            <a:r>
              <a:rPr sz="1900" b="1" dirty="0">
                <a:solidFill>
                  <a:srgbClr val="C0392B"/>
                </a:solidFill>
                <a:latin typeface="Hiragino Sans"/>
              </a:rPr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7025</TotalTime>
  <Words>766</Words>
  <Application>Microsoft Macintosh PowerPoint</Application>
  <PresentationFormat>宽屏</PresentationFormat>
  <Paragraphs>75</Paragraphs>
  <Slides>11</Slides>
  <Notes>0</Notes>
  <HiddenSlides>0</HiddenSlides>
  <MMClips>8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Hiragino Sans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a49066</cp:lastModifiedBy>
  <cp:revision>4</cp:revision>
  <dcterms:created xsi:type="dcterms:W3CDTF">2013-01-27T09:14:16Z</dcterms:created>
  <dcterms:modified xsi:type="dcterms:W3CDTF">2026-07-06T02:15:14Z</dcterms:modified>
  <cp:category/>
</cp:coreProperties>
</file>